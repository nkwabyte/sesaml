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72"/>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1A17"/>
                </a:solidFill>
                <a:latin typeface="Calibri"/>
              </a:defRPr>
            </a:pPr>
            <a:r>
              <a:rPr lang="en-US" sz="1300" b="0" i="0" u="none" strike="noStrike">
                <a:solidFill>
                  <a:srgbClr val="1C1A17"/>
                </a:solidFill>
                <a:latin typeface="Calibri"/>
              </a:rPr>
              <a:t>Logged checkpoints, run-clean (80 epochs)</a:t>
            </a:r>
          </a:p>
        </c:rich>
      </c:tx>
      <c:overlay val="0"/>
    </c:title>
    <c:autoTitleDeleted val="0"/>
    <c:plotArea>
      <c:layout/>
      <c:lineChart>
        <c:grouping val="standard"/>
        <c:varyColors val="0"/>
        <c:ser>
          <c:idx val="0"/>
          <c:order val="0"/>
          <c:tx>
            <c:strRef>
              <c:f>Sheet1!$B$1</c:f>
              <c:strCache>
                <c:ptCount val="1"/>
                <c:pt idx="0">
                  <c:v>Word Error Rate</c:v>
                </c:pt>
              </c:strCache>
            </c:strRef>
          </c:tx>
          <c:spPr>
            <a:ln w="38100" cap="flat">
              <a:solidFill>
                <a:srgbClr val="B04A2F"/>
              </a:solidFill>
              <a:prstDash val="solid"/>
              <a:round/>
            </a:ln>
            <a:effectLst/>
          </c:spPr>
          <c:marker>
            <c:symbol val="circle"/>
            <c:size val="6"/>
            <c:spPr>
              <a:solidFill>
                <a:srgbClr val="B04A2F"/>
              </a:solidFill>
              <a:ln w="9525" cap="flat">
                <a:solidFill>
                  <a:srgbClr val="B04A2F"/>
                </a:solidFill>
                <a:prstDash val="solid"/>
                <a:round/>
              </a:ln>
              <a:effectLst/>
            </c:spPr>
          </c:marker>
          <c:cat>
            <c:strRef>
              <c:f>Sheet1!$A$2:$A$6</c:f>
              <c:strCache>
                <c:ptCount val="5"/>
                <c:pt idx="0">
                  <c:v>1</c:v>
                </c:pt>
                <c:pt idx="1">
                  <c:v>5</c:v>
                </c:pt>
                <c:pt idx="2">
                  <c:v>9</c:v>
                </c:pt>
                <c:pt idx="3">
                  <c:v>78</c:v>
                </c:pt>
                <c:pt idx="4">
                  <c:v>80</c:v>
                </c:pt>
              </c:strCache>
            </c:strRef>
          </c:cat>
          <c:val>
            <c:numRef>
              <c:f>Sheet1!$B$2:$B$6</c:f>
              <c:numCache>
                <c:formatCode>General</c:formatCode>
                <c:ptCount val="5"/>
                <c:pt idx="0">
                  <c:v>1</c:v>
                </c:pt>
                <c:pt idx="1">
                  <c:v>0.95199999999999996</c:v>
                </c:pt>
                <c:pt idx="2">
                  <c:v>0.86499999999999999</c:v>
                </c:pt>
                <c:pt idx="3">
                  <c:v>0.502</c:v>
                </c:pt>
                <c:pt idx="4">
                  <c:v>0.51</c:v>
                </c:pt>
              </c:numCache>
            </c:numRef>
          </c:val>
          <c:smooth val="0"/>
          <c:extLst>
            <c:ext xmlns:c16="http://schemas.microsoft.com/office/drawing/2014/chart" uri="{C3380CC4-5D6E-409C-BE32-E72D297353CC}">
              <c16:uniqueId val="{00000000-6F15-8648-A307-4CE95A71345F}"/>
            </c:ext>
          </c:extLst>
        </c:ser>
        <c:ser>
          <c:idx val="1"/>
          <c:order val="1"/>
          <c:tx>
            <c:strRef>
              <c:f>Sheet1!$C$1</c:f>
              <c:strCache>
                <c:ptCount val="1"/>
                <c:pt idx="0">
                  <c:v>Character Error Rate</c:v>
                </c:pt>
              </c:strCache>
            </c:strRef>
          </c:tx>
          <c:spPr>
            <a:ln w="38100" cap="flat">
              <a:solidFill>
                <a:srgbClr val="D9A441"/>
              </a:solidFill>
              <a:prstDash val="solid"/>
              <a:round/>
            </a:ln>
            <a:effectLst/>
          </c:spPr>
          <c:marker>
            <c:symbol val="circle"/>
            <c:size val="6"/>
            <c:spPr>
              <a:solidFill>
                <a:srgbClr val="D9A441"/>
              </a:solidFill>
              <a:ln w="9525" cap="flat">
                <a:solidFill>
                  <a:srgbClr val="D9A441"/>
                </a:solidFill>
                <a:prstDash val="solid"/>
                <a:round/>
              </a:ln>
              <a:effectLst/>
            </c:spPr>
          </c:marker>
          <c:cat>
            <c:strRef>
              <c:f>Sheet1!$A$2:$A$6</c:f>
              <c:strCache>
                <c:ptCount val="5"/>
                <c:pt idx="0">
                  <c:v>1</c:v>
                </c:pt>
                <c:pt idx="1">
                  <c:v>5</c:v>
                </c:pt>
                <c:pt idx="2">
                  <c:v>9</c:v>
                </c:pt>
                <c:pt idx="3">
                  <c:v>78</c:v>
                </c:pt>
                <c:pt idx="4">
                  <c:v>80</c:v>
                </c:pt>
              </c:strCache>
            </c:strRef>
          </c:cat>
          <c:val>
            <c:numRef>
              <c:f>Sheet1!$C$2:$C$6</c:f>
              <c:numCache>
                <c:formatCode>General</c:formatCode>
                <c:ptCount val="5"/>
                <c:pt idx="0">
                  <c:v>1</c:v>
                </c:pt>
                <c:pt idx="1">
                  <c:v>0.58399999999999996</c:v>
                </c:pt>
                <c:pt idx="2">
                  <c:v>0.39500000000000002</c:v>
                </c:pt>
                <c:pt idx="3">
                  <c:v>0.16300000000000001</c:v>
                </c:pt>
                <c:pt idx="4">
                  <c:v>0.16600000000000001</c:v>
                </c:pt>
              </c:numCache>
            </c:numRef>
          </c:val>
          <c:smooth val="0"/>
          <c:extLst>
            <c:ext xmlns:c16="http://schemas.microsoft.com/office/drawing/2014/chart" uri="{C3380CC4-5D6E-409C-BE32-E72D297353CC}">
              <c16:uniqueId val="{00000001-6F15-8648-A307-4CE95A71345F}"/>
            </c:ext>
          </c:extLst>
        </c:ser>
        <c:ser>
          <c:idx val="2"/>
          <c:order val="2"/>
          <c:tx>
            <c:strRef>
              <c:f>Sheet1!$D$1</c:f>
              <c:strCache>
                <c:ptCount val="1"/>
                <c:pt idx="0">
                  <c:v>Validation loss</c:v>
                </c:pt>
              </c:strCache>
            </c:strRef>
          </c:tx>
          <c:spPr>
            <a:ln w="38100" cap="flat">
              <a:solidFill>
                <a:srgbClr val="5F7A62"/>
              </a:solidFill>
              <a:prstDash val="solid"/>
              <a:round/>
            </a:ln>
            <a:effectLst/>
          </c:spPr>
          <c:marker>
            <c:symbol val="circle"/>
            <c:size val="6"/>
            <c:spPr>
              <a:solidFill>
                <a:srgbClr val="5F7A62"/>
              </a:solidFill>
              <a:ln w="9525" cap="flat">
                <a:solidFill>
                  <a:srgbClr val="5F7A62"/>
                </a:solidFill>
                <a:prstDash val="solid"/>
                <a:round/>
              </a:ln>
              <a:effectLst/>
            </c:spPr>
          </c:marker>
          <c:cat>
            <c:strRef>
              <c:f>Sheet1!$A$2:$A$6</c:f>
              <c:strCache>
                <c:ptCount val="5"/>
                <c:pt idx="0">
                  <c:v>1</c:v>
                </c:pt>
                <c:pt idx="1">
                  <c:v>5</c:v>
                </c:pt>
                <c:pt idx="2">
                  <c:v>9</c:v>
                </c:pt>
                <c:pt idx="3">
                  <c:v>78</c:v>
                </c:pt>
                <c:pt idx="4">
                  <c:v>80</c:v>
                </c:pt>
              </c:strCache>
            </c:strRef>
          </c:cat>
          <c:val>
            <c:numRef>
              <c:f>Sheet1!$D$2:$D$6</c:f>
              <c:numCache>
                <c:formatCode>General</c:formatCode>
                <c:ptCount val="5"/>
                <c:pt idx="0">
                  <c:v>2.98</c:v>
                </c:pt>
                <c:pt idx="1">
                  <c:v>1.85</c:v>
                </c:pt>
                <c:pt idx="2">
                  <c:v>1.3</c:v>
                </c:pt>
                <c:pt idx="3">
                  <c:v>0.57099999999999995</c:v>
                </c:pt>
                <c:pt idx="4">
                  <c:v>0.56999999999999995</c:v>
                </c:pt>
              </c:numCache>
            </c:numRef>
          </c:val>
          <c:smooth val="0"/>
          <c:extLst>
            <c:ext xmlns:c16="http://schemas.microsoft.com/office/drawing/2014/chart" uri="{C3380CC4-5D6E-409C-BE32-E72D297353CC}">
              <c16:uniqueId val="{00000002-6F15-8648-A307-4CE95A71345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6560"/>
                    </a:solidFill>
                    <a:latin typeface="Calibri"/>
                  </a:defRPr>
                </a:pPr>
                <a:r>
                  <a:rPr lang="en-US" sz="1100" b="0" i="0" u="none" strike="noStrike">
                    <a:solidFill>
                      <a:srgbClr val="6B6560"/>
                    </a:solidFill>
                    <a:latin typeface="Calibri"/>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56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DF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56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1A1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C1A17"/>
                </a:solidFill>
                <a:latin typeface="Calibri"/>
              </a:defRPr>
            </a:pPr>
            <a:r>
              <a:rPr lang="en-US" sz="1250" b="0" i="0" u="none" strike="noStrike">
                <a:solidFill>
                  <a:srgbClr val="1C1A17"/>
                </a:solidFill>
                <a:latin typeface="Calibri"/>
              </a:rPr>
              <a:t>Hours available, by corpus</a:t>
            </a:r>
          </a:p>
        </c:rich>
      </c:tx>
      <c:overlay val="0"/>
    </c:title>
    <c:autoTitleDeleted val="0"/>
    <c:plotArea>
      <c:layout/>
      <c:barChart>
        <c:barDir val="bar"/>
        <c:grouping val="clustered"/>
        <c:varyColors val="0"/>
        <c:ser>
          <c:idx val="0"/>
          <c:order val="0"/>
          <c:tx>
            <c:strRef>
              <c:f>Sheet1!$B$1</c:f>
              <c:strCache>
                <c:ptCount val="1"/>
                <c:pt idx="0">
                  <c:v>Hours of audio</c:v>
                </c:pt>
              </c:strCache>
            </c:strRef>
          </c:tx>
          <c:spPr>
            <a:solidFill>
              <a:srgbClr val="B04A2F"/>
            </a:solidFill>
            <a:effectLst/>
          </c:spPr>
          <c:invertIfNegative val="0"/>
          <c:dPt>
            <c:idx val="0"/>
            <c:invertIfNegative val="0"/>
            <c:bubble3D val="0"/>
            <c:extLst>
              <c:ext xmlns:c16="http://schemas.microsoft.com/office/drawing/2014/chart" uri="{C3380CC4-5D6E-409C-BE32-E72D297353CC}">
                <c16:uniqueId val="{00000001-B553-6341-8B7A-FB565B9A2E7A}"/>
              </c:ext>
            </c:extLst>
          </c:dPt>
          <c:dPt>
            <c:idx val="1"/>
            <c:invertIfNegative val="0"/>
            <c:bubble3D val="0"/>
            <c:spPr>
              <a:solidFill>
                <a:srgbClr val="5F7A62"/>
              </a:solidFill>
              <a:effectLst/>
            </c:spPr>
            <c:extLst>
              <c:ext xmlns:c16="http://schemas.microsoft.com/office/drawing/2014/chart" uri="{C3380CC4-5D6E-409C-BE32-E72D297353CC}">
                <c16:uniqueId val="{00000003-B553-6341-8B7A-FB565B9A2E7A}"/>
              </c:ext>
            </c:extLst>
          </c:dPt>
          <c:dPt>
            <c:idx val="2"/>
            <c:invertIfNegative val="0"/>
            <c:bubble3D val="0"/>
            <c:spPr>
              <a:solidFill>
                <a:srgbClr val="5F7A62"/>
              </a:solidFill>
              <a:effectLst/>
            </c:spPr>
            <c:extLst>
              <c:ext xmlns:c16="http://schemas.microsoft.com/office/drawing/2014/chart" uri="{C3380CC4-5D6E-409C-BE32-E72D297353CC}">
                <c16:uniqueId val="{00000005-B553-6341-8B7A-FB565B9A2E7A}"/>
              </c:ext>
            </c:extLst>
          </c:dPt>
          <c:dPt>
            <c:idx val="3"/>
            <c:invertIfNegative val="0"/>
            <c:bubble3D val="0"/>
            <c:spPr>
              <a:solidFill>
                <a:srgbClr val="C3BCB4"/>
              </a:solidFill>
              <a:effectLst/>
            </c:spPr>
            <c:extLst>
              <c:ext xmlns:c16="http://schemas.microsoft.com/office/drawing/2014/chart" uri="{C3380CC4-5D6E-409C-BE32-E72D297353CC}">
                <c16:uniqueId val="{00000007-B553-6341-8B7A-FB565B9A2E7A}"/>
              </c:ext>
            </c:extLst>
          </c:dPt>
          <c:dLbls>
            <c:numFmt formatCode="0.0" sourceLinked="0"/>
            <c:spPr>
              <a:noFill/>
              <a:ln>
                <a:noFill/>
              </a:ln>
              <a:effectLst/>
            </c:spPr>
            <c:txPr>
              <a:bodyPr/>
              <a:lstStyle/>
              <a:p>
                <a:pPr>
                  <a:defRPr sz="1050" b="0" i="0" u="none" strike="noStrike">
                    <a:solidFill>
                      <a:srgbClr val="1C1A1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Court (unlabelled)</c:v>
                </c:pt>
                <c:pt idx="1">
                  <c:v>Lagyamfi</c:v>
                </c:pt>
                <c:pt idx="2">
                  <c:v>ghanaopendata</c:v>
                </c:pt>
                <c:pt idx="3">
                  <c:v>Health corpus</c:v>
                </c:pt>
              </c:strCache>
            </c:strRef>
          </c:cat>
          <c:val>
            <c:numRef>
              <c:f>Sheet1!$B$2:$B$5</c:f>
              <c:numCache>
                <c:formatCode>General</c:formatCode>
                <c:ptCount val="4"/>
                <c:pt idx="0">
                  <c:v>8</c:v>
                </c:pt>
                <c:pt idx="1">
                  <c:v>3.5</c:v>
                </c:pt>
                <c:pt idx="2">
                  <c:v>9.1</c:v>
                </c:pt>
                <c:pt idx="3">
                  <c:v>494.1</c:v>
                </c:pt>
              </c:numCache>
            </c:numRef>
          </c:val>
          <c:extLst>
            <c:ext xmlns:c16="http://schemas.microsoft.com/office/drawing/2014/chart" uri="{C3380CC4-5D6E-409C-BE32-E72D297353CC}">
              <c16:uniqueId val="{00000008-B553-6341-8B7A-FB565B9A2E7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B656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DFD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56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C1A17"/>
                </a:solidFill>
                <a:latin typeface="Calibri"/>
              </a:defRPr>
            </a:pPr>
            <a:r>
              <a:rPr lang="en-US" sz="1250" b="0" i="0" u="none" strike="noStrike">
                <a:solidFill>
                  <a:srgbClr val="1C1A17"/>
                </a:solidFill>
                <a:latin typeface="Calibri"/>
              </a:rPr>
              <a:t>Word Error Rate — lower is better</a:t>
            </a:r>
          </a:p>
        </c:rich>
      </c:tx>
      <c:overlay val="0"/>
    </c:title>
    <c:autoTitleDeleted val="0"/>
    <c:plotArea>
      <c:layout/>
      <c:barChart>
        <c:barDir val="col"/>
        <c:grouping val="clustered"/>
        <c:varyColors val="0"/>
        <c:ser>
          <c:idx val="0"/>
          <c:order val="0"/>
          <c:tx>
            <c:strRef>
              <c:f>Sheet1!$B$1</c:f>
              <c:strCache>
                <c:ptCount val="1"/>
                <c:pt idx="0">
                  <c:v>Word Error Rate</c:v>
                </c:pt>
              </c:strCache>
            </c:strRef>
          </c:tx>
          <c:spPr>
            <a:solidFill>
              <a:srgbClr val="5F7A62"/>
            </a:solidFill>
            <a:effectLst/>
          </c:spPr>
          <c:invertIfNegative val="0"/>
          <c:dPt>
            <c:idx val="0"/>
            <c:invertIfNegative val="0"/>
            <c:bubble3D val="0"/>
            <c:extLst>
              <c:ext xmlns:c16="http://schemas.microsoft.com/office/drawing/2014/chart" uri="{C3380CC4-5D6E-409C-BE32-E72D297353CC}">
                <c16:uniqueId val="{00000001-0FB8-8B45-8597-367B58BAC154}"/>
              </c:ext>
            </c:extLst>
          </c:dPt>
          <c:dPt>
            <c:idx val="1"/>
            <c:invertIfNegative val="0"/>
            <c:bubble3D val="0"/>
            <c:spPr>
              <a:solidFill>
                <a:srgbClr val="B04A2F"/>
              </a:solidFill>
              <a:effectLst/>
            </c:spPr>
            <c:extLst>
              <c:ext xmlns:c16="http://schemas.microsoft.com/office/drawing/2014/chart" uri="{C3380CC4-5D6E-409C-BE32-E72D297353CC}">
                <c16:uniqueId val="{00000003-0FB8-8B45-8597-367B58BAC154}"/>
              </c:ext>
            </c:extLst>
          </c:dPt>
          <c:dLbls>
            <c:numFmt formatCode="0.000" sourceLinked="0"/>
            <c:spPr>
              <a:noFill/>
              <a:ln>
                <a:noFill/>
              </a:ln>
              <a:effectLst/>
            </c:spPr>
            <c:txPr>
              <a:bodyPr/>
              <a:lstStyle/>
              <a:p>
                <a:pPr>
                  <a:defRPr sz="1300" b="0" i="0" u="none" strike="noStrike">
                    <a:solidFill>
                      <a:srgbClr val="1C1A1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run-clean
12.3 h, 80 epochs</c:v>
                </c:pt>
                <c:pt idx="1">
                  <c:v>run-big
113.3 h, 5 epochs</c:v>
                </c:pt>
              </c:strCache>
            </c:strRef>
          </c:cat>
          <c:val>
            <c:numRef>
              <c:f>Sheet1!$B$2:$B$3</c:f>
              <c:numCache>
                <c:formatCode>General</c:formatCode>
                <c:ptCount val="2"/>
                <c:pt idx="0">
                  <c:v>0.51</c:v>
                </c:pt>
                <c:pt idx="1">
                  <c:v>1</c:v>
                </c:pt>
              </c:numCache>
            </c:numRef>
          </c:val>
          <c:extLst>
            <c:ext xmlns:c16="http://schemas.microsoft.com/office/drawing/2014/chart" uri="{C3380CC4-5D6E-409C-BE32-E72D297353CC}">
              <c16:uniqueId val="{00000004-0FB8-8B45-8597-367B58BAC15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A17"/>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scaling>
        <c:delete val="0"/>
        <c:axPos val="l"/>
        <c:majorGridlines>
          <c:spPr>
            <a:ln w="12700" cap="flat">
              <a:solidFill>
                <a:srgbClr val="E4DF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6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93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Introduce the team as RAIL and the project as SESA.
One-line framing: SESA listens to a recording of a customary court hearing and writes down what was said, in Twi, marking who said it.
Be clear from the start about where we are: the speech engine exists and is measured, the courtroom data does not exist in labelled form yet. That honesty is the spine of this whole talk.
Headline numbers to have ready: conformer/v004 at word error rate 0.4701 and character error rate 0.1429, from a model of 8.4 million parameters on 12.3 hours of Akan audio. That is an 8% relative improvement over v001's 0.510, obtained from a warm restart on the same audio with no new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rather than with the problem — everyone in this room already knows why the project exists, including the person who proposed it.
Purpose of this slide is calibration, not persuasion. Thirty seconds: here is what we were asked to build, here is the honest state of each piece. Everything after this is detail on one of these six rows.
The asymmetry to name out loud: three rows delivered, three not. The three that are delivered are engineering. The three that are not are all data. That framing carries the whole talk.
Note on the last row: we have run v004 over some of the court recordings and read the output, so it is not untested — but there are no reference transcripts, so there is no word error rate for the court domain. Say spot-checked, never say evaluated.
If a supervisor wants to jump straight to a row, the deck is ordered to follow: results and diarization next, then data, then the 494-hour failure, then the roadmap.
Do not spend more than a minute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narrate all four boxes. The room can read them. Land two points and move on.
First: the ordering decision. Diarization runs before ASR because our CTC decoder produces characters with no alignment output, so word-level timestamps do not exist and speakers cannot be assigned to words after the fact. Diarising first sidesteps that and works with any ASR model. The cost is that the acoustic model sees each turn in isolation and loses cross-turn context — for a character-level CTC model with no language model that costs essentially nothing, though it would matter for Whisper.
Second: the black box is real measured output on a 28.3-second Akan clip, not a mock-up. Whole pipeline ran in 12.4 seconds, a real-time factor of 0.44.
If anyone wants the file paths, they are on the cards. The full architecture slide is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earlier "why this is hard" slide. The room does not need convincing that the problem is hard; it needs to see which constraints drove which decisions, and to be able to challenge them.
Read the right-hand column as the argument. Every design choice traces to a measured fact, not a preference.
Row 1 is the most defensible: validation loss 0.570 against training loss 0.588 at epoch 80 means the model never overfitted, so a bigger encoder would not have helped. That is why conformer-medium at ~27 M parameters exists in the repository but was never trained.
Row 2 is the one people underestimate. The earlier roadmap draft estimated about 19% compute waste from padding. Measurement said roughly 80%. The estimate was backwards, and we corrected the document.
Row 6 is the working norm the project runs on: fail loudly on bad data, prefer a hard error at construction over a fallback that produces plausible garbage. The 0.0-loss incident is covered in full on the bugs slide.
The bar at the bottom is the honest caveat and it should be said before anyone asks. We have run the model over court recordings and read the output, but with no reference transcripts there is no court-domain number. Every figure that follows is measured out-of-domain.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enough about the problem — here is what actually exists and runs today.
Set expectations before the numbers land: this is a working system, not a finished product. The model is recognisable, not accurate. Say that before the audience concludes it themselves.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these exactly: WER 0.4701, CER 0.1429, conformer/v004. Do not quote 0.4533 — that figure appears in the v2 training log but corresponds to no checkpoint that exists. The next slide but two explains why.
Translate for the room: a word error rate of 0.47 means roughly half the words carry an error of some kind. Set against a character error rate of 0.1429 — six characters in seven correct — that tells you the errors are misspellings of the right word rather than the wrong word entirely.
The right-hand box is the strategic point. v004 is not a better idea, it is the same 12.3 hours run again from a warm start with a fresh schedule. That kind of gain does not repeat. Anyone hoping for another free 8% should hear this clearly.
The from-scratch run showed validation loss 0.570 against training loss 0.588 at epoch 80 — no overfitting. The model is starving, not saturated, which is why conformer-medium at about 27 M parameters exists in the repo and has never been trained.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Twi lines aloud if you can. This slide converts an abstract metric into something the room can judge directly, and it shows the v001-to-v004 delta rather than asserting it.
The visible improvement: v001 lost the initial w and produced nsono, a word that is not in the reference at all. v004 recovers wɔbɛtumi, keeps ɛtoa with the correct vowel, and reconstructs wɔn so no. It gets further into the sentence before drifting.
What remains is the same class of error: word boundaries and word endings. Every mistake is phonetically plausible — the model heard correctly and guessed the spelling. That is precisely what an n-gram language model over Twi text repairs, which is why KenLM rescoring with beam search sits above more training on the roadmap.
Expected question — why no language model already? It is a decoder-side addition, and until there was a working acoustic model there was nothing to rescore.
Do not promise a specific WER improvement from the language model. We have not measured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 to state out loud: the x-axis shows the five checkpoints recorded in docs/results.md, not every epoch. The spacing between 9 and 78 is compressed. Do not let anyone read the flat section as 70 epochs of nothing — it is one gap between two logged points.
The epoch-1 point is worth explaining because it looks alarming. CTC always starts by predicting the blank symbol everywhere, because that minimises loss before it has learned any alignment. A WER of 1.0 at epoch 1 is the signature of a healthy CTC run, not a failed one. We know this because we have seen what a genuinely failed run looks like — that is two slides from now.
Validation loss is on the same axis as the error rates, which compresses it visually. If pressed, the numbers are 2.98 down to 0.570.
This curve is the from-scratch run that produced v001. The 40-epoch warm restart that produced v004 is not plotted here — its own log reports a best WER of 0.4533 at epoch 38, but those weights were never written to disk. The slide after the bugs table explains why. Quote 0.4701.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SLIDE. Start the app before the talk begins — model loading takes seconds and ECAPA's first run downloads weights, which took 66 seconds on a cold machine.
Have a clip ready on disk. Do not rely on live microphone recording in an unfamiliar room; PyAudio needs portaudio installed and a working input device.
Realistic timing to expect on a 28-second clip: about 12 seconds total, roughly 7 for diarization and 5 for ASR. That is a real-time factor of about 0.44, so it runs faster than the audio plays. Say that — it is a good number.
If the demo fails, do not fight it. Move to the next slide; the measured output is already on slide 3 and the screenshots in the appendix cover it.
Keep the clip short. Long clips make the room wait.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the shift: the next four slides are the technical core. Tell the non-technical half of the room they can coast for ten minutes and that the data and roadmap slides afterwards are for everyone again.
Do not apologise for the technical section. A mixed audience respects depth as long as they know when it ends.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the six boxes quickly. The two worth dwelling on are the front-end order and the registry.
Front-end order matters: log compression, then per-utterance mean-variance normalisation, then SpecAugment. SpecAugment must come last so its masks fill with the feature mean rather than with raw zeros. We had this in the wrong order once and it cost us.
We use 80 mel bands rather than 128 for a concrete reason: with a 400-point FFT there are 201 frequency bins, and 128 mel filters over 201 bins leaves four filterbanks completely empty. They were feeding the encoder nothing.
The bar at the bottom is the working norm that saved this project. Explain it on the bugs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the Conformer parameter count: docs/conformer.md quotes about 10 M as the nominal configuration; the measured count for the trained checkpoint in docs/results.md is 8.4 M. Quote 8.4 M — it is the measured one.
DeepSpeech2 earned its place. Because it only subsamples 2x and GRUs are cheap, we could validate the collator, the dataset loading and the decoding logic in minutes rather than hours. Most of the bugs on the next-but-one slide were found on DeepSpeech2 runs.
The Whisper point is worth making forcefully to a judiciary audience: a decoder-based model can invent fluent text when it hears background noise. For a court record, a model that confidently writes a sentence nobody said is worse than one that writes nothing. Our CTC model cannot hallucinate in that way — it can only misspell what it heard.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three-backend design is a deliberate demo-safety decision, not indecision. pyannote is the best but sits behind three separate gated HuggingFace repositories, and the one that blocks you is usually not the one you asked for — so our code parses the 403 and names the repository the hub actually refused. ECAPA needs no licence and is the default. Spectral needs no downloads at all and exists so the pipeline never hard-fails.
The weak point, stated openly: automatic speaker counting. With the number of speakers supplied, clustering is a fixed-size cut and is reliable. Without it, the cut is a cosine distance threshold and it does not generalise — at threshold 0.60 the same clip yields 6 speakers, at 0.75 it yields 5, at our default 0.90 it yields 3. We set 0.90 because it agreed with pyannote, on ONE recording. Say that number out loud: one recording.
For a courtroom this is actually good news — the number of speakers in a hearing is usually known in advance, so we can supply it.
Do not claim a DER figure. We do not have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reviewer question "how do I know your numbers are real".
The registry exists because of a live hazard we hit. Checkpoints used to resolve by file modification time, so the most recent run was served whether or not it was any good. Given that our 113-hour run produced a strictly worse model than our 12-hour run, one bad iteration would have silently replaced a working demo.
Each registry version also records the audio front-end it was trained on — sample rate, mel count, FFT size, hop, vocab size, subsampling factor. This is not bookkeeping. Loading 80-mel weights under a 128-mel config does not raise an error, because the shapes are set by the architecture rather than the front-end. It just silently degrades transcription. The registry compares and warns.
In git: registry.json and every metadata.json are tracked; the .pt weights are not. So a clone carries the full provenance of which model was served when and at what WER, without the binaries.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SLIDE. This one is safe to run live — it touches no GPU and no network, it just reads outputs/registry/.
Run models list first so the audience sees the arrow marking the served version. Then run rollback, then list again so they see it move.
If you are short on time, cut this demo and just talk over the slide — the terminal output is quoted on the engineering slide already.
The closing argument is the one to land: model governance. Being able to state which model version produced a given transcript, and to revert deterministically, is a requirement for anything that touches a legal record. We built it before we needed it — and during the v2 release we needed it, which is the slide after the bugs 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room will remember. Slow down.
The framing to set up now: SESA's constraint is not model design and not compute. It is labelled Akan audio, and specifically labelled Akan COURT audio, of which we currently have zero.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the ghanaopendata hours: the corpus is advertised at roughly 19 hours, but our own corpus probe measured 9.1 usable hours across 15,560 clips. Quote 9.1 — it is what we actually trained on and what docs/results.md records. If asked about the difference, say the advertised figure counts material our loader rejected or did not measure the same way, and that we report the measured number.
Lagyamfi is 3.2 hours train plus 0.3 hours held-out test. The 0.3 is our entire validation set — 259 clips. That is thin, and we should say so.
The duplication trap is a good detail for a technical audience. Ten of the twenty-two splits are augmentation copies with names ending _Aug. Training on all of them would have meant training on the same 2,446 clips eleven times and reporting it as 26,906 examples.
The bar chart makes the visual point that 494 dwarfs everything — and the whole next section is about why that 494 is currently worthless to us.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slide, and do not let anyone leave thinking we have a court-trained model. We do not. We have a general Akan model and eight hours of unlabelled court audio.
The strongest honest framing: eight hours is the wrong amount to train from scratch and exactly the right amount to fine-tune with and to evaluate against. Our own evidence supports this — the model plateaued with no overfitting on 12.3 hours, which says added in-domain audio is worth more than added parameters.
The consent point belongs to the room, not to us. Court proceedings involve identifiable people and live disputes. Before any of this audio is transcribed, published or used to train a model that others can query, the terms need to be agreed with the courts and, where appropriate, the parties. Say plainly that we regard that as a prerequisite and not a formality.
If asked how many hours would be enough for a court-specific model: we do not have a defensible number. What we can say is that going from 3 to 12 hours of clean in-domain audio took us from nothing to WER 0.51, and that the next measurement we want is what 8 hours of in-domain fine-tuning does to that figure.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sharpest question in the room: does 0.4701 hold up in a courtroom? Answer before it is asked. Almost certainly not, and we do not yet know by how much. We have spot-checked a few court clips and read the output, which tells us the pipeline runs end to end on real proceedings — it does not tell us how accurate it is.
The code-switching row deserves a beat. Interestingly, the health corpus transcripts already code-switch heavily into English — words like multimedia, acknowledge, capsules appear — and our Latin-alphabet vocabulary handles writing them fine. What we have never done is train on English acoustics. So the model can spell an English word; it has not learned to hear one.
The speaker-role row is a genuine product gap. Our diarization gives anonymous labels — SPEAKER_00, SPEAKER_01. A court record needs roles: the panel, the plaintiff, the witness. Speaker identification by enrolment against known voices is not implemented and is a clear next feature.
Frame the eight hours as the measuring instrument. Right now we are flying blind on the target domain; those recordings are how we get an instrument reading.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before the negative result lands: we report failures as prominently as successes, because in a data-starved language a negative result saves the next team months.
This is also the section that earns technical credibility. Anyone can show a good number.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asymmetry honestly: run-clean ran 80 epochs, run-big only 5. We stopped run-big early because the loss had visibly plateaued and the word error rate was pinned at 1.000 — not because it ran out of budget. Someone will ask; answer it before they do.
The full run-big trace: epoch 1 WER 0.981, epoch 2 WER 1.000, epoch 5 WER 1.000, training loss stuck around 2.75 to 2.92. It went backwards.
This is the single most useful slide for anyone else working on a low-resource language. The instinct is always to reach for the biggest corpus. We reached, and got a strictly worse model — while burning GPU time that would have been better spent on the language model.
The fix is not more compute. In order of cost: fine-tune from the run-clean checkpoint rather than from random weights; segment the 30-second clips into utterances using the voice activity detection we already wrote for diarization; and hand-verify a sample of the pseudo-labels against the audio before spending more GPU time.
One more caveat worth mentioning: the health corpus is CC-BY-NC-4.0. A model trained on it inherits a non-commercial restriction. For a public-sector court deployment that may be acceptable, but it is a decision, not a detail.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demo from a system. Every one of these produced plausible-looking output while being completely wrong.
Lead with the 0.0 loss story and let it land. A loss of exactly zero is the most seductive failure mode in machine learning — it looks like the best run you have ever had. It was a pipeline reading a translation CSV with no audio column, substituting synthetic noise, and training happily for fifty minutes.
That single incident produced our working norm: fail loudly on bad data. Prefer a hard error at construction over a fallback that produces plausible garbage. Every corpus is now probed before epoch 1 and the run aborts rather than training on a bad dataset.
The apostrophe bug is a nice one for a Ghanaian audience — it is specifically an Akan problem. Typographic and straight apostrophes were different characters, so elisions like m'abankɛseɛ lost their boundary and became one word. Nobody writing an English pipeline would have caught it.
If asked about the full list: there are twelve documented in docs/results.md section 4. These six are the ones that changed outcomes.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supervisors will engage with hardest, so do not rush it. It is also the strongest evidence that the registry design was worth building.
The mechanism in one sentence: checkpoint selection and metric reporting used two different criteria, so a version got published carrying a score that belonged to weights nobody had saved.
Be precise about the harm. Promotion compares WER, and the label said 0.4533, so the registry did exactly what it was told and promoted a model that measured 0.5131 over one that measured 0.5100. The safeguard worked as designed on false input. That is the interesting failure — not a broken rule, a rule fed a bad number.
Be equally precise about the real loss: the epoch-38 weights at 0.4533 never touched disk, so they cannot be recovered. The best surviving weights are epoch 40's at 0.4701. The bug cost roughly 0.017 WER, permanently, for this run.
Three other fixes landed in the same session and are worth a sentence each if asked: tqdm now disables without a TTY, which is what killed an earlier two-hour run on detached stdout; DataLoader workers are torn down in a finally block, after eight persistent workers held 9.8 GB of GPU for five and a half hours; and the ECAPA device choice on Apple Silicon MPS is now consistent between construction and inference.
If someone asks why we are showing this at all: because a version of this talk that quoted 0.4533 would have been wrong, and nobody in the room would have known.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three or four of these out and let the rest be read. Do not rush past this slide to get to the roadmap — supervisors trust a team that lists its own limitations before being asked.
The first one is the most important sentence in the deck: at WER 0.4701 this is not a verbatim record and must not be presented as one. If SESA is used in a court today it is an aid to a human transcriber, not a replacement for one.
The second is the one to state carefully. We have run the system over court recordings, so the pipeline is proven end to end on real proceedings. What we do not have is a number, because scoring requires reference transcripts we have not produced. Spot-checked, not evaluated.
Two items that used to be on this slide are gone because they are addressed: diarization now runs three independent backends with graceful fallback, and spectral-gating noise reduction is applied in the Gradio interface. Training-time noise augmentation is still outstanding and stays on the roadmap.
The overlap limitation has a specific courtroom consequence — people talk over each other most during exactly the moments that matter in a dispute.
The licensing point is a decision for whoever deploys this. For a public court system a non-commercial restriction may be fine. It should be a conscious choice.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so far is what exists. The rest is what we would do next and why in that order.
The ordering principle to state explicitly: cheapest first, measured before scaled. We are not asking for a bigger GPU.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item, make it the language model. The model's errors are phonetically plausible misspellings, which is exactly what an n-gram model over Twi text repairs. It costs no GPU training time — it is a decoder-side addition — and with the warm-restart lever spent it is now clearly the highest-expected-value item we have.
Second most important: fine-tune rather than retrain. Our own negative result proves that throwing the 494-hour corpus at random weights fails. Starting from the v004 checkpoint at WER 0.4701 is a completely different proposition and costs a fraction of the compute.
On noise: be precise if challenged. Spectral gating runs at inference and ships in the Gradio app today. What is still outstanding is on-the-fly SNR mixing during training, which teaches the weights noise invariance rather than filtering at request time. Two different things.
On multi-GPU, have the number ready if challenged: our RTX 4000 SFF Ada runs at 69.9 watts against a 70-watt cap at 98% utilisation, using 12 of 20 gigabytes. It is power-limited, not memory-limited, so a bigger batch buys almost nothing and a second card helps more than a bigger batch on one. That is why multi-GPU is on the list at all and why it is not near the top.
Note what is deliberately absent: a bigger model. The no-overfitting evidence says capacity is not our constraint.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slide in disguise. Walk it left to right and make clear which steps RAIL can do alone and which need the courts.
Steps 1 and 3 need partners: permission, and Twi-literate annotators. Steps 2, 4 and 5 are ours.
On step 2 — the annotation standard is the step teams skip and regret. Code-switching alone raises real decisions: is an English word written in English spelling or transliterated into Twi orthography? Whichever we choose, it has to be consistent, because the model learns exactly what the labels say. Measure inter-annotator agreement on a shared subset.
On step 3 — holding out two of the eight hours hurts, because eight is already small. Do it anyway. A fine-tuned model with no held-out set is unfalsifiable.
On step 4 — commit publicly to publishing that number whatever it is. If the current model scores badly on court audio, that is the most useful thing we can tell anyone else working on this problem, and it costs us nothing but pride.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asymmetry: the engineering is further along than the data. That is a good position, because data is a solvable problem with partners in the room and engineering is not solvable by asking.
Make the ask concrete rather than general. We are not asking for funding in the abstract. We are asking for permission, annotators and agreement on a standard — and the compute we need is modest, because our own results show we are data-limited, not capacity-limited.
If asked what success looks like in six months: a published word error rate for v004 on real Ghanaian customary court audio, and a fine-tuned model measured against the same held-out set. Not a product. A number nobody currently has.
If asked what changed since the last review: v004 at 0.4701, an 8% relative gain from a warm restart with no new data — and the selection bug that briefly served a worse model under a better number, now fixed.
Leave time for questions. The appendix slides cover reproduction commands, hardware and throughput, corpus detail and test coverage if the room goes technical.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Jump here only if a question needs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deck comes from this repository. Exports record format, size and SHA-256 in a tracked manifest even though the binary itself is not committed.
Environment constraints if asked: Python 3.10 or later but below 3.14, with 3.11 or 3.12 recommended — 3.14 and above break numba and llvmlite. PyTorch 2.9 with torchaudio, fully pinned in requirements.txt. portaudio is needed on macOS for live microphone recording. Device selection is automatic across Apple Silicon MPS, NVIDIA CUDA and CPU.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power-limited point is the answer to "why not a bigger batch size". At batch size 32 the card sits at 69.9 watts of a 70-watt cap with 98% utilisation. Raising the batch past 32 buys almost no throughput and risks running out of memory — batch size 64 would need roughly 24 GB against 20.5 available.
The bucketing correction is worth mentioning as an example of measuring rather than estimating. An earlier draft of the roadmap estimated about 19% compute waste from padding. The measurement said the waste was about 80% — the estimate was backwards. We corrected the document.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only. The two facts most likely to be asked about:
Why 80 mel bands and not 128 — with a 400-point FFT there are 201 frequency bins, and 128 mel filters over 201 bins leaves four filterbanks with no bins in them at all. They were feeding the encoder nothing while costing compute.
Why digits are in the vocabulary — the health corpus writes dosages and dates numerically, so 22% of its transcripts contain digits. Without digit symbols, "2 capsules" became " capsules" in the label while the audio still said the number, which trains the model to skip speech. Spelling numbers out in Twi during preprocessing would be cleaner and is on the roadmap.
Note the validation set is only 259 clips and 0.3 hours. That is thin, and it is the only held-out data we have.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someone asks how we know the pipeline is correct rather than just lucky.
The tests deliberately need no data, no checkpoint and no network, so they run in seconds and nobody has an excuse to skip them. The diarization tests use the spectral backend precisely because it downloads nothing.
The growth from 15 to 145 tests is not a productivity metric. Almost every one of those tests exists because a bug produced plausible-looking output that nobody caught by eye — the 0.0 loss run, the containment overlap that dropped one side of a conversation, the NaN that became a three-character CTC target, and most recently the checkpoint published under another epoch's WER.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321040" y="-1371600"/>
            <a:ext cx="5486400" cy="5486400"/>
          </a:xfrm>
          <a:prstGeom prst="ellipse">
            <a:avLst/>
          </a:prstGeom>
          <a:solidFill>
            <a:srgbClr val="2E2A25"/>
          </a:solidFill>
          <a:ln/>
        </p:spPr>
      </p:sp>
      <p:sp>
        <p:nvSpPr>
          <p:cNvPr id="3" name="Shape 1"/>
          <p:cNvSpPr/>
          <p:nvPr/>
        </p:nvSpPr>
        <p:spPr>
          <a:xfrm>
            <a:off x="9692640" y="3108960"/>
            <a:ext cx="3291840" cy="3291840"/>
          </a:xfrm>
          <a:prstGeom prst="ellipse">
            <a:avLst/>
          </a:prstGeom>
          <a:solidFill>
            <a:srgbClr val="26221D"/>
          </a:solidFill>
          <a:ln/>
        </p:spPr>
      </p:sp>
      <p:sp>
        <p:nvSpPr>
          <p:cNvPr id="4" name="Shape 2"/>
          <p:cNvSpPr/>
          <p:nvPr/>
        </p:nvSpPr>
        <p:spPr>
          <a:xfrm>
            <a:off x="10195560" y="868680"/>
            <a:ext cx="914400" cy="914400"/>
          </a:xfrm>
          <a:prstGeom prst="ellipse">
            <a:avLst/>
          </a:prstGeom>
          <a:solidFill>
            <a:srgbClr val="B04A2F"/>
          </a:solidFill>
          <a:ln/>
        </p:spPr>
      </p:sp>
      <p:sp>
        <p:nvSpPr>
          <p:cNvPr id="5" name="Shape 3"/>
          <p:cNvSpPr/>
          <p:nvPr/>
        </p:nvSpPr>
        <p:spPr>
          <a:xfrm>
            <a:off x="11201400" y="1691640"/>
            <a:ext cx="502920" cy="502920"/>
          </a:xfrm>
          <a:prstGeom prst="ellipse">
            <a:avLst/>
          </a:prstGeom>
          <a:solidFill>
            <a:srgbClr val="D9A441"/>
          </a:solidFill>
          <a:ln/>
        </p:spPr>
      </p:sp>
      <p:sp>
        <p:nvSpPr>
          <p:cNvPr id="6" name="Text 4"/>
          <p:cNvSpPr/>
          <p:nvPr/>
        </p:nvSpPr>
        <p:spPr>
          <a:xfrm>
            <a:off x="566928" y="1051560"/>
            <a:ext cx="7680960" cy="274320"/>
          </a:xfrm>
          <a:prstGeom prst="rect">
            <a:avLst/>
          </a:prstGeom>
          <a:noFill/>
          <a:ln/>
        </p:spPr>
        <p:txBody>
          <a:bodyPr wrap="square" lIns="0" tIns="0" rIns="0" bIns="0" rtlCol="0" anchor="ctr"/>
          <a:lstStyle/>
          <a:p>
            <a:pPr marL="0" indent="0">
              <a:buNone/>
            </a:pPr>
            <a:r>
              <a:rPr lang="en-US" sz="1250" b="1" kern="0" spc="300" dirty="0">
                <a:solidFill>
                  <a:srgbClr val="D9A441"/>
                </a:solidFill>
                <a:latin typeface="Calibri" pitchFamily="34" charset="0"/>
                <a:ea typeface="Calibri" pitchFamily="34" charset="-122"/>
                <a:cs typeface="Calibri" pitchFamily="34" charset="-120"/>
              </a:rPr>
              <a:t>PRESENTED BY RAIL</a:t>
            </a:r>
            <a:endParaRPr lang="en-US" sz="1250" dirty="0"/>
          </a:p>
        </p:txBody>
      </p:sp>
      <p:sp>
        <p:nvSpPr>
          <p:cNvPr id="7" name="Text 5"/>
          <p:cNvSpPr/>
          <p:nvPr/>
        </p:nvSpPr>
        <p:spPr>
          <a:xfrm>
            <a:off x="566928" y="1463040"/>
            <a:ext cx="7680960" cy="1371600"/>
          </a:xfrm>
          <a:prstGeom prst="rect">
            <a:avLst/>
          </a:prstGeom>
          <a:noFill/>
          <a:ln/>
        </p:spPr>
        <p:txBody>
          <a:bodyPr wrap="square" lIns="0" tIns="0" rIns="0" bIns="0" rtlCol="0" anchor="ctr"/>
          <a:lstStyle/>
          <a:p>
            <a:pPr marL="0" indent="0">
              <a:buNone/>
            </a:pPr>
            <a:r>
              <a:rPr lang="en-US" sz="9600" b="1" dirty="0">
                <a:solidFill>
                  <a:srgbClr val="FFFFFF"/>
                </a:solidFill>
                <a:latin typeface="Cambria" pitchFamily="34" charset="0"/>
                <a:ea typeface="Cambria" pitchFamily="34" charset="-122"/>
                <a:cs typeface="Cambria" pitchFamily="34" charset="-120"/>
              </a:rPr>
              <a:t>SESA</a:t>
            </a:r>
            <a:endParaRPr lang="en-US" sz="9600" dirty="0"/>
          </a:p>
        </p:txBody>
      </p:sp>
      <p:sp>
        <p:nvSpPr>
          <p:cNvPr id="8" name="Text 6"/>
          <p:cNvSpPr/>
          <p:nvPr/>
        </p:nvSpPr>
        <p:spPr>
          <a:xfrm>
            <a:off x="566928" y="2880360"/>
            <a:ext cx="7863840" cy="868680"/>
          </a:xfrm>
          <a:prstGeom prst="rect">
            <a:avLst/>
          </a:prstGeom>
          <a:noFill/>
          <a:ln/>
        </p:spPr>
        <p:txBody>
          <a:bodyPr wrap="square" lIns="0" tIns="0" rIns="0" bIns="0" rtlCol="0" anchor="t"/>
          <a:lstStyle/>
          <a:p>
            <a:pPr marL="0" indent="0">
              <a:lnSpc>
                <a:spcPct val="115000"/>
              </a:lnSpc>
              <a:buNone/>
            </a:pPr>
            <a:r>
              <a:rPr lang="en-US" sz="2200" dirty="0">
                <a:solidFill>
                  <a:srgbClr val="E6DFD6"/>
                </a:solidFill>
                <a:latin typeface="Cambria" pitchFamily="34" charset="0"/>
                <a:ea typeface="Cambria" pitchFamily="34" charset="-122"/>
                <a:cs typeface="Cambria" pitchFamily="34" charset="-120"/>
              </a:rPr>
              <a:t>ASR for Akan, built for the customary courts of Ghana</a:t>
            </a:r>
            <a:endParaRPr lang="en-US" sz="2200" dirty="0"/>
          </a:p>
        </p:txBody>
      </p:sp>
      <p:sp>
        <p:nvSpPr>
          <p:cNvPr id="9" name="Text 7"/>
          <p:cNvSpPr/>
          <p:nvPr/>
        </p:nvSpPr>
        <p:spPr>
          <a:xfrm>
            <a:off x="566928" y="3886200"/>
            <a:ext cx="7498080" cy="731520"/>
          </a:xfrm>
          <a:prstGeom prst="rect">
            <a:avLst/>
          </a:prstGeom>
          <a:noFill/>
          <a:ln/>
        </p:spPr>
        <p:txBody>
          <a:bodyPr wrap="square" lIns="0" tIns="0" rIns="0" bIns="0" rtlCol="0" anchor="t"/>
          <a:lstStyle/>
          <a:p>
            <a:pPr marL="0" indent="0">
              <a:lnSpc>
                <a:spcPct val="115000"/>
              </a:lnSpc>
              <a:buNone/>
            </a:pPr>
            <a:r>
              <a:rPr lang="en-US" sz="1400" dirty="0">
                <a:solidFill>
                  <a:srgbClr val="ADA49A"/>
                </a:solidFill>
                <a:latin typeface="Calibri" pitchFamily="34" charset="0"/>
                <a:ea typeface="Calibri" pitchFamily="34" charset="-122"/>
                <a:cs typeface="Calibri" pitchFamily="34" charset="-120"/>
              </a:rPr>
              <a:t>An end-to-end system that turns a recording of a hearing into a written, speaker-attributed transcript in Twi.</a:t>
            </a:r>
            <a:endParaRPr lang="en-US" sz="1400" dirty="0"/>
          </a:p>
        </p:txBody>
      </p:sp>
      <p:sp>
        <p:nvSpPr>
          <p:cNvPr id="10" name="Shape 8"/>
          <p:cNvSpPr/>
          <p:nvPr/>
        </p:nvSpPr>
        <p:spPr>
          <a:xfrm>
            <a:off x="566928" y="4892040"/>
            <a:ext cx="2377440" cy="786384"/>
          </a:xfrm>
          <a:prstGeom prst="roundRect">
            <a:avLst>
              <a:gd name="adj" fmla="val 6977"/>
            </a:avLst>
          </a:prstGeom>
          <a:solidFill>
            <a:srgbClr val="2E2A25"/>
          </a:solidFill>
          <a:ln/>
        </p:spPr>
      </p:sp>
      <p:sp>
        <p:nvSpPr>
          <p:cNvPr id="11" name="Text 9"/>
          <p:cNvSpPr/>
          <p:nvPr/>
        </p:nvSpPr>
        <p:spPr>
          <a:xfrm>
            <a:off x="713232" y="4983480"/>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Conformer-CTC v004</a:t>
            </a:r>
            <a:endParaRPr lang="en-US" sz="1200" dirty="0"/>
          </a:p>
        </p:txBody>
      </p:sp>
      <p:sp>
        <p:nvSpPr>
          <p:cNvPr id="12" name="Text 10"/>
          <p:cNvSpPr/>
          <p:nvPr/>
        </p:nvSpPr>
        <p:spPr>
          <a:xfrm>
            <a:off x="713232" y="5239512"/>
            <a:ext cx="2103120" cy="384048"/>
          </a:xfrm>
          <a:prstGeom prst="rect">
            <a:avLst/>
          </a:prstGeom>
          <a:noFill/>
          <a:ln/>
        </p:spPr>
        <p:txBody>
          <a:bodyPr wrap="square" lIns="0" tIns="0" rIns="0" bIns="0" rtlCol="0" anchor="t"/>
          <a:lstStyle/>
          <a:p>
            <a:pPr marL="0" indent="0">
              <a:buNone/>
            </a:pPr>
            <a:r>
              <a:rPr lang="en-US" sz="1000" dirty="0">
                <a:solidFill>
                  <a:srgbClr val="A9A099"/>
                </a:solidFill>
                <a:latin typeface="Calibri" pitchFamily="34" charset="0"/>
                <a:ea typeface="Calibri" pitchFamily="34" charset="-122"/>
                <a:cs typeface="Calibri" pitchFamily="34" charset="-120"/>
              </a:rPr>
              <a:t>WER 0.4701 / CER 0.1429</a:t>
            </a:r>
            <a:endParaRPr lang="en-US" sz="1000" dirty="0"/>
          </a:p>
        </p:txBody>
      </p:sp>
      <p:sp>
        <p:nvSpPr>
          <p:cNvPr id="13" name="Shape 11"/>
          <p:cNvSpPr/>
          <p:nvPr/>
        </p:nvSpPr>
        <p:spPr>
          <a:xfrm>
            <a:off x="3172968" y="4892040"/>
            <a:ext cx="2377440" cy="786384"/>
          </a:xfrm>
          <a:prstGeom prst="roundRect">
            <a:avLst>
              <a:gd name="adj" fmla="val 6977"/>
            </a:avLst>
          </a:prstGeom>
          <a:solidFill>
            <a:srgbClr val="2E2A25"/>
          </a:solidFill>
          <a:ln/>
        </p:spPr>
      </p:sp>
      <p:sp>
        <p:nvSpPr>
          <p:cNvPr id="14" name="Text 12"/>
          <p:cNvSpPr/>
          <p:nvPr/>
        </p:nvSpPr>
        <p:spPr>
          <a:xfrm>
            <a:off x="3319272" y="4983480"/>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Speaker diarization</a:t>
            </a:r>
            <a:endParaRPr lang="en-US" sz="1200" dirty="0"/>
          </a:p>
        </p:txBody>
      </p:sp>
      <p:sp>
        <p:nvSpPr>
          <p:cNvPr id="15" name="Text 13"/>
          <p:cNvSpPr/>
          <p:nvPr/>
        </p:nvSpPr>
        <p:spPr>
          <a:xfrm>
            <a:off x="3319272" y="5239512"/>
            <a:ext cx="2103120" cy="384048"/>
          </a:xfrm>
          <a:prstGeom prst="rect">
            <a:avLst/>
          </a:prstGeom>
          <a:noFill/>
          <a:ln/>
        </p:spPr>
        <p:txBody>
          <a:bodyPr wrap="square" lIns="0" tIns="0" rIns="0" bIns="0" rtlCol="0" anchor="t"/>
          <a:lstStyle/>
          <a:p>
            <a:pPr marL="0" indent="0">
              <a:buNone/>
            </a:pPr>
            <a:r>
              <a:rPr lang="en-US" sz="1000" dirty="0">
                <a:solidFill>
                  <a:srgbClr val="A9A099"/>
                </a:solidFill>
                <a:latin typeface="Calibri" pitchFamily="34" charset="0"/>
                <a:ea typeface="Calibri" pitchFamily="34" charset="-122"/>
                <a:cs typeface="Calibri" pitchFamily="34" charset="-120"/>
              </a:rPr>
              <a:t>3 backends, who spoke when</a:t>
            </a:r>
            <a:endParaRPr lang="en-US" sz="1000" dirty="0"/>
          </a:p>
        </p:txBody>
      </p:sp>
      <p:sp>
        <p:nvSpPr>
          <p:cNvPr id="16" name="Shape 14"/>
          <p:cNvSpPr/>
          <p:nvPr/>
        </p:nvSpPr>
        <p:spPr>
          <a:xfrm>
            <a:off x="5779008" y="4892040"/>
            <a:ext cx="2377440" cy="786384"/>
          </a:xfrm>
          <a:prstGeom prst="roundRect">
            <a:avLst>
              <a:gd name="adj" fmla="val 6977"/>
            </a:avLst>
          </a:prstGeom>
          <a:solidFill>
            <a:srgbClr val="2E2A25"/>
          </a:solidFill>
          <a:ln/>
        </p:spPr>
      </p:sp>
      <p:sp>
        <p:nvSpPr>
          <p:cNvPr id="17" name="Text 15"/>
          <p:cNvSpPr/>
          <p:nvPr/>
        </p:nvSpPr>
        <p:spPr>
          <a:xfrm>
            <a:off x="5925312" y="4983480"/>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Reproducible</a:t>
            </a:r>
            <a:endParaRPr lang="en-US" sz="1200" dirty="0"/>
          </a:p>
        </p:txBody>
      </p:sp>
      <p:sp>
        <p:nvSpPr>
          <p:cNvPr id="18" name="Text 16"/>
          <p:cNvSpPr/>
          <p:nvPr/>
        </p:nvSpPr>
        <p:spPr>
          <a:xfrm>
            <a:off x="5925312" y="5239512"/>
            <a:ext cx="2103120" cy="384048"/>
          </a:xfrm>
          <a:prstGeom prst="rect">
            <a:avLst/>
          </a:prstGeom>
          <a:noFill/>
          <a:ln/>
        </p:spPr>
        <p:txBody>
          <a:bodyPr wrap="square" lIns="0" tIns="0" rIns="0" bIns="0" rtlCol="0" anchor="t"/>
          <a:lstStyle/>
          <a:p>
            <a:pPr marL="0" indent="0">
              <a:buNone/>
            </a:pPr>
            <a:r>
              <a:rPr lang="en-US" sz="1000" dirty="0">
                <a:solidFill>
                  <a:srgbClr val="A9A099"/>
                </a:solidFill>
                <a:latin typeface="Calibri" pitchFamily="34" charset="0"/>
                <a:ea typeface="Calibri" pitchFamily="34" charset="-122"/>
                <a:cs typeface="Calibri" pitchFamily="34" charset="-120"/>
              </a:rPr>
              <a:t>145 tests, versioned registry</a:t>
            </a:r>
            <a:endParaRPr lang="en-US" sz="1000" dirty="0"/>
          </a:p>
        </p:txBody>
      </p:sp>
      <p:sp>
        <p:nvSpPr>
          <p:cNvPr id="19" name="Text 17"/>
          <p:cNvSpPr/>
          <p:nvPr/>
        </p:nvSpPr>
        <p:spPr>
          <a:xfrm>
            <a:off x="566928" y="6108192"/>
            <a:ext cx="8229600" cy="274320"/>
          </a:xfrm>
          <a:prstGeom prst="rect">
            <a:avLst/>
          </a:prstGeom>
          <a:noFill/>
          <a:ln/>
        </p:spPr>
        <p:txBody>
          <a:bodyPr wrap="square" lIns="0" tIns="0" rIns="0" bIns="0" rtlCol="0" anchor="ctr"/>
          <a:lstStyle/>
          <a:p>
            <a:pPr marL="0" indent="0">
              <a:buNone/>
            </a:pPr>
            <a:r>
              <a:rPr lang="en-US" sz="1100" dirty="0">
                <a:solidFill>
                  <a:srgbClr val="7E766E"/>
                </a:solidFill>
                <a:latin typeface="Calibri" pitchFamily="34" charset="0"/>
                <a:ea typeface="Calibri" pitchFamily="34" charset="-122"/>
                <a:cs typeface="Calibri" pitchFamily="34" charset="-120"/>
              </a:rPr>
              <a:t>RAIL  ·  Akan (Twi) Automatic Speech Recognition  ·  Project status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brief, and where we stand against it</a:t>
            </a:r>
            <a:endParaRPr lang="en-US" sz="3300" dirty="0"/>
          </a:p>
        </p:txBody>
      </p:sp>
      <p:sp>
        <p:nvSpPr>
          <p:cNvPr id="4" name="Shape 2"/>
          <p:cNvSpPr/>
          <p:nvPr/>
        </p:nvSpPr>
        <p:spPr>
          <a:xfrm>
            <a:off x="566928" y="1435608"/>
            <a:ext cx="5413248" cy="1389888"/>
          </a:xfrm>
          <a:prstGeom prst="roundRect">
            <a:avLst>
              <a:gd name="adj" fmla="val 5263"/>
            </a:avLst>
          </a:prstGeom>
          <a:solidFill>
            <a:srgbClr val="1C1A17"/>
          </a:solidFill>
          <a:ln/>
          <a:effectLst>
            <a:outerShdw blurRad="101600" dist="25400" dir="5400000" algn="bl" rotWithShape="0">
              <a:srgbClr val="9A9088">
                <a:alpha val="28000"/>
              </a:srgbClr>
            </a:outerShdw>
          </a:effectLst>
        </p:spPr>
      </p:sp>
      <p:sp>
        <p:nvSpPr>
          <p:cNvPr id="5" name="Text 3"/>
          <p:cNvSpPr/>
          <p:nvPr/>
        </p:nvSpPr>
        <p:spPr>
          <a:xfrm>
            <a:off x="841248" y="1581912"/>
            <a:ext cx="4846320" cy="237744"/>
          </a:xfrm>
          <a:prstGeom prst="rect">
            <a:avLst/>
          </a:prstGeom>
          <a:noFill/>
          <a:ln/>
        </p:spPr>
        <p:txBody>
          <a:bodyPr wrap="square" lIns="0" tIns="0" rIns="0" bIns="0" rtlCol="0" anchor="ctr"/>
          <a:lstStyle/>
          <a:p>
            <a:pPr marL="0" indent="0">
              <a:buNone/>
            </a:pPr>
            <a:r>
              <a:rPr lang="en-US" sz="1050" b="1" kern="0" spc="180" dirty="0">
                <a:solidFill>
                  <a:srgbClr val="D9A441"/>
                </a:solidFill>
                <a:latin typeface="Calibri" pitchFamily="34" charset="0"/>
                <a:ea typeface="Calibri" pitchFamily="34" charset="-122"/>
                <a:cs typeface="Calibri" pitchFamily="34" charset="-120"/>
              </a:rPr>
              <a:t>THE MANDATE</a:t>
            </a:r>
            <a:endParaRPr lang="en-US" sz="1050" dirty="0"/>
          </a:p>
        </p:txBody>
      </p:sp>
      <p:sp>
        <p:nvSpPr>
          <p:cNvPr id="6" name="Text 4"/>
          <p:cNvSpPr/>
          <p:nvPr/>
        </p:nvSpPr>
        <p:spPr>
          <a:xfrm>
            <a:off x="841248" y="1856232"/>
            <a:ext cx="4892040" cy="859536"/>
          </a:xfrm>
          <a:prstGeom prst="rect">
            <a:avLst/>
          </a:prstGeom>
          <a:noFill/>
          <a:ln/>
        </p:spPr>
        <p:txBody>
          <a:bodyPr wrap="square" lIns="0" tIns="0" rIns="0" bIns="0" rtlCol="0" anchor="t"/>
          <a:lstStyle/>
          <a:p>
            <a:pPr marL="0" indent="0">
              <a:lnSpc>
                <a:spcPct val="110000"/>
              </a:lnSpc>
              <a:buNone/>
            </a:pPr>
            <a:r>
              <a:rPr lang="en-US" sz="1500" dirty="0">
                <a:solidFill>
                  <a:srgbClr val="FFFFFF"/>
                </a:solidFill>
                <a:latin typeface="Cambria" pitchFamily="34" charset="0"/>
                <a:ea typeface="Cambria" pitchFamily="34" charset="-122"/>
                <a:cs typeface="Cambria" pitchFamily="34" charset="-120"/>
              </a:rPr>
              <a:t>Produce verbatim, speaker-attributed transcripts of Ghanaian customary court proceedings, in the language the hearing is conducted in.</a:t>
            </a:r>
            <a:endParaRPr lang="en-US" sz="1500" dirty="0"/>
          </a:p>
        </p:txBody>
      </p:sp>
      <p:sp>
        <p:nvSpPr>
          <p:cNvPr id="7" name="Shape 5"/>
          <p:cNvSpPr/>
          <p:nvPr/>
        </p:nvSpPr>
        <p:spPr>
          <a:xfrm>
            <a:off x="6208776" y="1435608"/>
            <a:ext cx="5413248" cy="1389888"/>
          </a:xfrm>
          <a:prstGeom prst="roundRect">
            <a:avLst>
              <a:gd name="adj" fmla="val 5263"/>
            </a:avLst>
          </a:prstGeom>
          <a:solidFill>
            <a:srgbClr val="E9E5E1"/>
          </a:solidFill>
          <a:ln/>
          <a:effectLst>
            <a:outerShdw blurRad="101600" dist="25400" dir="5400000" algn="bl" rotWithShape="0">
              <a:srgbClr val="9A9088">
                <a:alpha val="28000"/>
              </a:srgbClr>
            </a:outerShdw>
          </a:effectLst>
        </p:spPr>
      </p:sp>
      <p:sp>
        <p:nvSpPr>
          <p:cNvPr id="8" name="Text 6"/>
          <p:cNvSpPr/>
          <p:nvPr/>
        </p:nvSpPr>
        <p:spPr>
          <a:xfrm>
            <a:off x="6483096" y="1581912"/>
            <a:ext cx="4846320" cy="237744"/>
          </a:xfrm>
          <a:prstGeom prst="rect">
            <a:avLst/>
          </a:prstGeom>
          <a:noFill/>
          <a:ln/>
        </p:spPr>
        <p:txBody>
          <a:bodyPr wrap="square" lIns="0" tIns="0" rIns="0" bIns="0" rtlCol="0" anchor="ctr"/>
          <a:lstStyle/>
          <a:p>
            <a:pPr marL="0" indent="0">
              <a:buNone/>
            </a:pPr>
            <a:r>
              <a:rPr lang="en-US" sz="1050" b="1" kern="0" spc="180" dirty="0">
                <a:solidFill>
                  <a:srgbClr val="B04A2F"/>
                </a:solidFill>
                <a:latin typeface="Calibri" pitchFamily="34" charset="0"/>
                <a:ea typeface="Calibri" pitchFamily="34" charset="-122"/>
                <a:cs typeface="Calibri" pitchFamily="34" charset="-120"/>
              </a:rPr>
              <a:t>WHAT THIS SESSION COVERS</a:t>
            </a:r>
            <a:endParaRPr lang="en-US" sz="1050" dirty="0"/>
          </a:p>
        </p:txBody>
      </p:sp>
      <p:sp>
        <p:nvSpPr>
          <p:cNvPr id="9" name="Text 7"/>
          <p:cNvSpPr/>
          <p:nvPr/>
        </p:nvSpPr>
        <p:spPr>
          <a:xfrm>
            <a:off x="6483096" y="1856232"/>
            <a:ext cx="4892040" cy="859536"/>
          </a:xfrm>
          <a:prstGeom prst="rect">
            <a:avLst/>
          </a:prstGeom>
          <a:noFill/>
          <a:ln/>
        </p:spPr>
        <p:txBody>
          <a:bodyPr wrap="square" lIns="0" tIns="0" rIns="0" bIns="0" rtlCol="0" anchor="t"/>
          <a:lstStyle/>
          <a:p>
            <a:pPr marL="0" indent="0">
              <a:lnSpc>
                <a:spcPct val="110000"/>
              </a:lnSpc>
              <a:buNone/>
            </a:pPr>
            <a:r>
              <a:rPr lang="en-US" sz="1500" dirty="0">
                <a:solidFill>
                  <a:srgbClr val="1C1A17"/>
                </a:solidFill>
                <a:latin typeface="Cambria" pitchFamily="34" charset="0"/>
                <a:ea typeface="Cambria" pitchFamily="34" charset="-122"/>
                <a:cs typeface="Cambria" pitchFamily="34" charset="-120"/>
              </a:rPr>
              <a:t>A general Akan acoustic model exists and is measured. Court-domain data exists but is unlabelled. This is the report on both, and on what closes the gap.</a:t>
            </a:r>
            <a:endParaRPr lang="en-US" sz="1500" dirty="0"/>
          </a:p>
        </p:txBody>
      </p:sp>
      <p:sp>
        <p:nvSpPr>
          <p:cNvPr id="10" name="Shape 8"/>
          <p:cNvSpPr/>
          <p:nvPr/>
        </p:nvSpPr>
        <p:spPr>
          <a:xfrm>
            <a:off x="566928" y="3063240"/>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11" name="Shape 9"/>
          <p:cNvSpPr/>
          <p:nvPr/>
        </p:nvSpPr>
        <p:spPr>
          <a:xfrm>
            <a:off x="786384" y="3246120"/>
            <a:ext cx="1152144" cy="274320"/>
          </a:xfrm>
          <a:prstGeom prst="roundRect">
            <a:avLst>
              <a:gd name="adj" fmla="val 46667"/>
            </a:avLst>
          </a:prstGeom>
          <a:solidFill>
            <a:srgbClr val="5F7A62"/>
          </a:solidFill>
          <a:ln/>
        </p:spPr>
      </p:sp>
      <p:sp>
        <p:nvSpPr>
          <p:cNvPr id="12" name="Text 10"/>
          <p:cNvSpPr/>
          <p:nvPr/>
        </p:nvSpPr>
        <p:spPr>
          <a:xfrm>
            <a:off x="786384" y="3246120"/>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DELIVERED</a:t>
            </a:r>
            <a:endParaRPr lang="en-US" sz="850" dirty="0"/>
          </a:p>
        </p:txBody>
      </p:sp>
      <p:sp>
        <p:nvSpPr>
          <p:cNvPr id="13" name="Text 11"/>
          <p:cNvSpPr/>
          <p:nvPr/>
        </p:nvSpPr>
        <p:spPr>
          <a:xfrm>
            <a:off x="2048256" y="3218688"/>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Akan acoustic model</a:t>
            </a:r>
            <a:endParaRPr lang="en-US" sz="1400" dirty="0"/>
          </a:p>
        </p:txBody>
      </p:sp>
      <p:sp>
        <p:nvSpPr>
          <p:cNvPr id="14" name="Text 12"/>
          <p:cNvSpPr/>
          <p:nvPr/>
        </p:nvSpPr>
        <p:spPr>
          <a:xfrm>
            <a:off x="786384" y="3575304"/>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conformer/v004 — WER 0.4701, CER 0.1429 on a held-out split. 8% better than v001.</a:t>
            </a:r>
            <a:endParaRPr lang="en-US" sz="1150" dirty="0"/>
          </a:p>
        </p:txBody>
      </p:sp>
      <p:sp>
        <p:nvSpPr>
          <p:cNvPr id="15" name="Shape 13"/>
          <p:cNvSpPr/>
          <p:nvPr/>
        </p:nvSpPr>
        <p:spPr>
          <a:xfrm>
            <a:off x="6208776" y="3063240"/>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16" name="Shape 14"/>
          <p:cNvSpPr/>
          <p:nvPr/>
        </p:nvSpPr>
        <p:spPr>
          <a:xfrm>
            <a:off x="6428232" y="3246120"/>
            <a:ext cx="1152144" cy="274320"/>
          </a:xfrm>
          <a:prstGeom prst="roundRect">
            <a:avLst>
              <a:gd name="adj" fmla="val 46667"/>
            </a:avLst>
          </a:prstGeom>
          <a:solidFill>
            <a:srgbClr val="5F7A62"/>
          </a:solidFill>
          <a:ln/>
        </p:spPr>
      </p:sp>
      <p:sp>
        <p:nvSpPr>
          <p:cNvPr id="17" name="Text 15"/>
          <p:cNvSpPr/>
          <p:nvPr/>
        </p:nvSpPr>
        <p:spPr>
          <a:xfrm>
            <a:off x="6428232" y="3246120"/>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DELIVERED</a:t>
            </a:r>
            <a:endParaRPr lang="en-US" sz="850" dirty="0"/>
          </a:p>
        </p:txBody>
      </p:sp>
      <p:sp>
        <p:nvSpPr>
          <p:cNvPr id="18" name="Text 16"/>
          <p:cNvSpPr/>
          <p:nvPr/>
        </p:nvSpPr>
        <p:spPr>
          <a:xfrm>
            <a:off x="7690104" y="3218688"/>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Speaker attribution</a:t>
            </a:r>
            <a:endParaRPr lang="en-US" sz="1400" dirty="0"/>
          </a:p>
        </p:txBody>
      </p:sp>
      <p:sp>
        <p:nvSpPr>
          <p:cNvPr id="19" name="Text 17"/>
          <p:cNvSpPr/>
          <p:nvPr/>
        </p:nvSpPr>
        <p:spPr>
          <a:xfrm>
            <a:off x="6428232" y="3575304"/>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Three-backend diarization — pyannote, ECAPA, spectral — with turn post-processing.</a:t>
            </a:r>
            <a:endParaRPr lang="en-US" sz="1150" dirty="0"/>
          </a:p>
        </p:txBody>
      </p:sp>
      <p:sp>
        <p:nvSpPr>
          <p:cNvPr id="20" name="Shape 18"/>
          <p:cNvSpPr/>
          <p:nvPr/>
        </p:nvSpPr>
        <p:spPr>
          <a:xfrm>
            <a:off x="566928" y="4087368"/>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21" name="Shape 19"/>
          <p:cNvSpPr/>
          <p:nvPr/>
        </p:nvSpPr>
        <p:spPr>
          <a:xfrm>
            <a:off x="786384" y="4270248"/>
            <a:ext cx="1152144" cy="274320"/>
          </a:xfrm>
          <a:prstGeom prst="roundRect">
            <a:avLst>
              <a:gd name="adj" fmla="val 46667"/>
            </a:avLst>
          </a:prstGeom>
          <a:solidFill>
            <a:srgbClr val="5F7A62"/>
          </a:solidFill>
          <a:ln/>
        </p:spPr>
      </p:sp>
      <p:sp>
        <p:nvSpPr>
          <p:cNvPr id="22" name="Text 20"/>
          <p:cNvSpPr/>
          <p:nvPr/>
        </p:nvSpPr>
        <p:spPr>
          <a:xfrm>
            <a:off x="786384" y="4270248"/>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DELIVERED</a:t>
            </a:r>
            <a:endParaRPr lang="en-US" sz="850" dirty="0"/>
          </a:p>
        </p:txBody>
      </p:sp>
      <p:sp>
        <p:nvSpPr>
          <p:cNvPr id="23" name="Text 21"/>
          <p:cNvSpPr/>
          <p:nvPr/>
        </p:nvSpPr>
        <p:spPr>
          <a:xfrm>
            <a:off x="2048256" y="4242816"/>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Reproducibility</a:t>
            </a:r>
            <a:endParaRPr lang="en-US" sz="1400" dirty="0"/>
          </a:p>
        </p:txBody>
      </p:sp>
      <p:sp>
        <p:nvSpPr>
          <p:cNvPr id="24" name="Text 22"/>
          <p:cNvSpPr/>
          <p:nvPr/>
        </p:nvSpPr>
        <p:spPr>
          <a:xfrm>
            <a:off x="786384" y="4599432"/>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Versioned registry with promote-on-improvement, run logging, 145 tests.</a:t>
            </a:r>
            <a:endParaRPr lang="en-US" sz="1150" dirty="0"/>
          </a:p>
        </p:txBody>
      </p:sp>
      <p:sp>
        <p:nvSpPr>
          <p:cNvPr id="25" name="Shape 23"/>
          <p:cNvSpPr/>
          <p:nvPr/>
        </p:nvSpPr>
        <p:spPr>
          <a:xfrm>
            <a:off x="6208776" y="4087368"/>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26" name="Shape 24"/>
          <p:cNvSpPr/>
          <p:nvPr/>
        </p:nvSpPr>
        <p:spPr>
          <a:xfrm>
            <a:off x="6428232" y="4270248"/>
            <a:ext cx="1152144" cy="274320"/>
          </a:xfrm>
          <a:prstGeom prst="roundRect">
            <a:avLst>
              <a:gd name="adj" fmla="val 46667"/>
            </a:avLst>
          </a:prstGeom>
          <a:solidFill>
            <a:srgbClr val="B04A2F"/>
          </a:solidFill>
          <a:ln/>
        </p:spPr>
      </p:sp>
      <p:sp>
        <p:nvSpPr>
          <p:cNvPr id="27" name="Text 25"/>
          <p:cNvSpPr/>
          <p:nvPr/>
        </p:nvSpPr>
        <p:spPr>
          <a:xfrm>
            <a:off x="6428232" y="4270248"/>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BLOCKED</a:t>
            </a:r>
            <a:endParaRPr lang="en-US" sz="850" dirty="0"/>
          </a:p>
        </p:txBody>
      </p:sp>
      <p:sp>
        <p:nvSpPr>
          <p:cNvPr id="28" name="Text 26"/>
          <p:cNvSpPr/>
          <p:nvPr/>
        </p:nvSpPr>
        <p:spPr>
          <a:xfrm>
            <a:off x="7690104" y="4242816"/>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Scaled training data</a:t>
            </a:r>
            <a:endParaRPr lang="en-US" sz="1400" dirty="0"/>
          </a:p>
        </p:txBody>
      </p:sp>
      <p:sp>
        <p:nvSpPr>
          <p:cNvPr id="29" name="Text 27"/>
          <p:cNvSpPr/>
          <p:nvPr/>
        </p:nvSpPr>
        <p:spPr>
          <a:xfrm>
            <a:off x="6428232" y="4599432"/>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494-hour corpus acquired; training on it failed. Cause diagnosed, remedies costed.</a:t>
            </a:r>
            <a:endParaRPr lang="en-US" sz="1150" dirty="0"/>
          </a:p>
        </p:txBody>
      </p:sp>
      <p:sp>
        <p:nvSpPr>
          <p:cNvPr id="30" name="Shape 28"/>
          <p:cNvSpPr/>
          <p:nvPr/>
        </p:nvSpPr>
        <p:spPr>
          <a:xfrm>
            <a:off x="566928" y="5111496"/>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31" name="Shape 29"/>
          <p:cNvSpPr/>
          <p:nvPr/>
        </p:nvSpPr>
        <p:spPr>
          <a:xfrm>
            <a:off x="786384" y="5294376"/>
            <a:ext cx="1152144" cy="274320"/>
          </a:xfrm>
          <a:prstGeom prst="roundRect">
            <a:avLst>
              <a:gd name="adj" fmla="val 46667"/>
            </a:avLst>
          </a:prstGeom>
          <a:solidFill>
            <a:srgbClr val="B04A2F"/>
          </a:solidFill>
          <a:ln/>
        </p:spPr>
      </p:sp>
      <p:sp>
        <p:nvSpPr>
          <p:cNvPr id="32" name="Text 30"/>
          <p:cNvSpPr/>
          <p:nvPr/>
        </p:nvSpPr>
        <p:spPr>
          <a:xfrm>
            <a:off x="786384" y="5294376"/>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UNLABELLED</a:t>
            </a:r>
            <a:endParaRPr lang="en-US" sz="850" dirty="0"/>
          </a:p>
        </p:txBody>
      </p:sp>
      <p:sp>
        <p:nvSpPr>
          <p:cNvPr id="33" name="Text 31"/>
          <p:cNvSpPr/>
          <p:nvPr/>
        </p:nvSpPr>
        <p:spPr>
          <a:xfrm>
            <a:off x="2048256" y="5266944"/>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Court-domain corpus</a:t>
            </a:r>
            <a:endParaRPr lang="en-US" sz="1400" dirty="0"/>
          </a:p>
        </p:txBody>
      </p:sp>
      <p:sp>
        <p:nvSpPr>
          <p:cNvPr id="34" name="Text 32"/>
          <p:cNvSpPr/>
          <p:nvPr/>
        </p:nvSpPr>
        <p:spPr>
          <a:xfrm>
            <a:off x="786384" y="5623560"/>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~8 hours of proceedings recorded. Spot-checked, but no transcripts or speaker labels.</a:t>
            </a:r>
            <a:endParaRPr lang="en-US" sz="1150" dirty="0"/>
          </a:p>
        </p:txBody>
      </p:sp>
      <p:sp>
        <p:nvSpPr>
          <p:cNvPr id="35" name="Shape 33"/>
          <p:cNvSpPr/>
          <p:nvPr/>
        </p:nvSpPr>
        <p:spPr>
          <a:xfrm>
            <a:off x="6208776" y="5111496"/>
            <a:ext cx="5413248"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36" name="Shape 34"/>
          <p:cNvSpPr/>
          <p:nvPr/>
        </p:nvSpPr>
        <p:spPr>
          <a:xfrm>
            <a:off x="6428232" y="5294376"/>
            <a:ext cx="1152144" cy="274320"/>
          </a:xfrm>
          <a:prstGeom prst="roundRect">
            <a:avLst>
              <a:gd name="adj" fmla="val 46667"/>
            </a:avLst>
          </a:prstGeom>
          <a:solidFill>
            <a:srgbClr val="6B6560"/>
          </a:solidFill>
          <a:ln/>
        </p:spPr>
      </p:sp>
      <p:sp>
        <p:nvSpPr>
          <p:cNvPr id="37" name="Text 35"/>
          <p:cNvSpPr/>
          <p:nvPr/>
        </p:nvSpPr>
        <p:spPr>
          <a:xfrm>
            <a:off x="6428232" y="5294376"/>
            <a:ext cx="1152144" cy="274320"/>
          </a:xfrm>
          <a:prstGeom prst="rect">
            <a:avLst/>
          </a:prstGeom>
          <a:noFill/>
          <a:ln/>
        </p:spPr>
        <p:txBody>
          <a:bodyPr wrap="square" lIns="0" tIns="0" rIns="0" bIns="0" rtlCol="0" anchor="ctr"/>
          <a:lstStyle/>
          <a:p>
            <a:pPr marL="0" indent="0" algn="ctr">
              <a:buNone/>
            </a:pPr>
            <a:r>
              <a:rPr lang="en-US" sz="850" b="1" kern="0" spc="60" dirty="0">
                <a:solidFill>
                  <a:srgbClr val="FFFFFF"/>
                </a:solidFill>
                <a:latin typeface="Calibri" pitchFamily="34" charset="0"/>
                <a:ea typeface="Calibri" pitchFamily="34" charset="-122"/>
                <a:cs typeface="Calibri" pitchFamily="34" charset="-120"/>
              </a:rPr>
              <a:t>UNQUANTIFIED</a:t>
            </a:r>
            <a:endParaRPr lang="en-US" sz="850" dirty="0"/>
          </a:p>
        </p:txBody>
      </p:sp>
      <p:sp>
        <p:nvSpPr>
          <p:cNvPr id="38" name="Text 36"/>
          <p:cNvSpPr/>
          <p:nvPr/>
        </p:nvSpPr>
        <p:spPr>
          <a:xfrm>
            <a:off x="7690104" y="5266944"/>
            <a:ext cx="3675888" cy="274320"/>
          </a:xfrm>
          <a:prstGeom prst="rect">
            <a:avLst/>
          </a:prstGeom>
          <a:noFill/>
          <a:ln/>
        </p:spPr>
        <p:txBody>
          <a:bodyPr wrap="square" lIns="0" tIns="0" rIns="0" bIns="0" rtlCol="0" anchor="ctr"/>
          <a:lstStyle/>
          <a:p>
            <a:pPr marL="0" indent="0">
              <a:buNone/>
            </a:pPr>
            <a:r>
              <a:rPr lang="en-US" sz="1400" b="1" dirty="0">
                <a:solidFill>
                  <a:srgbClr val="1C1A17"/>
                </a:solidFill>
                <a:latin typeface="Calibri" pitchFamily="34" charset="0"/>
                <a:ea typeface="Calibri" pitchFamily="34" charset="-122"/>
                <a:cs typeface="Calibri" pitchFamily="34" charset="-120"/>
              </a:rPr>
              <a:t>Court-domain accuracy</a:t>
            </a:r>
            <a:endParaRPr lang="en-US" sz="1400" dirty="0"/>
          </a:p>
        </p:txBody>
      </p:sp>
      <p:sp>
        <p:nvSpPr>
          <p:cNvPr id="39" name="Text 37"/>
          <p:cNvSpPr/>
          <p:nvPr/>
        </p:nvSpPr>
        <p:spPr>
          <a:xfrm>
            <a:off x="6428232" y="5623560"/>
            <a:ext cx="4974336" cy="365760"/>
          </a:xfrm>
          <a:prstGeom prst="rect">
            <a:avLst/>
          </a:prstGeom>
          <a:noFill/>
          <a:ln/>
        </p:spPr>
        <p:txBody>
          <a:bodyPr wrap="square" lIns="0" tIns="0" rIns="0" bIns="0" rtlCol="0" anchor="t"/>
          <a:lstStyle/>
          <a:p>
            <a:pPr marL="0" indent="0">
              <a:lnSpc>
                <a:spcPct val="105000"/>
              </a:lnSpc>
              <a:buNone/>
            </a:pPr>
            <a:r>
              <a:rPr lang="en-US" sz="1150" dirty="0">
                <a:solidFill>
                  <a:srgbClr val="6B6560"/>
                </a:solidFill>
                <a:latin typeface="Calibri" pitchFamily="34" charset="0"/>
                <a:ea typeface="Calibri" pitchFamily="34" charset="-122"/>
                <a:cs typeface="Calibri" pitchFamily="34" charset="-120"/>
              </a:rPr>
              <a:t>Spot-checked qualitatively only. No reference transcripts, so no WER exists yet.</a:t>
            </a:r>
            <a:endParaRPr lang="en-US" sz="1150" dirty="0"/>
          </a:p>
        </p:txBody>
      </p:sp>
      <p:sp>
        <p:nvSpPr>
          <p:cNvPr id="41" name="Text 38"/>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delivered system, end to end</a:t>
            </a:r>
            <a:endParaRPr lang="en-US" sz="3300" dirty="0"/>
          </a:p>
        </p:txBody>
      </p:sp>
      <p:sp>
        <p:nvSpPr>
          <p:cNvPr id="4" name="Text 2"/>
          <p:cNvSpPr/>
          <p:nvPr/>
        </p:nvSpPr>
        <p:spPr>
          <a:xfrm>
            <a:off x="566928" y="1435608"/>
            <a:ext cx="10881360" cy="402336"/>
          </a:xfrm>
          <a:prstGeom prst="rect">
            <a:avLst/>
          </a:prstGeom>
          <a:noFill/>
          <a:ln/>
        </p:spPr>
        <p:txBody>
          <a:bodyPr wrap="square" lIns="0" tIns="0" rIns="0" bIns="0" rtlCol="0" anchor="t"/>
          <a:lstStyle/>
          <a:p>
            <a:pPr marL="0" indent="0">
              <a:lnSpc>
                <a:spcPct val="110000"/>
              </a:lnSpc>
              <a:buNone/>
            </a:pPr>
            <a:r>
              <a:rPr lang="en-US" sz="1350" dirty="0">
                <a:solidFill>
                  <a:srgbClr val="6B6560"/>
                </a:solidFill>
                <a:latin typeface="Calibri" pitchFamily="34" charset="0"/>
                <a:ea typeface="Calibri" pitchFamily="34" charset="-122"/>
                <a:cs typeface="Calibri" pitchFamily="34" charset="-120"/>
              </a:rPr>
              <a:t>Four stages. Diarization runs before ASR, not after — our CTC decoder emits characters with no word-level timestamps, so speakers cannot be assigned to words retrospectively.</a:t>
            </a:r>
            <a:endParaRPr lang="en-US" sz="1350" dirty="0"/>
          </a:p>
        </p:txBody>
      </p:sp>
      <p:sp>
        <p:nvSpPr>
          <p:cNvPr id="5" name="Shape 3"/>
          <p:cNvSpPr/>
          <p:nvPr/>
        </p:nvSpPr>
        <p:spPr>
          <a:xfrm>
            <a:off x="566928" y="2002536"/>
            <a:ext cx="2670048" cy="2487168"/>
          </a:xfrm>
          <a:prstGeom prst="roundRect">
            <a:avLst>
              <a:gd name="adj" fmla="val 2941"/>
            </a:avLst>
          </a:prstGeom>
          <a:solidFill>
            <a:srgbClr val="F3F1EF"/>
          </a:solidFill>
          <a:ln/>
          <a:effectLst>
            <a:outerShdw blurRad="101600" dist="25400" dir="5400000" algn="bl" rotWithShape="0">
              <a:srgbClr val="9A9088">
                <a:alpha val="28000"/>
              </a:srgbClr>
            </a:outerShdw>
          </a:effectLst>
        </p:spPr>
      </p:sp>
      <p:sp>
        <p:nvSpPr>
          <p:cNvPr id="6" name="Shape 4"/>
          <p:cNvSpPr/>
          <p:nvPr/>
        </p:nvSpPr>
        <p:spPr>
          <a:xfrm>
            <a:off x="786384" y="2203704"/>
            <a:ext cx="512064" cy="512064"/>
          </a:xfrm>
          <a:prstGeom prst="ellipse">
            <a:avLst/>
          </a:prstGeom>
          <a:solidFill>
            <a:srgbClr val="B04A2F"/>
          </a:solidFill>
          <a:ln/>
        </p:spPr>
      </p:sp>
      <p:sp>
        <p:nvSpPr>
          <p:cNvPr id="7" name="Text 5"/>
          <p:cNvSpPr/>
          <p:nvPr/>
        </p:nvSpPr>
        <p:spPr>
          <a:xfrm>
            <a:off x="786384" y="2203704"/>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8" name="Text 6"/>
          <p:cNvSpPr/>
          <p:nvPr/>
        </p:nvSpPr>
        <p:spPr>
          <a:xfrm>
            <a:off x="786384" y="2807208"/>
            <a:ext cx="2231136" cy="566928"/>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Decode and featurise</a:t>
            </a:r>
            <a:endParaRPr lang="en-US" sz="1700" dirty="0"/>
          </a:p>
        </p:txBody>
      </p:sp>
      <p:sp>
        <p:nvSpPr>
          <p:cNvPr id="9" name="Text 7"/>
          <p:cNvSpPr/>
          <p:nvPr/>
        </p:nvSpPr>
        <p:spPr>
          <a:xfrm>
            <a:off x="786384" y="3374136"/>
            <a:ext cx="2231136" cy="786384"/>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soundfile decode at 16 kHz → 80-band log-mel (25 ms / 10 ms) → per-utterance CMVN → SpecAugment.</a:t>
            </a:r>
            <a:endParaRPr lang="en-US" sz="1150" dirty="0"/>
          </a:p>
        </p:txBody>
      </p:sp>
      <p:sp>
        <p:nvSpPr>
          <p:cNvPr id="10" name="Text 8"/>
          <p:cNvSpPr/>
          <p:nvPr/>
        </p:nvSpPr>
        <p:spPr>
          <a:xfrm>
            <a:off x="786384" y="4160520"/>
            <a:ext cx="2231136" cy="237744"/>
          </a:xfrm>
          <a:prstGeom prst="rect">
            <a:avLst/>
          </a:prstGeom>
          <a:noFill/>
          <a:ln/>
        </p:spPr>
        <p:txBody>
          <a:bodyPr wrap="square" lIns="0" tIns="0" rIns="0" bIns="0" rtlCol="0" anchor="t"/>
          <a:lstStyle/>
          <a:p>
            <a:pPr marL="0" indent="0">
              <a:buNone/>
            </a:pPr>
            <a:r>
              <a:rPr lang="en-US" sz="950" dirty="0">
                <a:solidFill>
                  <a:srgbClr val="B04A2F"/>
                </a:solidFill>
                <a:latin typeface="Courier New" pitchFamily="34" charset="0"/>
                <a:ea typeface="Courier New" pitchFamily="34" charset="-122"/>
                <a:cs typeface="Courier New" pitchFamily="34" charset="-120"/>
              </a:rPr>
              <a:t>src/utils/audio_io.py</a:t>
            </a:r>
            <a:endParaRPr lang="en-US" sz="950" dirty="0"/>
          </a:p>
        </p:txBody>
      </p:sp>
      <p:sp>
        <p:nvSpPr>
          <p:cNvPr id="11" name="Shape 9"/>
          <p:cNvSpPr/>
          <p:nvPr/>
        </p:nvSpPr>
        <p:spPr>
          <a:xfrm>
            <a:off x="3401568" y="2002536"/>
            <a:ext cx="2670048" cy="2487168"/>
          </a:xfrm>
          <a:prstGeom prst="roundRect">
            <a:avLst>
              <a:gd name="adj" fmla="val 2941"/>
            </a:avLst>
          </a:prstGeom>
          <a:solidFill>
            <a:srgbClr val="F3F1EF"/>
          </a:solidFill>
          <a:ln/>
          <a:effectLst>
            <a:outerShdw blurRad="101600" dist="25400" dir="5400000" algn="bl" rotWithShape="0">
              <a:srgbClr val="9A9088">
                <a:alpha val="28000"/>
              </a:srgbClr>
            </a:outerShdw>
          </a:effectLst>
        </p:spPr>
      </p:sp>
      <p:sp>
        <p:nvSpPr>
          <p:cNvPr id="12" name="Shape 10"/>
          <p:cNvSpPr/>
          <p:nvPr/>
        </p:nvSpPr>
        <p:spPr>
          <a:xfrm>
            <a:off x="3621024" y="2203704"/>
            <a:ext cx="512064" cy="512064"/>
          </a:xfrm>
          <a:prstGeom prst="ellipse">
            <a:avLst/>
          </a:prstGeom>
          <a:solidFill>
            <a:srgbClr val="D9A441"/>
          </a:solidFill>
          <a:ln/>
        </p:spPr>
      </p:sp>
      <p:sp>
        <p:nvSpPr>
          <p:cNvPr id="13" name="Text 11"/>
          <p:cNvSpPr/>
          <p:nvPr/>
        </p:nvSpPr>
        <p:spPr>
          <a:xfrm>
            <a:off x="3621024" y="2203704"/>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p:nvPr/>
        </p:nvSpPr>
        <p:spPr>
          <a:xfrm>
            <a:off x="3621024" y="2807208"/>
            <a:ext cx="2231136" cy="566928"/>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Segment and cluster</a:t>
            </a:r>
            <a:endParaRPr lang="en-US" sz="1700" dirty="0"/>
          </a:p>
        </p:txBody>
      </p:sp>
      <p:sp>
        <p:nvSpPr>
          <p:cNvPr id="15" name="Text 13"/>
          <p:cNvSpPr/>
          <p:nvPr/>
        </p:nvSpPr>
        <p:spPr>
          <a:xfrm>
            <a:off x="3621024" y="3374136"/>
            <a:ext cx="2231136" cy="786384"/>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Energy VAD → 1.5 s windows at 0.75 s hop → speaker embeddings → agglomerative clustering → turn algebra.</a:t>
            </a:r>
            <a:endParaRPr lang="en-US" sz="1150" dirty="0"/>
          </a:p>
        </p:txBody>
      </p:sp>
      <p:sp>
        <p:nvSpPr>
          <p:cNvPr id="16" name="Text 14"/>
          <p:cNvSpPr/>
          <p:nvPr/>
        </p:nvSpPr>
        <p:spPr>
          <a:xfrm>
            <a:off x="3621024" y="4160520"/>
            <a:ext cx="2231136" cy="237744"/>
          </a:xfrm>
          <a:prstGeom prst="rect">
            <a:avLst/>
          </a:prstGeom>
          <a:noFill/>
          <a:ln/>
        </p:spPr>
        <p:txBody>
          <a:bodyPr wrap="square" lIns="0" tIns="0" rIns="0" bIns="0" rtlCol="0" anchor="t"/>
          <a:lstStyle/>
          <a:p>
            <a:pPr marL="0" indent="0">
              <a:buNone/>
            </a:pPr>
            <a:r>
              <a:rPr lang="en-US" sz="950" dirty="0">
                <a:solidFill>
                  <a:srgbClr val="D9A441"/>
                </a:solidFill>
                <a:latin typeface="Courier New" pitchFamily="34" charset="0"/>
                <a:ea typeface="Courier New" pitchFamily="34" charset="-122"/>
                <a:cs typeface="Courier New" pitchFamily="34" charset="-120"/>
              </a:rPr>
              <a:t>src/diarization/</a:t>
            </a:r>
            <a:endParaRPr lang="en-US" sz="950" dirty="0"/>
          </a:p>
        </p:txBody>
      </p:sp>
      <p:sp>
        <p:nvSpPr>
          <p:cNvPr id="17" name="Shape 15"/>
          <p:cNvSpPr/>
          <p:nvPr/>
        </p:nvSpPr>
        <p:spPr>
          <a:xfrm>
            <a:off x="6236208" y="2002536"/>
            <a:ext cx="2670048" cy="2487168"/>
          </a:xfrm>
          <a:prstGeom prst="roundRect">
            <a:avLst>
              <a:gd name="adj" fmla="val 2941"/>
            </a:avLst>
          </a:prstGeom>
          <a:solidFill>
            <a:srgbClr val="F3F1EF"/>
          </a:solidFill>
          <a:ln/>
          <a:effectLst>
            <a:outerShdw blurRad="101600" dist="25400" dir="5400000" algn="bl" rotWithShape="0">
              <a:srgbClr val="9A9088">
                <a:alpha val="28000"/>
              </a:srgbClr>
            </a:outerShdw>
          </a:effectLst>
        </p:spPr>
      </p:sp>
      <p:sp>
        <p:nvSpPr>
          <p:cNvPr id="18" name="Shape 16"/>
          <p:cNvSpPr/>
          <p:nvPr/>
        </p:nvSpPr>
        <p:spPr>
          <a:xfrm>
            <a:off x="6455664" y="2203704"/>
            <a:ext cx="512064" cy="512064"/>
          </a:xfrm>
          <a:prstGeom prst="ellipse">
            <a:avLst/>
          </a:prstGeom>
          <a:solidFill>
            <a:srgbClr val="5F7A62"/>
          </a:solidFill>
          <a:ln/>
        </p:spPr>
      </p:sp>
      <p:sp>
        <p:nvSpPr>
          <p:cNvPr id="19" name="Text 17"/>
          <p:cNvSpPr/>
          <p:nvPr/>
        </p:nvSpPr>
        <p:spPr>
          <a:xfrm>
            <a:off x="6455664" y="2203704"/>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p:nvPr/>
        </p:nvSpPr>
        <p:spPr>
          <a:xfrm>
            <a:off x="6455664" y="2807208"/>
            <a:ext cx="2231136" cy="566928"/>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Recognise per turn</a:t>
            </a:r>
            <a:endParaRPr lang="en-US" sz="1700" dirty="0"/>
          </a:p>
        </p:txBody>
      </p:sp>
      <p:sp>
        <p:nvSpPr>
          <p:cNvPr id="21" name="Text 19"/>
          <p:cNvSpPr/>
          <p:nvPr/>
        </p:nvSpPr>
        <p:spPr>
          <a:xfrm>
            <a:off x="6455664" y="3374136"/>
            <a:ext cx="2231136" cy="786384"/>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Conformer-S encoder, 4x subsampling, length-aware attention masking, CTC head over 41 symbols, greedy decode.</a:t>
            </a:r>
            <a:endParaRPr lang="en-US" sz="1150" dirty="0"/>
          </a:p>
        </p:txBody>
      </p:sp>
      <p:sp>
        <p:nvSpPr>
          <p:cNvPr id="22" name="Text 20"/>
          <p:cNvSpPr/>
          <p:nvPr/>
        </p:nvSpPr>
        <p:spPr>
          <a:xfrm>
            <a:off x="6455664" y="4160520"/>
            <a:ext cx="2231136" cy="237744"/>
          </a:xfrm>
          <a:prstGeom prst="rect">
            <a:avLst/>
          </a:prstGeom>
          <a:noFill/>
          <a:ln/>
        </p:spPr>
        <p:txBody>
          <a:bodyPr wrap="square" lIns="0" tIns="0" rIns="0" bIns="0" rtlCol="0" anchor="t"/>
          <a:lstStyle/>
          <a:p>
            <a:pPr marL="0" indent="0">
              <a:buNone/>
            </a:pPr>
            <a:r>
              <a:rPr lang="en-US" sz="950" dirty="0">
                <a:solidFill>
                  <a:srgbClr val="5F7A62"/>
                </a:solidFill>
                <a:latin typeface="Courier New" pitchFamily="34" charset="0"/>
                <a:ea typeface="Courier New" pitchFamily="34" charset="-122"/>
                <a:cs typeface="Courier New" pitchFamily="34" charset="-120"/>
              </a:rPr>
              <a:t>src/models/conformer.py</a:t>
            </a:r>
            <a:endParaRPr lang="en-US" sz="950" dirty="0"/>
          </a:p>
        </p:txBody>
      </p:sp>
      <p:sp>
        <p:nvSpPr>
          <p:cNvPr id="23" name="Shape 21"/>
          <p:cNvSpPr/>
          <p:nvPr/>
        </p:nvSpPr>
        <p:spPr>
          <a:xfrm>
            <a:off x="9070848" y="2002536"/>
            <a:ext cx="2670048" cy="2487168"/>
          </a:xfrm>
          <a:prstGeom prst="roundRect">
            <a:avLst>
              <a:gd name="adj" fmla="val 2941"/>
            </a:avLst>
          </a:prstGeom>
          <a:solidFill>
            <a:srgbClr val="F3F1EF"/>
          </a:solidFill>
          <a:ln/>
          <a:effectLst>
            <a:outerShdw blurRad="101600" dist="25400" dir="5400000" algn="bl" rotWithShape="0">
              <a:srgbClr val="9A9088">
                <a:alpha val="28000"/>
              </a:srgbClr>
            </a:outerShdw>
          </a:effectLst>
        </p:spPr>
      </p:sp>
      <p:sp>
        <p:nvSpPr>
          <p:cNvPr id="24" name="Shape 22"/>
          <p:cNvSpPr/>
          <p:nvPr/>
        </p:nvSpPr>
        <p:spPr>
          <a:xfrm>
            <a:off x="9290304" y="2203704"/>
            <a:ext cx="512064" cy="512064"/>
          </a:xfrm>
          <a:prstGeom prst="ellipse">
            <a:avLst/>
          </a:prstGeom>
          <a:solidFill>
            <a:srgbClr val="1C1A17"/>
          </a:solidFill>
          <a:ln/>
        </p:spPr>
      </p:sp>
      <p:sp>
        <p:nvSpPr>
          <p:cNvPr id="25" name="Text 23"/>
          <p:cNvSpPr/>
          <p:nvPr/>
        </p:nvSpPr>
        <p:spPr>
          <a:xfrm>
            <a:off x="9290304" y="2203704"/>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6" name="Text 24"/>
          <p:cNvSpPr/>
          <p:nvPr/>
        </p:nvSpPr>
        <p:spPr>
          <a:xfrm>
            <a:off x="9290304" y="2807208"/>
            <a:ext cx="2231136" cy="566928"/>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Assemble and serve</a:t>
            </a:r>
            <a:endParaRPr lang="en-US" sz="1700" dirty="0"/>
          </a:p>
        </p:txBody>
      </p:sp>
      <p:sp>
        <p:nvSpPr>
          <p:cNvPr id="27" name="Text 25"/>
          <p:cNvSpPr/>
          <p:nvPr/>
        </p:nvSpPr>
        <p:spPr>
          <a:xfrm>
            <a:off x="9290304" y="3374136"/>
            <a:ext cx="2231136" cy="786384"/>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Turns rejoined into a time-stamped transcript, emitted as text and JSON. Model resolved from the registry.</a:t>
            </a:r>
            <a:endParaRPr lang="en-US" sz="1150" dirty="0"/>
          </a:p>
        </p:txBody>
      </p:sp>
      <p:sp>
        <p:nvSpPr>
          <p:cNvPr id="28" name="Text 26"/>
          <p:cNvSpPr/>
          <p:nvPr/>
        </p:nvSpPr>
        <p:spPr>
          <a:xfrm>
            <a:off x="9290304" y="4160520"/>
            <a:ext cx="2231136" cy="237744"/>
          </a:xfrm>
          <a:prstGeom prst="rect">
            <a:avLst/>
          </a:prstGeom>
          <a:noFill/>
          <a:ln/>
        </p:spPr>
        <p:txBody>
          <a:bodyPr wrap="square" lIns="0" tIns="0" rIns="0" bIns="0" rtlCol="0" anchor="t"/>
          <a:lstStyle/>
          <a:p>
            <a:pPr marL="0" indent="0">
              <a:buNone/>
            </a:pPr>
            <a:r>
              <a:rPr lang="en-US" sz="950" dirty="0">
                <a:solidFill>
                  <a:srgbClr val="6B6560"/>
                </a:solidFill>
                <a:latin typeface="Courier New" pitchFamily="34" charset="0"/>
                <a:ea typeface="Courier New" pitchFamily="34" charset="-122"/>
                <a:cs typeface="Courier New" pitchFamily="34" charset="-120"/>
              </a:rPr>
              <a:t>src/diarization/pipeline.py</a:t>
            </a:r>
            <a:endParaRPr lang="en-US" sz="950" dirty="0"/>
          </a:p>
        </p:txBody>
      </p:sp>
      <p:sp>
        <p:nvSpPr>
          <p:cNvPr id="29" name="Shape 27"/>
          <p:cNvSpPr/>
          <p:nvPr/>
        </p:nvSpPr>
        <p:spPr>
          <a:xfrm>
            <a:off x="566928" y="4745736"/>
            <a:ext cx="10597896" cy="1325880"/>
          </a:xfrm>
          <a:prstGeom prst="roundRect">
            <a:avLst>
              <a:gd name="adj" fmla="val 4138"/>
            </a:avLst>
          </a:prstGeom>
          <a:solidFill>
            <a:srgbClr val="1C1A17"/>
          </a:solidFill>
          <a:ln/>
        </p:spPr>
      </p:sp>
      <p:sp>
        <p:nvSpPr>
          <p:cNvPr id="30" name="Text 28"/>
          <p:cNvSpPr/>
          <p:nvPr/>
        </p:nvSpPr>
        <p:spPr>
          <a:xfrm>
            <a:off x="768096" y="4873752"/>
            <a:ext cx="10195560"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MEASURED OUTPUT — TRAINED CONFORMER + PYANNOTE, 28.3 s AKAN CLIP</a:t>
            </a:r>
            <a:endParaRPr lang="en-US" sz="1050" dirty="0"/>
          </a:p>
        </p:txBody>
      </p:sp>
      <p:sp>
        <p:nvSpPr>
          <p:cNvPr id="31" name="Text 29"/>
          <p:cNvSpPr/>
          <p:nvPr/>
        </p:nvSpPr>
        <p:spPr>
          <a:xfrm>
            <a:off x="768096" y="5148072"/>
            <a:ext cx="10195560" cy="79552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[00:00.0 - 00:07.6] SPEAKER_00: ɔbɛtumi akɔdan a ɛtɔa wɔn nsono ne onyankon adi a wɔdi mfeɛ...</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[00:08.3 - 00:08.8] SPEAKER_01: ucirie</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[00:13.6 - 00:21.0] SPEAKER_02: awɔde asɔfodie nsafoɔ a no m ɛbeɛa na me yɛ atum afiri sooaa</a:t>
            </a:r>
            <a:endParaRPr lang="en-US" sz="1050" dirty="0"/>
          </a:p>
        </p:txBody>
      </p:sp>
      <p:sp>
        <p:nvSpPr>
          <p:cNvPr id="33" name="Text 30"/>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docs/speaker_diarization.md §1, §7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constraints that shaped every decision</a:t>
            </a:r>
            <a:endParaRPr lang="en-US" sz="3300" dirty="0"/>
          </a:p>
        </p:txBody>
      </p:sp>
      <p:sp>
        <p:nvSpPr>
          <p:cNvPr id="4" name="Text 2"/>
          <p:cNvSpPr/>
          <p:nvPr/>
        </p:nvSpPr>
        <p:spPr>
          <a:xfrm>
            <a:off x="566928" y="1435608"/>
            <a:ext cx="10881360" cy="365760"/>
          </a:xfrm>
          <a:prstGeom prst="rect">
            <a:avLst/>
          </a:prstGeom>
          <a:noFill/>
          <a:ln/>
        </p:spPr>
        <p:txBody>
          <a:bodyPr wrap="square" lIns="0" tIns="0" rIns="0" bIns="0" rtlCol="0" anchor="ctr"/>
          <a:lstStyle/>
          <a:p>
            <a:pPr marL="0" indent="0">
              <a:buNone/>
            </a:pPr>
            <a:r>
              <a:rPr lang="en-US" sz="1350" dirty="0">
                <a:solidFill>
                  <a:srgbClr val="6B6560"/>
                </a:solidFill>
                <a:latin typeface="Calibri" pitchFamily="34" charset="0"/>
                <a:ea typeface="Calibri" pitchFamily="34" charset="-122"/>
                <a:cs typeface="Calibri" pitchFamily="34" charset="-120"/>
              </a:rPr>
              <a:t>Each of these forced a specific design choice rather than a preference. They are the reason the system looks the way it does.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938528"/>
          <a:ext cx="11055096" cy="3148584"/>
        </p:xfrm>
        <a:graphic>
          <a:graphicData uri="http://schemas.openxmlformats.org/drawingml/2006/table">
            <a:tbl>
              <a:tblPr/>
              <a:tblGrid>
                <a:gridCol w="26060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88536">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Constraint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measured fact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forced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51206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Training audio is 12.3 hours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Two clean corpora, 2,446 + 15,560 clips. The 494-hour corpus is unusable in its current form.</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A small encoder (8.4 M params) rather than a large one, and no overfitting at epoch 80 — so capacity was never the ceiling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Clip lengths span 0.04 s to 30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Random batching left 20% of batched frames carrying real audio; the rest was padding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Length-bucketed batching, which lifted padding efficiency to 97%, and 99% on the mixed run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CTC emits no alignment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The decoder produces characters with no word-level timestamps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Diarize first, transcribe per turn — rather than transcribe once and assign speakers afterwards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pyannote is licence-gated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Three separate gated repositories, and the blocking one is rarely the one you requested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Two ungated fallback backends and 403 parsing that names the repo the hub actually refused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One 70 W GPU, power-capped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69.9 W of 70 W at 98% utilisation, 12.1 of 20.5 GB used at batch size 32</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Mixed-precision training and a batch-size ceiling set by watts, not memory — a second card beats a bigger batch</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Bad data fails silently</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A text-only CSV once trained to a loss of exactly 0.0 for 50 minutes and looked converged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Corpus probes that abort before epoch 1, and a registry that promotes only on measured improvement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66928" y="5367528"/>
            <a:ext cx="11055096" cy="777240"/>
          </a:xfrm>
          <a:prstGeom prst="roundRect">
            <a:avLst>
              <a:gd name="adj" fmla="val 9412"/>
            </a:avLst>
          </a:prstGeom>
          <a:solidFill>
            <a:srgbClr val="1C1A17"/>
          </a:solidFill>
          <a:ln/>
          <a:effectLst>
            <a:outerShdw blurRad="101600" dist="25400" dir="5400000" algn="bl" rotWithShape="0">
              <a:srgbClr val="9A9088">
                <a:alpha val="28000"/>
              </a:srgbClr>
            </a:outerShdw>
          </a:effectLst>
        </p:spPr>
      </p:sp>
      <p:sp>
        <p:nvSpPr>
          <p:cNvPr id="7" name="Text 4"/>
          <p:cNvSpPr/>
          <p:nvPr/>
        </p:nvSpPr>
        <p:spPr>
          <a:xfrm>
            <a:off x="859536" y="5477256"/>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E0D9D0"/>
                </a:solidFill>
                <a:latin typeface="Calibri" pitchFamily="34" charset="0"/>
                <a:ea typeface="Calibri" pitchFamily="34" charset="-122"/>
                <a:cs typeface="Calibri" pitchFamily="34" charset="-120"/>
              </a:rPr>
              <a:t>The one constraint we have not resolved: none of the training audio is courtroom speech, and none of the court audio is transcribed. Every accuracy figure in this deck is measured out-of-domain.</a:t>
            </a:r>
            <a:endParaRPr lang="en-US" sz="1350" dirty="0"/>
          </a:p>
        </p:txBody>
      </p:sp>
      <p:sp>
        <p:nvSpPr>
          <p:cNvPr id="9" name="Text 5"/>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§2, §4, §6, docs/roadmap_next_steps.md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01</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Where we are today</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A trained acoustic model, a working diarization pipeline, a versioned registry and a demo app — with every number measured on this repository.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trained model, measured</a:t>
            </a:r>
            <a:endParaRPr lang="en-US" sz="3300" dirty="0"/>
          </a:p>
        </p:txBody>
      </p:sp>
      <p:sp>
        <p:nvSpPr>
          <p:cNvPr id="4" name="Shape 2"/>
          <p:cNvSpPr/>
          <p:nvPr/>
        </p:nvSpPr>
        <p:spPr>
          <a:xfrm>
            <a:off x="566928" y="1435608"/>
            <a:ext cx="2670048"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5" name="Text 3"/>
          <p:cNvSpPr/>
          <p:nvPr/>
        </p:nvSpPr>
        <p:spPr>
          <a:xfrm>
            <a:off x="731520" y="1563624"/>
            <a:ext cx="2340864" cy="658368"/>
          </a:xfrm>
          <a:prstGeom prst="rect">
            <a:avLst/>
          </a:prstGeom>
          <a:noFill/>
          <a:ln/>
        </p:spPr>
        <p:txBody>
          <a:bodyPr wrap="square" lIns="0" tIns="0" rIns="0" bIns="0" rtlCol="0" anchor="ctr"/>
          <a:lstStyle/>
          <a:p>
            <a:pPr marL="0" indent="0">
              <a:buNone/>
            </a:pPr>
            <a:r>
              <a:rPr lang="en-US" sz="4000" b="1" dirty="0">
                <a:solidFill>
                  <a:srgbClr val="B04A2F"/>
                </a:solidFill>
                <a:latin typeface="Cambria" pitchFamily="34" charset="0"/>
                <a:ea typeface="Cambria" pitchFamily="34" charset="-122"/>
                <a:cs typeface="Cambria" pitchFamily="34" charset="-120"/>
              </a:rPr>
              <a:t>0.4701</a:t>
            </a:r>
            <a:endParaRPr lang="en-US" sz="4000" dirty="0"/>
          </a:p>
        </p:txBody>
      </p:sp>
      <p:sp>
        <p:nvSpPr>
          <p:cNvPr id="6" name="Text 4"/>
          <p:cNvSpPr/>
          <p:nvPr/>
        </p:nvSpPr>
        <p:spPr>
          <a:xfrm>
            <a:off x="731520" y="2240280"/>
            <a:ext cx="2340864"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Word Error Rate</a:t>
            </a:r>
            <a:endParaRPr lang="en-US" sz="1300" dirty="0"/>
          </a:p>
        </p:txBody>
      </p:sp>
      <p:sp>
        <p:nvSpPr>
          <p:cNvPr id="7" name="Text 5"/>
          <p:cNvSpPr/>
          <p:nvPr/>
        </p:nvSpPr>
        <p:spPr>
          <a:xfrm>
            <a:off x="731520" y="2514600"/>
            <a:ext cx="2340864"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conformer/v004, held-out Lagyamfi test split, 259 unseen clips</a:t>
            </a:r>
            <a:endParaRPr lang="en-US" sz="1050" dirty="0"/>
          </a:p>
        </p:txBody>
      </p:sp>
      <p:sp>
        <p:nvSpPr>
          <p:cNvPr id="8" name="Shape 6"/>
          <p:cNvSpPr/>
          <p:nvPr/>
        </p:nvSpPr>
        <p:spPr>
          <a:xfrm>
            <a:off x="3401568" y="1435608"/>
            <a:ext cx="2670048"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9" name="Text 7"/>
          <p:cNvSpPr/>
          <p:nvPr/>
        </p:nvSpPr>
        <p:spPr>
          <a:xfrm>
            <a:off x="3566160" y="1563624"/>
            <a:ext cx="2340864" cy="658368"/>
          </a:xfrm>
          <a:prstGeom prst="rect">
            <a:avLst/>
          </a:prstGeom>
          <a:noFill/>
          <a:ln/>
        </p:spPr>
        <p:txBody>
          <a:bodyPr wrap="square" lIns="0" tIns="0" rIns="0" bIns="0"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0.1429</a:t>
            </a:r>
            <a:endParaRPr lang="en-US" sz="4000" dirty="0"/>
          </a:p>
        </p:txBody>
      </p:sp>
      <p:sp>
        <p:nvSpPr>
          <p:cNvPr id="10" name="Text 8"/>
          <p:cNvSpPr/>
          <p:nvPr/>
        </p:nvSpPr>
        <p:spPr>
          <a:xfrm>
            <a:off x="3566160" y="2240280"/>
            <a:ext cx="2340864"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Character Error Rate</a:t>
            </a:r>
            <a:endParaRPr lang="en-US" sz="1300" dirty="0"/>
          </a:p>
        </p:txBody>
      </p:sp>
      <p:sp>
        <p:nvSpPr>
          <p:cNvPr id="11" name="Text 9"/>
          <p:cNvSpPr/>
          <p:nvPr/>
        </p:nvSpPr>
        <p:spPr>
          <a:xfrm>
            <a:off x="3566160" y="2514600"/>
            <a:ext cx="2340864"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Roughly six characters in seven are correct</a:t>
            </a:r>
            <a:endParaRPr lang="en-US" sz="1050" dirty="0"/>
          </a:p>
        </p:txBody>
      </p:sp>
      <p:sp>
        <p:nvSpPr>
          <p:cNvPr id="12" name="Shape 10"/>
          <p:cNvSpPr/>
          <p:nvPr/>
        </p:nvSpPr>
        <p:spPr>
          <a:xfrm>
            <a:off x="6236208" y="1435608"/>
            <a:ext cx="2670048"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13" name="Text 11"/>
          <p:cNvSpPr/>
          <p:nvPr/>
        </p:nvSpPr>
        <p:spPr>
          <a:xfrm>
            <a:off x="6400800" y="1563624"/>
            <a:ext cx="2340864" cy="658368"/>
          </a:xfrm>
          <a:prstGeom prst="rect">
            <a:avLst/>
          </a:prstGeom>
          <a:noFill/>
          <a:ln/>
        </p:spPr>
        <p:txBody>
          <a:bodyPr wrap="square" lIns="0" tIns="0" rIns="0" bIns="0" rtlCol="0" anchor="ctr"/>
          <a:lstStyle/>
          <a:p>
            <a:pPr marL="0" indent="0">
              <a:buNone/>
            </a:pPr>
            <a:r>
              <a:rPr lang="en-US" sz="4000" b="1" dirty="0">
                <a:solidFill>
                  <a:srgbClr val="5F7A62"/>
                </a:solidFill>
                <a:latin typeface="Cambria" pitchFamily="34" charset="0"/>
                <a:ea typeface="Cambria" pitchFamily="34" charset="-122"/>
                <a:cs typeface="Cambria" pitchFamily="34" charset="-120"/>
              </a:rPr>
              <a:t>−8%</a:t>
            </a:r>
            <a:endParaRPr lang="en-US" sz="4000" dirty="0"/>
          </a:p>
        </p:txBody>
      </p:sp>
      <p:sp>
        <p:nvSpPr>
          <p:cNvPr id="14" name="Text 12"/>
          <p:cNvSpPr/>
          <p:nvPr/>
        </p:nvSpPr>
        <p:spPr>
          <a:xfrm>
            <a:off x="6400800" y="2240280"/>
            <a:ext cx="2340864"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Relative gain over v001</a:t>
            </a:r>
            <a:endParaRPr lang="en-US" sz="1300" dirty="0"/>
          </a:p>
        </p:txBody>
      </p:sp>
      <p:sp>
        <p:nvSpPr>
          <p:cNvPr id="15" name="Text 13"/>
          <p:cNvSpPr/>
          <p:nvPr/>
        </p:nvSpPr>
        <p:spPr>
          <a:xfrm>
            <a:off x="6400800" y="2514600"/>
            <a:ext cx="2340864"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0.5100 → 0.4701, from a warm restart on the same audio</a:t>
            </a:r>
            <a:endParaRPr lang="en-US" sz="1050" dirty="0"/>
          </a:p>
        </p:txBody>
      </p:sp>
      <p:sp>
        <p:nvSpPr>
          <p:cNvPr id="16" name="Shape 14"/>
          <p:cNvSpPr/>
          <p:nvPr/>
        </p:nvSpPr>
        <p:spPr>
          <a:xfrm>
            <a:off x="9070848" y="1435608"/>
            <a:ext cx="2551176"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17" name="Text 15"/>
          <p:cNvSpPr/>
          <p:nvPr/>
        </p:nvSpPr>
        <p:spPr>
          <a:xfrm>
            <a:off x="9235440" y="1563624"/>
            <a:ext cx="2221992" cy="658368"/>
          </a:xfrm>
          <a:prstGeom prst="rect">
            <a:avLst/>
          </a:prstGeom>
          <a:noFill/>
          <a:ln/>
        </p:spPr>
        <p:txBody>
          <a:bodyPr wrap="square" lIns="0" tIns="0" rIns="0" bIns="0" rtlCol="0" anchor="ctr"/>
          <a:lstStyle/>
          <a:p>
            <a:pPr marL="0" indent="0">
              <a:buNone/>
            </a:pPr>
            <a:r>
              <a:rPr lang="en-US" sz="4000" b="1" dirty="0">
                <a:solidFill>
                  <a:srgbClr val="1C1A17"/>
                </a:solidFill>
                <a:latin typeface="Cambria" pitchFamily="34" charset="0"/>
                <a:ea typeface="Cambria" pitchFamily="34" charset="-122"/>
                <a:cs typeface="Cambria" pitchFamily="34" charset="-120"/>
              </a:rPr>
              <a:t>12.3 h</a:t>
            </a:r>
            <a:endParaRPr lang="en-US" sz="4000" dirty="0"/>
          </a:p>
        </p:txBody>
      </p:sp>
      <p:sp>
        <p:nvSpPr>
          <p:cNvPr id="18" name="Text 16"/>
          <p:cNvSpPr/>
          <p:nvPr/>
        </p:nvSpPr>
        <p:spPr>
          <a:xfrm>
            <a:off x="9235440" y="2240280"/>
            <a:ext cx="2221992"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Training audio</a:t>
            </a:r>
            <a:endParaRPr lang="en-US" sz="1300" dirty="0"/>
          </a:p>
        </p:txBody>
      </p:sp>
      <p:sp>
        <p:nvSpPr>
          <p:cNvPr id="19" name="Text 17"/>
          <p:cNvSpPr/>
          <p:nvPr/>
        </p:nvSpPr>
        <p:spPr>
          <a:xfrm>
            <a:off x="9235440" y="2514600"/>
            <a:ext cx="2221992"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Unchanged. No new data was involved in the v004 gain</a:t>
            </a:r>
            <a:endParaRPr lang="en-US" sz="1050" dirty="0"/>
          </a:p>
        </p:txBody>
      </p:sp>
      <p:sp>
        <p:nvSpPr>
          <p:cNvPr id="20" name="Shape 18"/>
          <p:cNvSpPr/>
          <p:nvPr/>
        </p:nvSpPr>
        <p:spPr>
          <a:xfrm>
            <a:off x="566928" y="3264408"/>
            <a:ext cx="5532120" cy="2331720"/>
          </a:xfrm>
          <a:prstGeom prst="roundRect">
            <a:avLst>
              <a:gd name="adj" fmla="val 3137"/>
            </a:avLst>
          </a:prstGeom>
          <a:solidFill>
            <a:srgbClr val="F3F1EF"/>
          </a:solidFill>
          <a:ln/>
          <a:effectLst>
            <a:outerShdw blurRad="101600" dist="25400" dir="5400000" algn="bl" rotWithShape="0">
              <a:srgbClr val="9A9088">
                <a:alpha val="28000"/>
              </a:srgbClr>
            </a:outerShdw>
          </a:effectLst>
        </p:spPr>
      </p:sp>
      <p:sp>
        <p:nvSpPr>
          <p:cNvPr id="21" name="Text 19"/>
          <p:cNvSpPr/>
          <p:nvPr/>
        </p:nvSpPr>
        <p:spPr>
          <a:xfrm>
            <a:off x="822960" y="3447288"/>
            <a:ext cx="5029200" cy="292608"/>
          </a:xfrm>
          <a:prstGeom prst="rect">
            <a:avLst/>
          </a:prstGeom>
          <a:noFill/>
          <a:ln/>
        </p:spPr>
        <p:txBody>
          <a:bodyPr wrap="square" lIns="0" tIns="0" rIns="0" bIns="0" rtlCol="0" anchor="ctr"/>
          <a:lstStyle/>
          <a:p>
            <a:pPr marL="0" indent="0">
              <a:buNone/>
            </a:pPr>
            <a:r>
              <a:rPr lang="en-US" sz="1900" b="1" dirty="0">
                <a:solidFill>
                  <a:srgbClr val="1C1A17"/>
                </a:solidFill>
                <a:latin typeface="Cambria" pitchFamily="34" charset="0"/>
                <a:ea typeface="Cambria" pitchFamily="34" charset="-122"/>
                <a:cs typeface="Cambria" pitchFamily="34" charset="-120"/>
              </a:rPr>
              <a:t>What the model is</a:t>
            </a:r>
            <a:endParaRPr lang="en-US" sz="1900" dirty="0"/>
          </a:p>
        </p:txBody>
      </p:sp>
      <p:sp>
        <p:nvSpPr>
          <p:cNvPr id="22" name="Text 20"/>
          <p:cNvSpPr/>
          <p:nvPr/>
        </p:nvSpPr>
        <p:spPr>
          <a:xfrm>
            <a:off x="822960" y="3831336"/>
            <a:ext cx="5029200" cy="16916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C1A17"/>
                </a:solidFill>
                <a:latin typeface="Calibri" pitchFamily="34" charset="0"/>
                <a:ea typeface="Calibri" pitchFamily="34" charset="-122"/>
                <a:cs typeface="Calibri" pitchFamily="34" charset="-120"/>
              </a:rPr>
              <a:t>Conformer-CTC encoder, 8.4 M parameters, 4x time subsampling</a:t>
            </a:r>
            <a:endParaRPr lang="en-US" sz="1250" dirty="0"/>
          </a:p>
          <a:p>
            <a:pPr marL="342900" indent="-342900">
              <a:spcAft>
                <a:spcPts val="500"/>
              </a:spcAft>
              <a:buSzPct val="100000"/>
              <a:buChar char="•"/>
            </a:pPr>
            <a:r>
              <a:rPr lang="en-US" sz="1250" dirty="0">
                <a:solidFill>
                  <a:srgbClr val="1C1A17"/>
                </a:solidFill>
                <a:latin typeface="Calibri" pitchFamily="34" charset="0"/>
                <a:ea typeface="Calibri" pitchFamily="34" charset="-122"/>
                <a:cs typeface="Calibri" pitchFamily="34" charset="-120"/>
              </a:rPr>
              <a:t>80-band log-mel input, per-utterance normalisation, SpecAugment</a:t>
            </a:r>
            <a:endParaRPr lang="en-US" sz="1250" dirty="0"/>
          </a:p>
          <a:p>
            <a:pPr marL="342900" indent="-342900">
              <a:spcAft>
                <a:spcPts val="500"/>
              </a:spcAft>
              <a:buSzPct val="100000"/>
              <a:buChar char="•"/>
            </a:pPr>
            <a:r>
              <a:rPr lang="en-US" sz="1250" dirty="0">
                <a:solidFill>
                  <a:srgbClr val="1C1A17"/>
                </a:solidFill>
                <a:latin typeface="Calibri" pitchFamily="34" charset="0"/>
                <a:ea typeface="Calibri" pitchFamily="34" charset="-122"/>
                <a:cs typeface="Calibri" pitchFamily="34" charset="-120"/>
              </a:rPr>
              <a:t>41-symbol Akan character vocabulary including ɛ and ɔ</a:t>
            </a:r>
            <a:endParaRPr lang="en-US" sz="1250" dirty="0"/>
          </a:p>
          <a:p>
            <a:pPr marL="342900" indent="-342900">
              <a:spcAft>
                <a:spcPts val="500"/>
              </a:spcAft>
              <a:buSzPct val="100000"/>
              <a:buChar char="•"/>
            </a:pPr>
            <a:r>
              <a:rPr lang="en-US" sz="1250" dirty="0">
                <a:solidFill>
                  <a:srgbClr val="1C1A17"/>
                </a:solidFill>
                <a:latin typeface="Calibri" pitchFamily="34" charset="0"/>
                <a:ea typeface="Calibri" pitchFamily="34" charset="-122"/>
                <a:cs typeface="Calibri" pitchFamily="34" charset="-120"/>
              </a:rPr>
              <a:t>Greedy CTC decoding — no language model, no lexicon yet</a:t>
            </a:r>
            <a:endParaRPr lang="en-US" sz="1250" dirty="0"/>
          </a:p>
          <a:p>
            <a:pPr marL="342900" indent="-342900">
              <a:spcAft>
                <a:spcPts val="500"/>
              </a:spcAft>
              <a:buSzPct val="100000"/>
              <a:buChar char="•"/>
            </a:pPr>
            <a:r>
              <a:rPr lang="en-US" sz="1250" dirty="0">
                <a:solidFill>
                  <a:srgbClr val="1C1A17"/>
                </a:solidFill>
                <a:latin typeface="Calibri" pitchFamily="34" charset="0"/>
                <a:ea typeface="Calibri" pitchFamily="34" charset="-122"/>
                <a:cs typeface="Calibri" pitchFamily="34" charset="-120"/>
              </a:rPr>
              <a:t>v001: 80 epochs from random weights, ~2 h. v004: 40 more, ~37 min</a:t>
            </a:r>
            <a:endParaRPr lang="en-US" sz="1250" dirty="0"/>
          </a:p>
        </p:txBody>
      </p:sp>
      <p:sp>
        <p:nvSpPr>
          <p:cNvPr id="23" name="Shape 21"/>
          <p:cNvSpPr/>
          <p:nvPr/>
        </p:nvSpPr>
        <p:spPr>
          <a:xfrm>
            <a:off x="6327648" y="3264408"/>
            <a:ext cx="5294376" cy="2331720"/>
          </a:xfrm>
          <a:prstGeom prst="roundRect">
            <a:avLst>
              <a:gd name="adj" fmla="val 3137"/>
            </a:avLst>
          </a:prstGeom>
          <a:solidFill>
            <a:srgbClr val="1C1A17"/>
          </a:solidFill>
          <a:ln/>
          <a:effectLst>
            <a:outerShdw blurRad="101600" dist="25400" dir="5400000" algn="bl" rotWithShape="0">
              <a:srgbClr val="9A9088">
                <a:alpha val="28000"/>
              </a:srgbClr>
            </a:outerShdw>
          </a:effectLst>
        </p:spPr>
      </p:sp>
      <p:sp>
        <p:nvSpPr>
          <p:cNvPr id="24" name="Text 22"/>
          <p:cNvSpPr/>
          <p:nvPr/>
        </p:nvSpPr>
        <p:spPr>
          <a:xfrm>
            <a:off x="6583680" y="3447288"/>
            <a:ext cx="4754880" cy="256032"/>
          </a:xfrm>
          <a:prstGeom prst="rect">
            <a:avLst/>
          </a:prstGeom>
          <a:noFill/>
          <a:ln/>
        </p:spPr>
        <p:txBody>
          <a:bodyPr wrap="square" lIns="0" tIns="0" rIns="0" bIns="0"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THE WARM-RESTART LEVER IS NOW LARGELY SPENT</a:t>
            </a:r>
            <a:endParaRPr lang="en-US" sz="1050" dirty="0"/>
          </a:p>
        </p:txBody>
      </p:sp>
      <p:sp>
        <p:nvSpPr>
          <p:cNvPr id="25" name="Text 23"/>
          <p:cNvSpPr/>
          <p:nvPr/>
        </p:nvSpPr>
        <p:spPr>
          <a:xfrm>
            <a:off x="6583680" y="3794760"/>
            <a:ext cx="4754880" cy="914400"/>
          </a:xfrm>
          <a:prstGeom prst="rect">
            <a:avLst/>
          </a:prstGeom>
          <a:noFill/>
          <a:ln/>
        </p:spPr>
        <p:txBody>
          <a:bodyPr wrap="square" lIns="0" tIns="0" rIns="0" bIns="0" rtlCol="0" anchor="t"/>
          <a:lstStyle/>
          <a:p>
            <a:pPr marL="0" indent="0">
              <a:lnSpc>
                <a:spcPct val="115000"/>
              </a:lnSpc>
              <a:buNone/>
            </a:pPr>
            <a:r>
              <a:rPr lang="en-US" sz="1300" dirty="0">
                <a:solidFill>
                  <a:srgbClr val="D6CFC6"/>
                </a:solidFill>
                <a:latin typeface="Calibri" pitchFamily="34" charset="0"/>
                <a:ea typeface="Calibri" pitchFamily="34" charset="-122"/>
                <a:cs typeface="Calibri" pitchFamily="34" charset="-120"/>
              </a:rPr>
              <a:t>v004 came from reloading v001's weights with a fresh one-cycle schedule at lr 2.5e-4 — no new audio. It bought 8% relative, and there is not another 8% there.</a:t>
            </a:r>
            <a:endParaRPr lang="en-US" sz="1300" dirty="0"/>
          </a:p>
        </p:txBody>
      </p:sp>
      <p:sp>
        <p:nvSpPr>
          <p:cNvPr id="26" name="Text 24"/>
          <p:cNvSpPr/>
          <p:nvPr/>
        </p:nvSpPr>
        <p:spPr>
          <a:xfrm>
            <a:off x="6583680" y="4681728"/>
            <a:ext cx="4754880" cy="822960"/>
          </a:xfrm>
          <a:prstGeom prst="rect">
            <a:avLst/>
          </a:prstGeom>
          <a:noFill/>
          <a:ln/>
        </p:spPr>
        <p:txBody>
          <a:bodyPr wrap="square" lIns="0" tIns="0" rIns="0" bIns="0" rtlCol="0" anchor="t"/>
          <a:lstStyle/>
          <a:p>
            <a:pPr marL="0" indent="0">
              <a:lnSpc>
                <a:spcPct val="112000"/>
              </a:lnSpc>
              <a:buNone/>
            </a:pPr>
            <a:r>
              <a:rPr lang="en-US" sz="1550" dirty="0">
                <a:solidFill>
                  <a:srgbClr val="FFFFFF"/>
                </a:solidFill>
                <a:latin typeface="Cambria" pitchFamily="34" charset="0"/>
                <a:ea typeface="Cambria" pitchFamily="34" charset="-122"/>
                <a:cs typeface="Cambria" pitchFamily="34" charset="-120"/>
              </a:rPr>
              <a:t>Validation loss still tracks training loss, so the model remains data-limited. The next real gain is a language model or in-domain audio.</a:t>
            </a:r>
            <a:endParaRPr lang="en-US" sz="1550" dirty="0"/>
          </a:p>
        </p:txBody>
      </p:sp>
      <p:sp>
        <p:nvSpPr>
          <p:cNvPr id="28" name="Text 25"/>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§1, §5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Read the output honestly</a:t>
            </a:r>
            <a:endParaRPr lang="en-US" sz="3300" dirty="0"/>
          </a:p>
        </p:txBody>
      </p:sp>
      <p:sp>
        <p:nvSpPr>
          <p:cNvPr id="4" name="Text 2"/>
          <p:cNvSpPr/>
          <p:nvPr/>
        </p:nvSpPr>
        <p:spPr>
          <a:xfrm>
            <a:off x="566928" y="1435608"/>
            <a:ext cx="10881360" cy="329184"/>
          </a:xfrm>
          <a:prstGeom prst="rect">
            <a:avLst/>
          </a:prstGeom>
          <a:noFill/>
          <a:ln/>
        </p:spPr>
        <p:txBody>
          <a:bodyPr wrap="square" lIns="0" tIns="0" rIns="0" bIns="0" rtlCol="0" anchor="ctr"/>
          <a:lstStyle/>
          <a:p>
            <a:pPr marL="0" indent="0">
              <a:buNone/>
            </a:pPr>
            <a:r>
              <a:rPr lang="en-US" sz="1450" dirty="0">
                <a:solidFill>
                  <a:srgbClr val="6B6560"/>
                </a:solidFill>
                <a:latin typeface="Calibri" pitchFamily="34" charset="0"/>
                <a:ea typeface="Calibri" pitchFamily="34" charset="-122"/>
                <a:cs typeface="Calibri" pitchFamily="34" charset="-120"/>
              </a:rPr>
              <a:t>A word error rate of 0.47 sounds abstract. On one sentence, against the reference and against the previous version, it is not.</a:t>
            </a:r>
            <a:endParaRPr lang="en-US" sz="1450" dirty="0"/>
          </a:p>
        </p:txBody>
      </p:sp>
      <p:sp>
        <p:nvSpPr>
          <p:cNvPr id="5" name="Shape 3"/>
          <p:cNvSpPr/>
          <p:nvPr/>
        </p:nvSpPr>
        <p:spPr>
          <a:xfrm>
            <a:off x="566928" y="1892808"/>
            <a:ext cx="11055096" cy="786384"/>
          </a:xfrm>
          <a:prstGeom prst="roundRect">
            <a:avLst>
              <a:gd name="adj" fmla="val 9302"/>
            </a:avLst>
          </a:prstGeom>
          <a:solidFill>
            <a:srgbClr val="E9E5E1"/>
          </a:solidFill>
          <a:ln/>
          <a:effectLst>
            <a:outerShdw blurRad="101600" dist="25400" dir="5400000" algn="bl" rotWithShape="0">
              <a:srgbClr val="9A9088">
                <a:alpha val="28000"/>
              </a:srgbClr>
            </a:outerShdw>
          </a:effectLst>
        </p:spPr>
      </p:sp>
      <p:sp>
        <p:nvSpPr>
          <p:cNvPr id="6" name="Text 4"/>
          <p:cNvSpPr/>
          <p:nvPr/>
        </p:nvSpPr>
        <p:spPr>
          <a:xfrm>
            <a:off x="822960" y="2002536"/>
            <a:ext cx="3200400" cy="566928"/>
          </a:xfrm>
          <a:prstGeom prst="rect">
            <a:avLst/>
          </a:prstGeom>
          <a:noFill/>
          <a:ln/>
        </p:spPr>
        <p:txBody>
          <a:bodyPr wrap="square" lIns="0" tIns="0" rIns="0" bIns="0" rtlCol="0" anchor="ctr"/>
          <a:lstStyle/>
          <a:p>
            <a:pPr marL="0" indent="0">
              <a:buNone/>
            </a:pPr>
            <a:r>
              <a:rPr lang="en-US" sz="1000" b="1" kern="0" spc="110" dirty="0">
                <a:solidFill>
                  <a:srgbClr val="6B6560"/>
                </a:solidFill>
                <a:latin typeface="Calibri" pitchFamily="34" charset="0"/>
                <a:ea typeface="Calibri" pitchFamily="34" charset="-122"/>
                <a:cs typeface="Calibri" pitchFamily="34" charset="-120"/>
              </a:rPr>
              <a:t>REFERENCE — WHAT WAS ACTUALLY SAID</a:t>
            </a:r>
            <a:endParaRPr lang="en-US" sz="1000" dirty="0"/>
          </a:p>
        </p:txBody>
      </p:sp>
      <p:sp>
        <p:nvSpPr>
          <p:cNvPr id="7" name="Text 5"/>
          <p:cNvSpPr/>
          <p:nvPr/>
        </p:nvSpPr>
        <p:spPr>
          <a:xfrm>
            <a:off x="4178808" y="1984248"/>
            <a:ext cx="7223760" cy="603504"/>
          </a:xfrm>
          <a:prstGeom prst="rect">
            <a:avLst/>
          </a:prstGeom>
          <a:noFill/>
          <a:ln/>
        </p:spPr>
        <p:txBody>
          <a:bodyPr wrap="square" lIns="0" tIns="0" rIns="0" bIns="0" rtlCol="0" anchor="ctr"/>
          <a:lstStyle/>
          <a:p>
            <a:pPr marL="0" indent="0">
              <a:buNone/>
            </a:pPr>
            <a:r>
              <a:rPr lang="en-US" sz="1800" dirty="0">
                <a:solidFill>
                  <a:srgbClr val="1C1A17"/>
                </a:solidFill>
                <a:latin typeface="Cambria" pitchFamily="34" charset="0"/>
                <a:ea typeface="Cambria" pitchFamily="34" charset="-122"/>
                <a:cs typeface="Cambria" pitchFamily="34" charset="-120"/>
              </a:rPr>
              <a:t>Wɔbɛtumi akɔ dan a ɛtoa wɔn so no ne ne yɔnko…</a:t>
            </a:r>
            <a:endParaRPr lang="en-US" sz="1800" dirty="0"/>
          </a:p>
        </p:txBody>
      </p:sp>
      <p:sp>
        <p:nvSpPr>
          <p:cNvPr id="8" name="Shape 6"/>
          <p:cNvSpPr/>
          <p:nvPr/>
        </p:nvSpPr>
        <p:spPr>
          <a:xfrm>
            <a:off x="566928" y="2788920"/>
            <a:ext cx="11055096" cy="786384"/>
          </a:xfrm>
          <a:prstGeom prst="roundRect">
            <a:avLst>
              <a:gd name="adj" fmla="val 9302"/>
            </a:avLst>
          </a:prstGeom>
          <a:solidFill>
            <a:srgbClr val="F3F1EF"/>
          </a:solidFill>
          <a:ln/>
          <a:effectLst>
            <a:outerShdw blurRad="101600" dist="25400" dir="5400000" algn="bl" rotWithShape="0">
              <a:srgbClr val="9A9088">
                <a:alpha val="28000"/>
              </a:srgbClr>
            </a:outerShdw>
          </a:effectLst>
        </p:spPr>
      </p:sp>
      <p:sp>
        <p:nvSpPr>
          <p:cNvPr id="9" name="Text 7"/>
          <p:cNvSpPr/>
          <p:nvPr/>
        </p:nvSpPr>
        <p:spPr>
          <a:xfrm>
            <a:off x="822960" y="2898648"/>
            <a:ext cx="3200400" cy="566928"/>
          </a:xfrm>
          <a:prstGeom prst="rect">
            <a:avLst/>
          </a:prstGeom>
          <a:noFill/>
          <a:ln/>
        </p:spPr>
        <p:txBody>
          <a:bodyPr wrap="square" lIns="0" tIns="0" rIns="0" bIns="0" rtlCol="0" anchor="ctr"/>
          <a:lstStyle/>
          <a:p>
            <a:pPr marL="0" indent="0">
              <a:buNone/>
            </a:pPr>
            <a:r>
              <a:rPr lang="en-US" sz="1000" b="1" kern="0" spc="110" dirty="0">
                <a:solidFill>
                  <a:srgbClr val="6B6560"/>
                </a:solidFill>
                <a:latin typeface="Calibri" pitchFamily="34" charset="0"/>
                <a:ea typeface="Calibri" pitchFamily="34" charset="-122"/>
                <a:cs typeface="Calibri" pitchFamily="34" charset="-120"/>
              </a:rPr>
              <a:t>v001  ·  WER 0.5100</a:t>
            </a:r>
            <a:endParaRPr lang="en-US" sz="1000" dirty="0"/>
          </a:p>
        </p:txBody>
      </p:sp>
      <p:sp>
        <p:nvSpPr>
          <p:cNvPr id="10" name="Text 8"/>
          <p:cNvSpPr/>
          <p:nvPr/>
        </p:nvSpPr>
        <p:spPr>
          <a:xfrm>
            <a:off x="4178808" y="2880360"/>
            <a:ext cx="7223760" cy="603504"/>
          </a:xfrm>
          <a:prstGeom prst="rect">
            <a:avLst/>
          </a:prstGeom>
          <a:noFill/>
          <a:ln/>
        </p:spPr>
        <p:txBody>
          <a:bodyPr wrap="square" lIns="0" tIns="0" rIns="0" bIns="0" rtlCol="0" anchor="ctr"/>
          <a:lstStyle/>
          <a:p>
            <a:pPr marL="0" indent="0">
              <a:buNone/>
            </a:pPr>
            <a:r>
              <a:rPr lang="en-US" sz="1800" dirty="0">
                <a:solidFill>
                  <a:srgbClr val="1C1A17"/>
                </a:solidFill>
                <a:latin typeface="Cambria" pitchFamily="34" charset="0"/>
                <a:ea typeface="Cambria" pitchFamily="34" charset="-122"/>
                <a:cs typeface="Cambria" pitchFamily="34" charset="-120"/>
              </a:rPr>
              <a:t>ɔbɛtumi akɔdan a ɛtɔa wɔn nsono…</a:t>
            </a:r>
            <a:endParaRPr lang="en-US" sz="1800" dirty="0"/>
          </a:p>
        </p:txBody>
      </p:sp>
      <p:sp>
        <p:nvSpPr>
          <p:cNvPr id="11" name="Shape 9"/>
          <p:cNvSpPr/>
          <p:nvPr/>
        </p:nvSpPr>
        <p:spPr>
          <a:xfrm>
            <a:off x="566928" y="3685032"/>
            <a:ext cx="11055096" cy="786384"/>
          </a:xfrm>
          <a:prstGeom prst="roundRect">
            <a:avLst>
              <a:gd name="adj" fmla="val 9302"/>
            </a:avLst>
          </a:prstGeom>
          <a:solidFill>
            <a:srgbClr val="F3F1EF"/>
          </a:solidFill>
          <a:ln/>
          <a:effectLst>
            <a:outerShdw blurRad="101600" dist="25400" dir="5400000" algn="bl" rotWithShape="0">
              <a:srgbClr val="9A9088">
                <a:alpha val="28000"/>
              </a:srgbClr>
            </a:outerShdw>
          </a:effectLst>
        </p:spPr>
      </p:sp>
      <p:sp>
        <p:nvSpPr>
          <p:cNvPr id="12" name="Text 10"/>
          <p:cNvSpPr/>
          <p:nvPr/>
        </p:nvSpPr>
        <p:spPr>
          <a:xfrm>
            <a:off x="822960" y="3794760"/>
            <a:ext cx="3200400" cy="566928"/>
          </a:xfrm>
          <a:prstGeom prst="rect">
            <a:avLst/>
          </a:prstGeom>
          <a:noFill/>
          <a:ln/>
        </p:spPr>
        <p:txBody>
          <a:bodyPr wrap="square" lIns="0" tIns="0" rIns="0" bIns="0" rtlCol="0" anchor="ctr"/>
          <a:lstStyle/>
          <a:p>
            <a:pPr marL="0" indent="0">
              <a:buNone/>
            </a:pPr>
            <a:r>
              <a:rPr lang="en-US" sz="1000" b="1" kern="0" spc="110" dirty="0">
                <a:solidFill>
                  <a:srgbClr val="B04A2F"/>
                </a:solidFill>
                <a:latin typeface="Calibri" pitchFamily="34" charset="0"/>
                <a:ea typeface="Calibri" pitchFamily="34" charset="-122"/>
                <a:cs typeface="Calibri" pitchFamily="34" charset="-120"/>
              </a:rPr>
              <a:t>v004  ·  WER 0.4701  —  SERVING NOW</a:t>
            </a:r>
            <a:endParaRPr lang="en-US" sz="1000" dirty="0"/>
          </a:p>
        </p:txBody>
      </p:sp>
      <p:sp>
        <p:nvSpPr>
          <p:cNvPr id="13" name="Text 11"/>
          <p:cNvSpPr/>
          <p:nvPr/>
        </p:nvSpPr>
        <p:spPr>
          <a:xfrm>
            <a:off x="4178808" y="3776472"/>
            <a:ext cx="7223760" cy="603504"/>
          </a:xfrm>
          <a:prstGeom prst="rect">
            <a:avLst/>
          </a:prstGeom>
          <a:noFill/>
          <a:ln/>
        </p:spPr>
        <p:txBody>
          <a:bodyPr wrap="square" lIns="0" tIns="0" rIns="0" bIns="0" rtlCol="0" anchor="ctr"/>
          <a:lstStyle/>
          <a:p>
            <a:pPr marL="0" indent="0">
              <a:buNone/>
            </a:pPr>
            <a:r>
              <a:rPr lang="en-US" sz="1800" dirty="0">
                <a:solidFill>
                  <a:srgbClr val="1C1A17"/>
                </a:solidFill>
                <a:latin typeface="Cambria" pitchFamily="34" charset="0"/>
                <a:ea typeface="Cambria" pitchFamily="34" charset="-122"/>
                <a:cs typeface="Cambria" pitchFamily="34" charset="-120"/>
              </a:rPr>
              <a:t>wɔbɛtumi akɔdan a ɛtoa wɔn so no ne onyankoa…</a:t>
            </a:r>
            <a:endParaRPr lang="en-US" sz="1800" dirty="0"/>
          </a:p>
        </p:txBody>
      </p:sp>
      <p:sp>
        <p:nvSpPr>
          <p:cNvPr id="14" name="Shape 12"/>
          <p:cNvSpPr/>
          <p:nvPr/>
        </p:nvSpPr>
        <p:spPr>
          <a:xfrm>
            <a:off x="566928" y="4681728"/>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15" name="Shape 13"/>
          <p:cNvSpPr/>
          <p:nvPr/>
        </p:nvSpPr>
        <p:spPr>
          <a:xfrm>
            <a:off x="804672" y="4864608"/>
            <a:ext cx="292608" cy="292608"/>
          </a:xfrm>
          <a:prstGeom prst="ellipse">
            <a:avLst/>
          </a:prstGeom>
          <a:solidFill>
            <a:srgbClr val="B04A2F"/>
          </a:solidFill>
          <a:ln/>
        </p:spPr>
      </p:sp>
      <p:sp>
        <p:nvSpPr>
          <p:cNvPr id="16" name="Text 14"/>
          <p:cNvSpPr/>
          <p:nvPr/>
        </p:nvSpPr>
        <p:spPr>
          <a:xfrm>
            <a:off x="1188720" y="4837176"/>
            <a:ext cx="2670048" cy="347472"/>
          </a:xfrm>
          <a:prstGeom prst="rect">
            <a:avLst/>
          </a:prstGeom>
          <a:noFill/>
          <a:ln/>
        </p:spPr>
        <p:txBody>
          <a:bodyPr wrap="square" lIns="0" tIns="0" rIns="0" bIns="0" rtlCol="0" anchor="ctr"/>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v004 recovers whole words</a:t>
            </a:r>
            <a:endParaRPr lang="en-US" sz="1500" dirty="0"/>
          </a:p>
        </p:txBody>
      </p:sp>
      <p:sp>
        <p:nvSpPr>
          <p:cNvPr id="17" name="Text 15"/>
          <p:cNvSpPr/>
          <p:nvPr/>
        </p:nvSpPr>
        <p:spPr>
          <a:xfrm>
            <a:off x="804672" y="5239512"/>
            <a:ext cx="3054096" cy="7772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v001 dropped the leading w and invented nsono. v004 writes wɔbɛtumi and keeps ɛtoa and wɔn so no intact.</a:t>
            </a:r>
            <a:endParaRPr lang="en-US" sz="1150" dirty="0"/>
          </a:p>
        </p:txBody>
      </p:sp>
      <p:sp>
        <p:nvSpPr>
          <p:cNvPr id="18" name="Shape 16"/>
          <p:cNvSpPr/>
          <p:nvPr/>
        </p:nvSpPr>
        <p:spPr>
          <a:xfrm>
            <a:off x="4325112" y="4681728"/>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19" name="Shape 17"/>
          <p:cNvSpPr/>
          <p:nvPr/>
        </p:nvSpPr>
        <p:spPr>
          <a:xfrm>
            <a:off x="4562856" y="4864608"/>
            <a:ext cx="292608" cy="292608"/>
          </a:xfrm>
          <a:prstGeom prst="ellipse">
            <a:avLst/>
          </a:prstGeom>
          <a:solidFill>
            <a:srgbClr val="D9A441"/>
          </a:solidFill>
          <a:ln/>
        </p:spPr>
      </p:sp>
      <p:sp>
        <p:nvSpPr>
          <p:cNvPr id="20" name="Text 18"/>
          <p:cNvSpPr/>
          <p:nvPr/>
        </p:nvSpPr>
        <p:spPr>
          <a:xfrm>
            <a:off x="4946904" y="4837176"/>
            <a:ext cx="2670048" cy="347472"/>
          </a:xfrm>
          <a:prstGeom prst="rect">
            <a:avLst/>
          </a:prstGeom>
          <a:noFill/>
          <a:ln/>
        </p:spPr>
        <p:txBody>
          <a:bodyPr wrap="square" lIns="0" tIns="0" rIns="0" bIns="0" rtlCol="0" anchor="ctr"/>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What is left is boundaries and endings</a:t>
            </a:r>
            <a:endParaRPr lang="en-US" sz="1500" dirty="0"/>
          </a:p>
        </p:txBody>
      </p:sp>
      <p:sp>
        <p:nvSpPr>
          <p:cNvPr id="21" name="Text 19"/>
          <p:cNvSpPr/>
          <p:nvPr/>
        </p:nvSpPr>
        <p:spPr>
          <a:xfrm>
            <a:off x="4562856" y="5239512"/>
            <a:ext cx="3054096" cy="7772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akɔ dan is still glued into akɔdan, and ne ne yɔnko comes out as onyankoa. Plausible-sounding, wrong.</a:t>
            </a:r>
            <a:endParaRPr lang="en-US" sz="1150" dirty="0"/>
          </a:p>
        </p:txBody>
      </p:sp>
      <p:sp>
        <p:nvSpPr>
          <p:cNvPr id="22" name="Shape 20"/>
          <p:cNvSpPr/>
          <p:nvPr/>
        </p:nvSpPr>
        <p:spPr>
          <a:xfrm>
            <a:off x="8083296" y="4681728"/>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23" name="Shape 21"/>
          <p:cNvSpPr/>
          <p:nvPr/>
        </p:nvSpPr>
        <p:spPr>
          <a:xfrm>
            <a:off x="8321040" y="4864608"/>
            <a:ext cx="292608" cy="292608"/>
          </a:xfrm>
          <a:prstGeom prst="ellipse">
            <a:avLst/>
          </a:prstGeom>
          <a:solidFill>
            <a:srgbClr val="5F7A62"/>
          </a:solidFill>
          <a:ln/>
        </p:spPr>
      </p:sp>
      <p:sp>
        <p:nvSpPr>
          <p:cNvPr id="24" name="Text 22"/>
          <p:cNvSpPr/>
          <p:nvPr/>
        </p:nvSpPr>
        <p:spPr>
          <a:xfrm>
            <a:off x="8705088" y="4837176"/>
            <a:ext cx="2670048" cy="347472"/>
          </a:xfrm>
          <a:prstGeom prst="rect">
            <a:avLst/>
          </a:prstGeom>
          <a:noFill/>
          <a:ln/>
        </p:spPr>
        <p:txBody>
          <a:bodyPr wrap="square" lIns="0" tIns="0" rIns="0" bIns="0" rtlCol="0" anchor="ctr"/>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Exactly what a language model fixes</a:t>
            </a:r>
            <a:endParaRPr lang="en-US" sz="1500" dirty="0"/>
          </a:p>
        </p:txBody>
      </p:sp>
      <p:sp>
        <p:nvSpPr>
          <p:cNvPr id="25" name="Text 23"/>
          <p:cNvSpPr/>
          <p:nvPr/>
        </p:nvSpPr>
        <p:spPr>
          <a:xfrm>
            <a:off x="8321040" y="5239512"/>
            <a:ext cx="3054096" cy="7772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A Twi n-gram over Bible and Wikipedia text would rescore most of these back. Still the highest-value next step.</a:t>
            </a:r>
            <a:endParaRPr lang="en-US" sz="1150" dirty="0"/>
          </a:p>
        </p:txBody>
      </p:sp>
      <p:sp>
        <p:nvSpPr>
          <p:cNvPr id="27" name="Text 24"/>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§1</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How the model learned</a:t>
            </a:r>
            <a:endParaRPr lang="en-US" sz="3300" dirty="0"/>
          </a:p>
        </p:txBody>
      </p:sp>
      <p:graphicFrame>
        <p:nvGraphicFramePr>
          <p:cNvPr id="4" name="Chart 0"/>
          <p:cNvGraphicFramePr/>
          <p:nvPr/>
        </p:nvGraphicFramePr>
        <p:xfrm>
          <a:off x="566928" y="1435608"/>
          <a:ext cx="68580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81328"/>
            <a:ext cx="3931920" cy="1261872"/>
          </a:xfrm>
          <a:prstGeom prst="roundRect">
            <a:avLst>
              <a:gd name="adj" fmla="val 5797"/>
            </a:avLst>
          </a:prstGeom>
          <a:solidFill>
            <a:srgbClr val="F3F1EF"/>
          </a:solidFill>
          <a:ln/>
          <a:effectLst>
            <a:outerShdw blurRad="101600" dist="25400" dir="5400000" algn="bl" rotWithShape="0">
              <a:srgbClr val="9A9088">
                <a:alpha val="28000"/>
              </a:srgbClr>
            </a:outerShdw>
          </a:effectLst>
        </p:spPr>
      </p:sp>
      <p:sp>
        <p:nvSpPr>
          <p:cNvPr id="6" name="Text 3"/>
          <p:cNvSpPr/>
          <p:nvPr/>
        </p:nvSpPr>
        <p:spPr>
          <a:xfrm>
            <a:off x="7918704" y="1627632"/>
            <a:ext cx="3474720" cy="457200"/>
          </a:xfrm>
          <a:prstGeom prst="rect">
            <a:avLst/>
          </a:prstGeom>
          <a:noFill/>
          <a:ln/>
        </p:spPr>
        <p:txBody>
          <a:bodyPr wrap="square" lIns="0" tIns="0" rIns="0" bIns="0" rtlCol="0" anchor="t"/>
          <a:lstStyle/>
          <a:p>
            <a:pPr marL="0" indent="0">
              <a:lnSpc>
                <a:spcPct val="100000"/>
              </a:lnSpc>
              <a:buNone/>
            </a:pPr>
            <a:r>
              <a:rPr lang="en-US" sz="1450" b="1" dirty="0">
                <a:solidFill>
                  <a:srgbClr val="1C1A17"/>
                </a:solidFill>
                <a:latin typeface="Cambria" pitchFamily="34" charset="0"/>
                <a:ea typeface="Cambria" pitchFamily="34" charset="-122"/>
                <a:cs typeface="Cambria" pitchFamily="34" charset="-120"/>
              </a:rPr>
              <a:t>Epoch 1 looks like failure — it is not</a:t>
            </a:r>
            <a:endParaRPr lang="en-US" sz="1450" dirty="0"/>
          </a:p>
        </p:txBody>
      </p:sp>
      <p:sp>
        <p:nvSpPr>
          <p:cNvPr id="7" name="Text 4"/>
          <p:cNvSpPr/>
          <p:nvPr/>
        </p:nvSpPr>
        <p:spPr>
          <a:xfrm>
            <a:off x="7918704" y="2084832"/>
            <a:ext cx="3474720" cy="566928"/>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WER and CER both sit at 1.000. A CTC model first learns to emit only blanks, then starts emitting characters. This is expected behaviour, not a broken run.</a:t>
            </a:r>
            <a:endParaRPr lang="en-US" sz="1100" dirty="0"/>
          </a:p>
        </p:txBody>
      </p:sp>
      <p:sp>
        <p:nvSpPr>
          <p:cNvPr id="8" name="Shape 5"/>
          <p:cNvSpPr/>
          <p:nvPr/>
        </p:nvSpPr>
        <p:spPr>
          <a:xfrm>
            <a:off x="7680960" y="2852928"/>
            <a:ext cx="3931920" cy="1261872"/>
          </a:xfrm>
          <a:prstGeom prst="roundRect">
            <a:avLst>
              <a:gd name="adj" fmla="val 5797"/>
            </a:avLst>
          </a:prstGeom>
          <a:solidFill>
            <a:srgbClr val="F3F1EF"/>
          </a:solidFill>
          <a:ln/>
          <a:effectLst>
            <a:outerShdw blurRad="101600" dist="25400" dir="5400000" algn="bl" rotWithShape="0">
              <a:srgbClr val="9A9088">
                <a:alpha val="28000"/>
              </a:srgbClr>
            </a:outerShdw>
          </a:effectLst>
        </p:spPr>
      </p:sp>
      <p:sp>
        <p:nvSpPr>
          <p:cNvPr id="9" name="Text 6"/>
          <p:cNvSpPr/>
          <p:nvPr/>
        </p:nvSpPr>
        <p:spPr>
          <a:xfrm>
            <a:off x="7918704" y="2999232"/>
            <a:ext cx="3474720" cy="457200"/>
          </a:xfrm>
          <a:prstGeom prst="rect">
            <a:avLst/>
          </a:prstGeom>
          <a:noFill/>
          <a:ln/>
        </p:spPr>
        <p:txBody>
          <a:bodyPr wrap="square" lIns="0" tIns="0" rIns="0" bIns="0" rtlCol="0" anchor="t"/>
          <a:lstStyle/>
          <a:p>
            <a:pPr marL="0" indent="0">
              <a:lnSpc>
                <a:spcPct val="100000"/>
              </a:lnSpc>
              <a:buNone/>
            </a:pPr>
            <a:r>
              <a:rPr lang="en-US" sz="1450" b="1" dirty="0">
                <a:solidFill>
                  <a:srgbClr val="1C1A17"/>
                </a:solidFill>
                <a:latin typeface="Cambria" pitchFamily="34" charset="0"/>
                <a:ea typeface="Cambria" pitchFamily="34" charset="-122"/>
                <a:cs typeface="Cambria" pitchFamily="34" charset="-120"/>
              </a:rPr>
              <a:t>Most of the gain arrives early</a:t>
            </a:r>
            <a:endParaRPr lang="en-US" sz="1450" dirty="0"/>
          </a:p>
        </p:txBody>
      </p:sp>
      <p:sp>
        <p:nvSpPr>
          <p:cNvPr id="10" name="Text 7"/>
          <p:cNvSpPr/>
          <p:nvPr/>
        </p:nvSpPr>
        <p:spPr>
          <a:xfrm>
            <a:off x="7918704" y="3456432"/>
            <a:ext cx="3474720" cy="566928"/>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By epoch 9 the character error rate has already fallen from 1.000 to 0.395. The last 70 epochs buy the refinement.</a:t>
            </a:r>
            <a:endParaRPr lang="en-US" sz="1100" dirty="0"/>
          </a:p>
        </p:txBody>
      </p:sp>
      <p:sp>
        <p:nvSpPr>
          <p:cNvPr id="11" name="Shape 8"/>
          <p:cNvSpPr/>
          <p:nvPr/>
        </p:nvSpPr>
        <p:spPr>
          <a:xfrm>
            <a:off x="7680960" y="4224528"/>
            <a:ext cx="3931920" cy="1261872"/>
          </a:xfrm>
          <a:prstGeom prst="roundRect">
            <a:avLst>
              <a:gd name="adj" fmla="val 5797"/>
            </a:avLst>
          </a:prstGeom>
          <a:solidFill>
            <a:srgbClr val="F3F1EF"/>
          </a:solidFill>
          <a:ln/>
          <a:effectLst>
            <a:outerShdw blurRad="101600" dist="25400" dir="5400000" algn="bl" rotWithShape="0">
              <a:srgbClr val="9A9088">
                <a:alpha val="28000"/>
              </a:srgbClr>
            </a:outerShdw>
          </a:effectLst>
        </p:spPr>
      </p:sp>
      <p:sp>
        <p:nvSpPr>
          <p:cNvPr id="12" name="Text 9"/>
          <p:cNvSpPr/>
          <p:nvPr/>
        </p:nvSpPr>
        <p:spPr>
          <a:xfrm>
            <a:off x="7918704" y="4370832"/>
            <a:ext cx="3474720" cy="457200"/>
          </a:xfrm>
          <a:prstGeom prst="rect">
            <a:avLst/>
          </a:prstGeom>
          <a:noFill/>
          <a:ln/>
        </p:spPr>
        <p:txBody>
          <a:bodyPr wrap="square" lIns="0" tIns="0" rIns="0" bIns="0" rtlCol="0" anchor="t"/>
          <a:lstStyle/>
          <a:p>
            <a:pPr marL="0" indent="0">
              <a:lnSpc>
                <a:spcPct val="100000"/>
              </a:lnSpc>
              <a:buNone/>
            </a:pPr>
            <a:r>
              <a:rPr lang="en-US" sz="1450" b="1" dirty="0">
                <a:solidFill>
                  <a:srgbClr val="1C1A17"/>
                </a:solidFill>
                <a:latin typeface="Cambria" pitchFamily="34" charset="0"/>
                <a:ea typeface="Cambria" pitchFamily="34" charset="-122"/>
                <a:cs typeface="Cambria" pitchFamily="34" charset="-120"/>
              </a:rPr>
              <a:t>A warm restart got further</a:t>
            </a:r>
            <a:endParaRPr lang="en-US" sz="1450" dirty="0"/>
          </a:p>
        </p:txBody>
      </p:sp>
      <p:sp>
        <p:nvSpPr>
          <p:cNvPr id="13" name="Text 10"/>
          <p:cNvSpPr/>
          <p:nvPr/>
        </p:nvSpPr>
        <p:spPr>
          <a:xfrm>
            <a:off x="7918704" y="4828032"/>
            <a:ext cx="3474720" cy="566928"/>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Reloading these weights with a fresh one-cycle schedule at lr 2.5e-4, over the same 12.3 hours, took WER from 0.510 to 0.4701 in 37 minutes. That became v004.</a:t>
            </a:r>
            <a:endParaRPr lang="en-US" sz="1100" dirty="0"/>
          </a:p>
        </p:txBody>
      </p:sp>
      <p:sp>
        <p:nvSpPr>
          <p:cNvPr id="15" name="Text 11"/>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DEMO</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Live demo — transcribe and diarize</a:t>
            </a:r>
            <a:endParaRPr lang="en-US" sz="3300" dirty="0"/>
          </a:p>
        </p:txBody>
      </p:sp>
      <p:sp>
        <p:nvSpPr>
          <p:cNvPr id="4" name="Shape 2"/>
          <p:cNvSpPr/>
          <p:nvPr/>
        </p:nvSpPr>
        <p:spPr>
          <a:xfrm>
            <a:off x="566928" y="1417320"/>
            <a:ext cx="1965960" cy="384048"/>
          </a:xfrm>
          <a:prstGeom prst="roundRect">
            <a:avLst>
              <a:gd name="adj" fmla="val 47619"/>
            </a:avLst>
          </a:prstGeom>
          <a:solidFill>
            <a:srgbClr val="B04A2F"/>
          </a:solidFill>
          <a:ln/>
        </p:spPr>
      </p:sp>
      <p:sp>
        <p:nvSpPr>
          <p:cNvPr id="5" name="Text 3"/>
          <p:cNvSpPr/>
          <p:nvPr/>
        </p:nvSpPr>
        <p:spPr>
          <a:xfrm>
            <a:off x="566928" y="1417320"/>
            <a:ext cx="1965960" cy="384048"/>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SWITCH TO THE APP</a:t>
            </a:r>
            <a:endParaRPr lang="en-US" sz="1050" dirty="0"/>
          </a:p>
        </p:txBody>
      </p:sp>
      <p:sp>
        <p:nvSpPr>
          <p:cNvPr id="6" name="Shape 4"/>
          <p:cNvSpPr/>
          <p:nvPr/>
        </p:nvSpPr>
        <p:spPr>
          <a:xfrm>
            <a:off x="566928" y="2002536"/>
            <a:ext cx="5440680" cy="1417320"/>
          </a:xfrm>
          <a:prstGeom prst="roundRect">
            <a:avLst>
              <a:gd name="adj" fmla="val 3871"/>
            </a:avLst>
          </a:prstGeom>
          <a:solidFill>
            <a:srgbClr val="1C1A17"/>
          </a:solidFill>
          <a:ln/>
        </p:spPr>
      </p:sp>
      <p:sp>
        <p:nvSpPr>
          <p:cNvPr id="7" name="Text 5"/>
          <p:cNvSpPr/>
          <p:nvPr/>
        </p:nvSpPr>
        <p:spPr>
          <a:xfrm>
            <a:off x="768096" y="2130552"/>
            <a:ext cx="5038344"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CUE 1 — START THE GRADIO APP</a:t>
            </a:r>
            <a:endParaRPr lang="en-US" sz="1050" dirty="0"/>
          </a:p>
        </p:txBody>
      </p:sp>
      <p:sp>
        <p:nvSpPr>
          <p:cNvPr id="8" name="Text 6"/>
          <p:cNvSpPr/>
          <p:nvPr/>
        </p:nvSpPr>
        <p:spPr>
          <a:xfrm>
            <a:off x="768096" y="2404872"/>
            <a:ext cx="5038344" cy="88696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scripts/serve_app.sh</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-&gt; http://127.0.0.1:7860</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scripts/serve_app.sh --share   # public tunnel</a:t>
            </a:r>
            <a:endParaRPr lang="en-US" sz="1050" dirty="0"/>
          </a:p>
        </p:txBody>
      </p:sp>
      <p:sp>
        <p:nvSpPr>
          <p:cNvPr id="9" name="Shape 7"/>
          <p:cNvSpPr/>
          <p:nvPr/>
        </p:nvSpPr>
        <p:spPr>
          <a:xfrm>
            <a:off x="6236208" y="2002536"/>
            <a:ext cx="5385816" cy="1417320"/>
          </a:xfrm>
          <a:prstGeom prst="roundRect">
            <a:avLst>
              <a:gd name="adj" fmla="val 3871"/>
            </a:avLst>
          </a:prstGeom>
          <a:solidFill>
            <a:srgbClr val="1C1A17"/>
          </a:solidFill>
          <a:ln/>
        </p:spPr>
      </p:sp>
      <p:sp>
        <p:nvSpPr>
          <p:cNvPr id="10" name="Text 8"/>
          <p:cNvSpPr/>
          <p:nvPr/>
        </p:nvSpPr>
        <p:spPr>
          <a:xfrm>
            <a:off x="6437376" y="2130552"/>
            <a:ext cx="4983480"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CUE 2 — SPEAKER-ATTRIBUTED TRANSCRIPT</a:t>
            </a:r>
            <a:endParaRPr lang="en-US" sz="1050" dirty="0"/>
          </a:p>
        </p:txBody>
      </p:sp>
      <p:sp>
        <p:nvSpPr>
          <p:cNvPr id="11" name="Text 9"/>
          <p:cNvSpPr/>
          <p:nvPr/>
        </p:nvSpPr>
        <p:spPr>
          <a:xfrm>
            <a:off x="6437376" y="2404872"/>
            <a:ext cx="4983480" cy="88696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diarize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--audio recording.wav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--backend auto --num-speakers 2</a:t>
            </a:r>
            <a:endParaRPr lang="en-US" sz="1050" dirty="0"/>
          </a:p>
        </p:txBody>
      </p:sp>
      <p:sp>
        <p:nvSpPr>
          <p:cNvPr id="12" name="Shape 10"/>
          <p:cNvSpPr/>
          <p:nvPr/>
        </p:nvSpPr>
        <p:spPr>
          <a:xfrm>
            <a:off x="566928" y="3630168"/>
            <a:ext cx="2670048" cy="1828800"/>
          </a:xfrm>
          <a:prstGeom prst="roundRect">
            <a:avLst>
              <a:gd name="adj" fmla="val 4000"/>
            </a:avLst>
          </a:prstGeom>
          <a:solidFill>
            <a:srgbClr val="F3F1EF"/>
          </a:solidFill>
          <a:ln/>
          <a:effectLst>
            <a:outerShdw blurRad="101600" dist="25400" dir="5400000" algn="bl" rotWithShape="0">
              <a:srgbClr val="9A9088">
                <a:alpha val="28000"/>
              </a:srgbClr>
            </a:outerShdw>
          </a:effectLst>
        </p:spPr>
      </p:sp>
      <p:sp>
        <p:nvSpPr>
          <p:cNvPr id="13" name="Shape 11"/>
          <p:cNvSpPr/>
          <p:nvPr/>
        </p:nvSpPr>
        <p:spPr>
          <a:xfrm>
            <a:off x="786384" y="3831336"/>
            <a:ext cx="384048" cy="384048"/>
          </a:xfrm>
          <a:prstGeom prst="ellipse">
            <a:avLst/>
          </a:prstGeom>
          <a:solidFill>
            <a:srgbClr val="1C1A17"/>
          </a:solidFill>
          <a:ln/>
        </p:spPr>
      </p:sp>
      <p:sp>
        <p:nvSpPr>
          <p:cNvPr id="14" name="Text 12"/>
          <p:cNvSpPr/>
          <p:nvPr/>
        </p:nvSpPr>
        <p:spPr>
          <a:xfrm>
            <a:off x="786384" y="3831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786384" y="4306824"/>
            <a:ext cx="2231136" cy="310896"/>
          </a:xfrm>
          <a:prstGeom prst="rect">
            <a:avLst/>
          </a:prstGeom>
          <a:noFill/>
          <a:ln/>
        </p:spPr>
        <p:txBody>
          <a:bodyPr wrap="square" lIns="0" tIns="0" rIns="0" bIns="0" rtlCol="0" anchor="t"/>
          <a:lstStyle/>
          <a:p>
            <a:pPr marL="0" indent="0">
              <a:buNone/>
            </a:pPr>
            <a:r>
              <a:rPr lang="en-US" sz="1500" b="1" dirty="0">
                <a:solidFill>
                  <a:srgbClr val="1C1A17"/>
                </a:solidFill>
                <a:latin typeface="Cambria" pitchFamily="34" charset="0"/>
                <a:ea typeface="Cambria" pitchFamily="34" charset="-122"/>
                <a:cs typeface="Cambria" pitchFamily="34" charset="-120"/>
              </a:rPr>
              <a:t>Transcribe tab</a:t>
            </a:r>
            <a:endParaRPr lang="en-US" sz="1500" dirty="0"/>
          </a:p>
        </p:txBody>
      </p:sp>
      <p:sp>
        <p:nvSpPr>
          <p:cNvPr id="16" name="Text 14"/>
          <p:cNvSpPr/>
          <p:nvPr/>
        </p:nvSpPr>
        <p:spPr>
          <a:xfrm>
            <a:off x="786384" y="4636008"/>
            <a:ext cx="2231136" cy="731520"/>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Upload or record a short Twi clip. Point at the badge — it names the exact model version being served and its WER.</a:t>
            </a:r>
            <a:endParaRPr lang="en-US" sz="1100" dirty="0"/>
          </a:p>
        </p:txBody>
      </p:sp>
      <p:sp>
        <p:nvSpPr>
          <p:cNvPr id="17" name="Shape 15"/>
          <p:cNvSpPr/>
          <p:nvPr/>
        </p:nvSpPr>
        <p:spPr>
          <a:xfrm>
            <a:off x="3401568" y="3630168"/>
            <a:ext cx="2670048" cy="1828800"/>
          </a:xfrm>
          <a:prstGeom prst="roundRect">
            <a:avLst>
              <a:gd name="adj" fmla="val 4000"/>
            </a:avLst>
          </a:prstGeom>
          <a:solidFill>
            <a:srgbClr val="F3F1EF"/>
          </a:solidFill>
          <a:ln/>
          <a:effectLst>
            <a:outerShdw blurRad="101600" dist="25400" dir="5400000" algn="bl" rotWithShape="0">
              <a:srgbClr val="9A9088">
                <a:alpha val="28000"/>
              </a:srgbClr>
            </a:outerShdw>
          </a:effectLst>
        </p:spPr>
      </p:sp>
      <p:sp>
        <p:nvSpPr>
          <p:cNvPr id="18" name="Shape 16"/>
          <p:cNvSpPr/>
          <p:nvPr/>
        </p:nvSpPr>
        <p:spPr>
          <a:xfrm>
            <a:off x="3621024" y="3831336"/>
            <a:ext cx="384048" cy="384048"/>
          </a:xfrm>
          <a:prstGeom prst="ellipse">
            <a:avLst/>
          </a:prstGeom>
          <a:solidFill>
            <a:srgbClr val="1C1A17"/>
          </a:solidFill>
          <a:ln/>
        </p:spPr>
      </p:sp>
      <p:sp>
        <p:nvSpPr>
          <p:cNvPr id="19" name="Text 17"/>
          <p:cNvSpPr/>
          <p:nvPr/>
        </p:nvSpPr>
        <p:spPr>
          <a:xfrm>
            <a:off x="3621024" y="3831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3621024" y="4306824"/>
            <a:ext cx="2231136" cy="310896"/>
          </a:xfrm>
          <a:prstGeom prst="rect">
            <a:avLst/>
          </a:prstGeom>
          <a:noFill/>
          <a:ln/>
        </p:spPr>
        <p:txBody>
          <a:bodyPr wrap="square" lIns="0" tIns="0" rIns="0" bIns="0" rtlCol="0" anchor="t"/>
          <a:lstStyle/>
          <a:p>
            <a:pPr marL="0" indent="0">
              <a:buNone/>
            </a:pPr>
            <a:r>
              <a:rPr lang="en-US" sz="1500" b="1" dirty="0">
                <a:solidFill>
                  <a:srgbClr val="1C1A17"/>
                </a:solidFill>
                <a:latin typeface="Cambria" pitchFamily="34" charset="0"/>
                <a:ea typeface="Cambria" pitchFamily="34" charset="-122"/>
                <a:cs typeface="Cambria" pitchFamily="34" charset="-120"/>
              </a:rPr>
              <a:t>Speaker Diarization tab</a:t>
            </a:r>
            <a:endParaRPr lang="en-US" sz="1500" dirty="0"/>
          </a:p>
        </p:txBody>
      </p:sp>
      <p:sp>
        <p:nvSpPr>
          <p:cNvPr id="21" name="Text 19"/>
          <p:cNvSpPr/>
          <p:nvPr/>
        </p:nvSpPr>
        <p:spPr>
          <a:xfrm>
            <a:off x="3621024" y="4636008"/>
            <a:ext cx="2231136" cy="731520"/>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Run a multi-speaker clip. Show the colour-coded transcript and the turn-taking timeline.</a:t>
            </a:r>
            <a:endParaRPr lang="en-US" sz="1100" dirty="0"/>
          </a:p>
        </p:txBody>
      </p:sp>
      <p:sp>
        <p:nvSpPr>
          <p:cNvPr id="22" name="Shape 20"/>
          <p:cNvSpPr/>
          <p:nvPr/>
        </p:nvSpPr>
        <p:spPr>
          <a:xfrm>
            <a:off x="6236208" y="3630168"/>
            <a:ext cx="2670048" cy="1828800"/>
          </a:xfrm>
          <a:prstGeom prst="roundRect">
            <a:avLst>
              <a:gd name="adj" fmla="val 4000"/>
            </a:avLst>
          </a:prstGeom>
          <a:solidFill>
            <a:srgbClr val="F3F1EF"/>
          </a:solidFill>
          <a:ln/>
          <a:effectLst>
            <a:outerShdw blurRad="101600" dist="25400" dir="5400000" algn="bl" rotWithShape="0">
              <a:srgbClr val="9A9088">
                <a:alpha val="28000"/>
              </a:srgbClr>
            </a:outerShdw>
          </a:effectLst>
        </p:spPr>
      </p:sp>
      <p:sp>
        <p:nvSpPr>
          <p:cNvPr id="23" name="Shape 21"/>
          <p:cNvSpPr/>
          <p:nvPr/>
        </p:nvSpPr>
        <p:spPr>
          <a:xfrm>
            <a:off x="6455664" y="3831336"/>
            <a:ext cx="384048" cy="384048"/>
          </a:xfrm>
          <a:prstGeom prst="ellipse">
            <a:avLst/>
          </a:prstGeom>
          <a:solidFill>
            <a:srgbClr val="1C1A17"/>
          </a:solidFill>
          <a:ln/>
        </p:spPr>
      </p:sp>
      <p:sp>
        <p:nvSpPr>
          <p:cNvPr id="24" name="Text 22"/>
          <p:cNvSpPr/>
          <p:nvPr/>
        </p:nvSpPr>
        <p:spPr>
          <a:xfrm>
            <a:off x="6455664" y="3831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455664" y="4306824"/>
            <a:ext cx="2231136" cy="310896"/>
          </a:xfrm>
          <a:prstGeom prst="rect">
            <a:avLst/>
          </a:prstGeom>
          <a:noFill/>
          <a:ln/>
        </p:spPr>
        <p:txBody>
          <a:bodyPr wrap="square" lIns="0" tIns="0" rIns="0" bIns="0" rtlCol="0" anchor="t"/>
          <a:lstStyle/>
          <a:p>
            <a:pPr marL="0" indent="0">
              <a:buNone/>
            </a:pPr>
            <a:r>
              <a:rPr lang="en-US" sz="1500" b="1" dirty="0">
                <a:solidFill>
                  <a:srgbClr val="1C1A17"/>
                </a:solidFill>
                <a:latin typeface="Cambria" pitchFamily="34" charset="0"/>
                <a:ea typeface="Cambria" pitchFamily="34" charset="-122"/>
                <a:cs typeface="Cambria" pitchFamily="34" charset="-120"/>
              </a:rPr>
              <a:t>Speaker-count slider</a:t>
            </a:r>
            <a:endParaRPr lang="en-US" sz="1500" dirty="0"/>
          </a:p>
        </p:txBody>
      </p:sp>
      <p:sp>
        <p:nvSpPr>
          <p:cNvPr id="26" name="Text 24"/>
          <p:cNvSpPr/>
          <p:nvPr/>
        </p:nvSpPr>
        <p:spPr>
          <a:xfrm>
            <a:off x="6455664" y="4636008"/>
            <a:ext cx="2231136" cy="731520"/>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Set it to the known number of speakers and re-run. Say why: automatic speaker counting is the weak point.</a:t>
            </a:r>
            <a:endParaRPr lang="en-US" sz="1100" dirty="0"/>
          </a:p>
        </p:txBody>
      </p:sp>
      <p:sp>
        <p:nvSpPr>
          <p:cNvPr id="27" name="Shape 25"/>
          <p:cNvSpPr/>
          <p:nvPr/>
        </p:nvSpPr>
        <p:spPr>
          <a:xfrm>
            <a:off x="9070848" y="3630168"/>
            <a:ext cx="2670048" cy="1828800"/>
          </a:xfrm>
          <a:prstGeom prst="roundRect">
            <a:avLst>
              <a:gd name="adj" fmla="val 4000"/>
            </a:avLst>
          </a:prstGeom>
          <a:solidFill>
            <a:srgbClr val="F3F1EF"/>
          </a:solidFill>
          <a:ln/>
          <a:effectLst>
            <a:outerShdw blurRad="101600" dist="25400" dir="5400000" algn="bl" rotWithShape="0">
              <a:srgbClr val="9A9088">
                <a:alpha val="28000"/>
              </a:srgbClr>
            </a:outerShdw>
          </a:effectLst>
        </p:spPr>
      </p:sp>
      <p:sp>
        <p:nvSpPr>
          <p:cNvPr id="28" name="Shape 26"/>
          <p:cNvSpPr/>
          <p:nvPr/>
        </p:nvSpPr>
        <p:spPr>
          <a:xfrm>
            <a:off x="9290304" y="3831336"/>
            <a:ext cx="384048" cy="384048"/>
          </a:xfrm>
          <a:prstGeom prst="ellipse">
            <a:avLst/>
          </a:prstGeom>
          <a:solidFill>
            <a:srgbClr val="1C1A17"/>
          </a:solidFill>
          <a:ln/>
        </p:spPr>
      </p:sp>
      <p:sp>
        <p:nvSpPr>
          <p:cNvPr id="29" name="Text 27"/>
          <p:cNvSpPr/>
          <p:nvPr/>
        </p:nvSpPr>
        <p:spPr>
          <a:xfrm>
            <a:off x="9290304" y="3831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9290304" y="4306824"/>
            <a:ext cx="2231136" cy="310896"/>
          </a:xfrm>
          <a:prstGeom prst="rect">
            <a:avLst/>
          </a:prstGeom>
          <a:noFill/>
          <a:ln/>
        </p:spPr>
        <p:txBody>
          <a:bodyPr wrap="square" lIns="0" tIns="0" rIns="0" bIns="0" rtlCol="0" anchor="t"/>
          <a:lstStyle/>
          <a:p>
            <a:pPr marL="0" indent="0">
              <a:buNone/>
            </a:pPr>
            <a:r>
              <a:rPr lang="en-US" sz="1500" b="1" dirty="0">
                <a:solidFill>
                  <a:srgbClr val="1C1A17"/>
                </a:solidFill>
                <a:latin typeface="Cambria" pitchFamily="34" charset="0"/>
                <a:ea typeface="Cambria" pitchFamily="34" charset="-122"/>
                <a:cs typeface="Cambria" pitchFamily="34" charset="-120"/>
              </a:rPr>
              <a:t>Fall back gracefully</a:t>
            </a:r>
            <a:endParaRPr lang="en-US" sz="1500" dirty="0"/>
          </a:p>
        </p:txBody>
      </p:sp>
      <p:sp>
        <p:nvSpPr>
          <p:cNvPr id="31" name="Text 29"/>
          <p:cNvSpPr/>
          <p:nvPr/>
        </p:nvSpPr>
        <p:spPr>
          <a:xfrm>
            <a:off x="9290304" y="4636008"/>
            <a:ext cx="2231136" cy="731520"/>
          </a:xfrm>
          <a:prstGeom prst="rect">
            <a:avLst/>
          </a:prstGeom>
          <a:noFill/>
          <a:ln/>
        </p:spPr>
        <p:txBody>
          <a:bodyPr wrap="square" lIns="0" tIns="0" rIns="0" bIns="0" rtlCol="0" anchor="t"/>
          <a:lstStyle/>
          <a:p>
            <a:pPr marL="0" indent="0">
              <a:lnSpc>
                <a:spcPct val="108000"/>
              </a:lnSpc>
              <a:buNone/>
            </a:pPr>
            <a:r>
              <a:rPr lang="en-US" sz="1100" dirty="0">
                <a:solidFill>
                  <a:srgbClr val="6B6560"/>
                </a:solidFill>
                <a:latin typeface="Calibri" pitchFamily="34" charset="0"/>
                <a:ea typeface="Calibri" pitchFamily="34" charset="-122"/>
                <a:cs typeface="Calibri" pitchFamily="34" charset="-120"/>
              </a:rPr>
              <a:t>If pyannote is not licensed on this machine, the backend drops to ecapa automatically. The demo degrades, it does not die.</a:t>
            </a:r>
            <a:endParaRPr lang="en-US" sz="1100" dirty="0"/>
          </a:p>
        </p:txBody>
      </p:sp>
      <p:sp>
        <p:nvSpPr>
          <p:cNvPr id="33" name="Text 30"/>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02</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Under the hood</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The acoustic front-end, the model line-up, the diarization pipeline, and the engineering that keeps every run comparable.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TECHNICAL</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End-to-end architecture</a:t>
            </a:r>
            <a:endParaRPr lang="en-US" sz="3300" dirty="0"/>
          </a:p>
        </p:txBody>
      </p:sp>
      <p:sp>
        <p:nvSpPr>
          <p:cNvPr id="4" name="Shape 2"/>
          <p:cNvSpPr/>
          <p:nvPr/>
        </p:nvSpPr>
        <p:spPr>
          <a:xfrm>
            <a:off x="566928" y="1435608"/>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5" name="Shape 3"/>
          <p:cNvSpPr/>
          <p:nvPr/>
        </p:nvSpPr>
        <p:spPr>
          <a:xfrm>
            <a:off x="804672" y="1655064"/>
            <a:ext cx="310896" cy="310896"/>
          </a:xfrm>
          <a:prstGeom prst="ellipse">
            <a:avLst/>
          </a:prstGeom>
          <a:solidFill>
            <a:srgbClr val="B04A2F"/>
          </a:solidFill>
          <a:ln/>
        </p:spPr>
      </p:sp>
      <p:sp>
        <p:nvSpPr>
          <p:cNvPr id="6" name="Text 4"/>
          <p:cNvSpPr/>
          <p:nvPr/>
        </p:nvSpPr>
        <p:spPr>
          <a:xfrm>
            <a:off x="1225296" y="1636776"/>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Audio I/O</a:t>
            </a:r>
            <a:endParaRPr lang="en-US" sz="1700" dirty="0"/>
          </a:p>
        </p:txBody>
      </p:sp>
      <p:sp>
        <p:nvSpPr>
          <p:cNvPr id="7" name="Text 5"/>
          <p:cNvSpPr/>
          <p:nvPr/>
        </p:nvSpPr>
        <p:spPr>
          <a:xfrm>
            <a:off x="804672" y="2039112"/>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soundfile-backed decoding, 16 kHz mono. Never torchaudio.load directly — it delegates to torchcodec, which is not a declared dependency.</a:t>
            </a:r>
            <a:endParaRPr lang="en-US" sz="1150" dirty="0"/>
          </a:p>
        </p:txBody>
      </p:sp>
      <p:sp>
        <p:nvSpPr>
          <p:cNvPr id="8" name="Shape 6"/>
          <p:cNvSpPr/>
          <p:nvPr/>
        </p:nvSpPr>
        <p:spPr>
          <a:xfrm>
            <a:off x="4325112" y="1435608"/>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9" name="Shape 7"/>
          <p:cNvSpPr/>
          <p:nvPr/>
        </p:nvSpPr>
        <p:spPr>
          <a:xfrm>
            <a:off x="4562856" y="1655064"/>
            <a:ext cx="310896" cy="310896"/>
          </a:xfrm>
          <a:prstGeom prst="ellipse">
            <a:avLst/>
          </a:prstGeom>
          <a:solidFill>
            <a:srgbClr val="B04A2F"/>
          </a:solidFill>
          <a:ln/>
        </p:spPr>
      </p:sp>
      <p:sp>
        <p:nvSpPr>
          <p:cNvPr id="10" name="Text 8"/>
          <p:cNvSpPr/>
          <p:nvPr/>
        </p:nvSpPr>
        <p:spPr>
          <a:xfrm>
            <a:off x="4983480" y="1636776"/>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Front-end</a:t>
            </a:r>
            <a:endParaRPr lang="en-US" sz="1700" dirty="0"/>
          </a:p>
        </p:txBody>
      </p:sp>
      <p:sp>
        <p:nvSpPr>
          <p:cNvPr id="11" name="Text 9"/>
          <p:cNvSpPr/>
          <p:nvPr/>
        </p:nvSpPr>
        <p:spPr>
          <a:xfrm>
            <a:off x="4562856" y="2039112"/>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80-band log-mel (25 ms window, 10 ms hop) → per-utterance CMVN → SpecAugment, in that order.</a:t>
            </a:r>
            <a:endParaRPr lang="en-US" sz="1150" dirty="0"/>
          </a:p>
        </p:txBody>
      </p:sp>
      <p:sp>
        <p:nvSpPr>
          <p:cNvPr id="12" name="Shape 10"/>
          <p:cNvSpPr/>
          <p:nvPr/>
        </p:nvSpPr>
        <p:spPr>
          <a:xfrm>
            <a:off x="8083296" y="1435608"/>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13" name="Shape 11"/>
          <p:cNvSpPr/>
          <p:nvPr/>
        </p:nvSpPr>
        <p:spPr>
          <a:xfrm>
            <a:off x="8321040" y="1655064"/>
            <a:ext cx="310896" cy="310896"/>
          </a:xfrm>
          <a:prstGeom prst="ellipse">
            <a:avLst/>
          </a:prstGeom>
          <a:solidFill>
            <a:srgbClr val="D9A441"/>
          </a:solidFill>
          <a:ln/>
        </p:spPr>
      </p:sp>
      <p:sp>
        <p:nvSpPr>
          <p:cNvPr id="14" name="Text 12"/>
          <p:cNvSpPr/>
          <p:nvPr/>
        </p:nvSpPr>
        <p:spPr>
          <a:xfrm>
            <a:off x="8741664" y="1636776"/>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Encoder</a:t>
            </a:r>
            <a:endParaRPr lang="en-US" sz="1700" dirty="0"/>
          </a:p>
        </p:txBody>
      </p:sp>
      <p:sp>
        <p:nvSpPr>
          <p:cNvPr id="15" name="Text 13"/>
          <p:cNvSpPr/>
          <p:nvPr/>
        </p:nvSpPr>
        <p:spPr>
          <a:xfrm>
            <a:off x="8321040" y="2039112"/>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Conformer-S: convolutional subsampling (4x), macaron feed-forwards, multi-head self-attention, depthwise convolution. Length-aware masking.</a:t>
            </a:r>
            <a:endParaRPr lang="en-US" sz="1150" dirty="0"/>
          </a:p>
        </p:txBody>
      </p:sp>
      <p:sp>
        <p:nvSpPr>
          <p:cNvPr id="16" name="Shape 14"/>
          <p:cNvSpPr/>
          <p:nvPr/>
        </p:nvSpPr>
        <p:spPr>
          <a:xfrm>
            <a:off x="566928" y="3008376"/>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17" name="Shape 15"/>
          <p:cNvSpPr/>
          <p:nvPr/>
        </p:nvSpPr>
        <p:spPr>
          <a:xfrm>
            <a:off x="804672" y="3227832"/>
            <a:ext cx="310896" cy="310896"/>
          </a:xfrm>
          <a:prstGeom prst="ellipse">
            <a:avLst/>
          </a:prstGeom>
          <a:solidFill>
            <a:srgbClr val="D9A441"/>
          </a:solidFill>
          <a:ln/>
        </p:spPr>
      </p:sp>
      <p:sp>
        <p:nvSpPr>
          <p:cNvPr id="18" name="Text 16"/>
          <p:cNvSpPr/>
          <p:nvPr/>
        </p:nvSpPr>
        <p:spPr>
          <a:xfrm>
            <a:off x="1225296" y="3209544"/>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CTC head</a:t>
            </a:r>
            <a:endParaRPr lang="en-US" sz="1700" dirty="0"/>
          </a:p>
        </p:txBody>
      </p:sp>
      <p:sp>
        <p:nvSpPr>
          <p:cNvPr id="19" name="Text 17"/>
          <p:cNvSpPr/>
          <p:nvPr/>
        </p:nvSpPr>
        <p:spPr>
          <a:xfrm>
            <a:off x="804672" y="3611880"/>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Linear projection to 41 symbols, greedy decoding. CTC needs no frame-level alignment in the labels.</a:t>
            </a:r>
            <a:endParaRPr lang="en-US" sz="1150" dirty="0"/>
          </a:p>
        </p:txBody>
      </p:sp>
      <p:sp>
        <p:nvSpPr>
          <p:cNvPr id="20" name="Shape 18"/>
          <p:cNvSpPr/>
          <p:nvPr/>
        </p:nvSpPr>
        <p:spPr>
          <a:xfrm>
            <a:off x="4325112" y="3008376"/>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21" name="Shape 19"/>
          <p:cNvSpPr/>
          <p:nvPr/>
        </p:nvSpPr>
        <p:spPr>
          <a:xfrm>
            <a:off x="4562856" y="3227832"/>
            <a:ext cx="310896" cy="310896"/>
          </a:xfrm>
          <a:prstGeom prst="ellipse">
            <a:avLst/>
          </a:prstGeom>
          <a:solidFill>
            <a:srgbClr val="5F7A62"/>
          </a:solidFill>
          <a:ln/>
        </p:spPr>
      </p:sp>
      <p:sp>
        <p:nvSpPr>
          <p:cNvPr id="22" name="Text 20"/>
          <p:cNvSpPr/>
          <p:nvPr/>
        </p:nvSpPr>
        <p:spPr>
          <a:xfrm>
            <a:off x="4983480" y="3209544"/>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Registry</a:t>
            </a:r>
            <a:endParaRPr lang="en-US" sz="1700" dirty="0"/>
          </a:p>
        </p:txBody>
      </p:sp>
      <p:sp>
        <p:nvSpPr>
          <p:cNvPr id="23" name="Text 21"/>
          <p:cNvSpPr/>
          <p:nvPr/>
        </p:nvSpPr>
        <p:spPr>
          <a:xfrm>
            <a:off x="4562856" y="3611880"/>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Every finished run is published to outputs/registry/ and promoted only if it beats the served WER.</a:t>
            </a:r>
            <a:endParaRPr lang="en-US" sz="1150" dirty="0"/>
          </a:p>
        </p:txBody>
      </p:sp>
      <p:sp>
        <p:nvSpPr>
          <p:cNvPr id="24" name="Shape 22"/>
          <p:cNvSpPr/>
          <p:nvPr/>
        </p:nvSpPr>
        <p:spPr>
          <a:xfrm>
            <a:off x="8083296" y="3008376"/>
            <a:ext cx="3529584" cy="1389888"/>
          </a:xfrm>
          <a:prstGeom prst="roundRect">
            <a:avLst>
              <a:gd name="adj" fmla="val 5263"/>
            </a:avLst>
          </a:prstGeom>
          <a:solidFill>
            <a:srgbClr val="F3F1EF"/>
          </a:solidFill>
          <a:ln/>
          <a:effectLst>
            <a:outerShdw blurRad="101600" dist="25400" dir="5400000" algn="bl" rotWithShape="0">
              <a:srgbClr val="9A9088">
                <a:alpha val="28000"/>
              </a:srgbClr>
            </a:outerShdw>
          </a:effectLst>
        </p:spPr>
      </p:sp>
      <p:sp>
        <p:nvSpPr>
          <p:cNvPr id="25" name="Shape 23"/>
          <p:cNvSpPr/>
          <p:nvPr/>
        </p:nvSpPr>
        <p:spPr>
          <a:xfrm>
            <a:off x="8321040" y="3227832"/>
            <a:ext cx="310896" cy="310896"/>
          </a:xfrm>
          <a:prstGeom prst="ellipse">
            <a:avLst/>
          </a:prstGeom>
          <a:solidFill>
            <a:srgbClr val="5F7A62"/>
          </a:solidFill>
          <a:ln/>
        </p:spPr>
      </p:sp>
      <p:sp>
        <p:nvSpPr>
          <p:cNvPr id="26" name="Text 24"/>
          <p:cNvSpPr/>
          <p:nvPr/>
        </p:nvSpPr>
        <p:spPr>
          <a:xfrm>
            <a:off x="8741664" y="3209544"/>
            <a:ext cx="2615184" cy="329184"/>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Serving</a:t>
            </a:r>
            <a:endParaRPr lang="en-US" sz="1700" dirty="0"/>
          </a:p>
        </p:txBody>
      </p:sp>
      <p:sp>
        <p:nvSpPr>
          <p:cNvPr id="27" name="Text 25"/>
          <p:cNvSpPr/>
          <p:nvPr/>
        </p:nvSpPr>
        <p:spPr>
          <a:xfrm>
            <a:off x="8321040" y="3611880"/>
            <a:ext cx="3054096" cy="713232"/>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Gradio app and CLI both resolve the promoted version — never the newest file on disk.</a:t>
            </a:r>
            <a:endParaRPr lang="en-US" sz="1150" dirty="0"/>
          </a:p>
        </p:txBody>
      </p:sp>
      <p:sp>
        <p:nvSpPr>
          <p:cNvPr id="28" name="Shape 26"/>
          <p:cNvSpPr/>
          <p:nvPr/>
        </p:nvSpPr>
        <p:spPr>
          <a:xfrm>
            <a:off x="566928" y="4636008"/>
            <a:ext cx="11055096" cy="1051560"/>
          </a:xfrm>
          <a:prstGeom prst="roundRect">
            <a:avLst>
              <a:gd name="adj" fmla="val 6957"/>
            </a:avLst>
          </a:prstGeom>
          <a:solidFill>
            <a:srgbClr val="1C1A17"/>
          </a:solidFill>
          <a:ln/>
          <a:effectLst>
            <a:outerShdw blurRad="101600" dist="25400" dir="5400000" algn="bl" rotWithShape="0">
              <a:srgbClr val="9A9088">
                <a:alpha val="28000"/>
              </a:srgbClr>
            </a:outerShdw>
          </a:effectLst>
        </p:spPr>
      </p:sp>
      <p:sp>
        <p:nvSpPr>
          <p:cNvPr id="29" name="Text 27"/>
          <p:cNvSpPr/>
          <p:nvPr/>
        </p:nvSpPr>
        <p:spPr>
          <a:xfrm>
            <a:off x="841248" y="4782312"/>
            <a:ext cx="4206240" cy="256032"/>
          </a:xfrm>
          <a:prstGeom prst="rect">
            <a:avLst/>
          </a:prstGeom>
          <a:noFill/>
          <a:ln/>
        </p:spPr>
        <p:txBody>
          <a:bodyPr wrap="square" lIns="0" tIns="0" rIns="0" bIns="0"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DESIGN RULE THAT SHAPED EVERYTHING</a:t>
            </a:r>
            <a:endParaRPr lang="en-US" sz="1050" dirty="0"/>
          </a:p>
        </p:txBody>
      </p:sp>
      <p:sp>
        <p:nvSpPr>
          <p:cNvPr id="30" name="Text 28"/>
          <p:cNvSpPr/>
          <p:nvPr/>
        </p:nvSpPr>
        <p:spPr>
          <a:xfrm>
            <a:off x="841248" y="5056632"/>
            <a:ext cx="10424160" cy="502920"/>
          </a:xfrm>
          <a:prstGeom prst="rect">
            <a:avLst/>
          </a:prstGeom>
          <a:noFill/>
          <a:ln/>
        </p:spPr>
        <p:txBody>
          <a:bodyPr wrap="square" lIns="0" tIns="0" rIns="0" bIns="0" rtlCol="0" anchor="t"/>
          <a:lstStyle/>
          <a:p>
            <a:pPr marL="0" indent="0">
              <a:lnSpc>
                <a:spcPct val="110000"/>
              </a:lnSpc>
              <a:buNone/>
            </a:pPr>
            <a:r>
              <a:rPr lang="en-US" sz="1350" dirty="0">
                <a:solidFill>
                  <a:srgbClr val="D9D2C9"/>
                </a:solidFill>
                <a:latin typeface="Calibri" pitchFamily="34" charset="0"/>
                <a:ea typeface="Calibri" pitchFamily="34" charset="-122"/>
                <a:cs typeface="Calibri" pitchFamily="34" charset="-120"/>
              </a:rPr>
              <a:t>Fail loudly on bad data. Every corpus is probed before epoch 1 and the run aborts on missing audio or missing transcripts — in 0.1 seconds instead of 50 minutes.</a:t>
            </a:r>
            <a:endParaRPr lang="en-US" sz="1350" dirty="0"/>
          </a:p>
        </p:txBody>
      </p:sp>
      <p:sp>
        <p:nvSpPr>
          <p:cNvPr id="32" name="Text 29"/>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CLAUDE.md §1, docs/conformer.md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TECHNICAL</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Four models, one interface</a:t>
            </a:r>
            <a:endParaRPr lang="en-US" sz="3300" dirty="0"/>
          </a:p>
        </p:txBody>
      </p:sp>
      <p:sp>
        <p:nvSpPr>
          <p:cNvPr id="4" name="Text 2"/>
          <p:cNvSpPr/>
          <p:nvPr/>
        </p:nvSpPr>
        <p:spPr>
          <a:xfrm>
            <a:off x="566928" y="1435608"/>
            <a:ext cx="10881360" cy="365760"/>
          </a:xfrm>
          <a:prstGeom prst="rect">
            <a:avLst/>
          </a:prstGeom>
          <a:noFill/>
          <a:ln/>
        </p:spPr>
        <p:txBody>
          <a:bodyPr wrap="square" lIns="0" tIns="0" rIns="0" bIns="0" rtlCol="0" anchor="ctr"/>
          <a:lstStyle/>
          <a:p>
            <a:pPr marL="0" indent="0">
              <a:buNone/>
            </a:pPr>
            <a:r>
              <a:rPr lang="en-US" sz="1400" dirty="0">
                <a:solidFill>
                  <a:srgbClr val="6B6560"/>
                </a:solidFill>
                <a:latin typeface="Calibri" pitchFamily="34" charset="0"/>
                <a:ea typeface="Calibri" pitchFamily="34" charset="-122"/>
                <a:cs typeface="Calibri" pitchFamily="34" charset="-120"/>
              </a:rPr>
              <a:t>Every architecture is built by name through a shared registry, so training, evaluation, export and the app all auto-detect which one a checkpoint holds.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938528"/>
          <a:ext cx="11055096"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837176">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Subsampling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Role in SESA</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Conformer-S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8.4 M</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4x</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Attention + depthwise convolution. Strong on tonal, agglutinative speech.</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b="1" dirty="0">
                          <a:solidFill>
                            <a:srgbClr val="B04A2F"/>
                          </a:solidFill>
                          <a:latin typeface="Calibri" pitchFamily="34" charset="0"/>
                          <a:ea typeface="Calibri" pitchFamily="34" charset="-122"/>
                          <a:cs typeface="Calibri" pitchFamily="34" charset="-120"/>
                        </a:rPr>
                        <a:t>SERVING — WER 0.4701</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DeepSpeech2</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~23 M</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2x</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CNN + 5-layer bidirectional GRU. Fast to iterate; used to validate the pipeline.</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Conformer-M</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~27 M</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4x</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Wider encoder, 16 layers. Held in reserve.</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Untrained</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Whisper</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~244 M</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Pre-trained multilingual encoder-decoder, optional comparison baseline only.</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Optional</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566928" y="4681728"/>
            <a:ext cx="5413248" cy="1234440"/>
          </a:xfrm>
          <a:prstGeom prst="roundRect">
            <a:avLst>
              <a:gd name="adj" fmla="val 5926"/>
            </a:avLst>
          </a:prstGeom>
          <a:solidFill>
            <a:srgbClr val="F3F1EF"/>
          </a:solidFill>
          <a:ln/>
          <a:effectLst>
            <a:outerShdw blurRad="101600" dist="25400" dir="5400000" algn="bl" rotWithShape="0">
              <a:srgbClr val="9A9088">
                <a:alpha val="28000"/>
              </a:srgbClr>
            </a:outerShdw>
          </a:effectLst>
        </p:spPr>
      </p:sp>
      <p:sp>
        <p:nvSpPr>
          <p:cNvPr id="7" name="Text 4"/>
          <p:cNvSpPr/>
          <p:nvPr/>
        </p:nvSpPr>
        <p:spPr>
          <a:xfrm>
            <a:off x="804672" y="4837176"/>
            <a:ext cx="4937760"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Why Conformer won</a:t>
            </a:r>
            <a:endParaRPr lang="en-US" sz="1600" dirty="0"/>
          </a:p>
        </p:txBody>
      </p:sp>
      <p:sp>
        <p:nvSpPr>
          <p:cNvPr id="8" name="Text 5"/>
          <p:cNvSpPr/>
          <p:nvPr/>
        </p:nvSpPr>
        <p:spPr>
          <a:xfrm>
            <a:off x="804672" y="5166360"/>
            <a:ext cx="4937760" cy="68580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4x time subsampling cuts the quadratic attention cost by 16x, so a 30-second clip becomes ~375 encoder frames instead of ~3000. Depthwise convolution captures the local phoneme transitions that carry meaning in a tonal language.</a:t>
            </a:r>
            <a:endParaRPr lang="en-US" sz="1150" dirty="0"/>
          </a:p>
        </p:txBody>
      </p:sp>
      <p:sp>
        <p:nvSpPr>
          <p:cNvPr id="9" name="Shape 6"/>
          <p:cNvSpPr/>
          <p:nvPr/>
        </p:nvSpPr>
        <p:spPr>
          <a:xfrm>
            <a:off x="6208776" y="4681728"/>
            <a:ext cx="5413248" cy="1234440"/>
          </a:xfrm>
          <a:prstGeom prst="roundRect">
            <a:avLst>
              <a:gd name="adj" fmla="val 5926"/>
            </a:avLst>
          </a:prstGeom>
          <a:solidFill>
            <a:srgbClr val="E9E5E1"/>
          </a:solidFill>
          <a:ln/>
          <a:effectLst>
            <a:outerShdw blurRad="101600" dist="25400" dir="5400000" algn="bl" rotWithShape="0">
              <a:srgbClr val="9A9088">
                <a:alpha val="28000"/>
              </a:srgbClr>
            </a:outerShdw>
          </a:effectLst>
        </p:spPr>
      </p:sp>
      <p:sp>
        <p:nvSpPr>
          <p:cNvPr id="10" name="Text 7"/>
          <p:cNvSpPr/>
          <p:nvPr/>
        </p:nvSpPr>
        <p:spPr>
          <a:xfrm>
            <a:off x="6446520" y="4837176"/>
            <a:ext cx="4937760"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Why Whisper is only a baseline</a:t>
            </a:r>
            <a:endParaRPr lang="en-US" sz="1600" dirty="0"/>
          </a:p>
        </p:txBody>
      </p:sp>
      <p:sp>
        <p:nvSpPr>
          <p:cNvPr id="11" name="Text 8"/>
          <p:cNvSpPr/>
          <p:nvPr/>
        </p:nvSpPr>
        <p:spPr>
          <a:xfrm>
            <a:off x="6446520" y="5166360"/>
            <a:ext cx="4937760" cy="68580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There is no default Whisper repository configured. It runs only when explicitly named, so the app always serves our own trained model rather than silently falling back to a third-party one. It also hallucinates text on non-speech audio, which is unacceptable in a court record.</a:t>
            </a:r>
            <a:endParaRPr lang="en-US" sz="1150" dirty="0"/>
          </a:p>
        </p:txBody>
      </p:sp>
      <p:sp>
        <p:nvSpPr>
          <p:cNvPr id="5" name="Text 9"/>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docs/conformer.md, docs/deepspeech.md, docs/whisper.md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TECHNICAL</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Who spoke when</a:t>
            </a:r>
            <a:endParaRPr lang="en-US" sz="3300" dirty="0"/>
          </a:p>
        </p:txBody>
      </p:sp>
      <p:sp>
        <p:nvSpPr>
          <p:cNvPr id="4" name="Text 2"/>
          <p:cNvSpPr/>
          <p:nvPr/>
        </p:nvSpPr>
        <p:spPr>
          <a:xfrm>
            <a:off x="566928" y="1435608"/>
            <a:ext cx="10881360" cy="457200"/>
          </a:xfrm>
          <a:prstGeom prst="rect">
            <a:avLst/>
          </a:prstGeom>
          <a:noFill/>
          <a:ln/>
        </p:spPr>
        <p:txBody>
          <a:bodyPr wrap="square" lIns="0" tIns="0" rIns="0" bIns="0" rtlCol="0" anchor="t"/>
          <a:lstStyle/>
          <a:p>
            <a:pPr marL="0" indent="0">
              <a:lnSpc>
                <a:spcPct val="110000"/>
              </a:lnSpc>
              <a:buNone/>
            </a:pPr>
            <a:r>
              <a:rPr lang="en-US" sz="1400" dirty="0">
                <a:solidFill>
                  <a:srgbClr val="6B6560"/>
                </a:solidFill>
                <a:latin typeface="Calibri" pitchFamily="34" charset="0"/>
                <a:ea typeface="Calibri" pitchFamily="34" charset="-122"/>
                <a:cs typeface="Calibri" pitchFamily="34" charset="-120"/>
              </a:rPr>
              <a:t>Diarization runs first and each speaker turn is transcribed separately — because our CTC decoder emits characters with no word-level timestamps, so speakers cannot be assigned after the fact.</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39112"/>
          <a:ext cx="11055096" cy="1645920"/>
        </p:xfrm>
        <a:graphic>
          <a:graphicData uri="http://schemas.openxmlformats.org/drawingml/2006/table">
            <a:tbl>
              <a:tblPr/>
              <a:tblGrid>
                <a:gridCol w="17373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728216">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Backend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Speaker model</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Licence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Speakers found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Runtime, 28 s clip</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pyannote</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speaker-diarization-community-1</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Gated — 3 repos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6.9 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C1A17"/>
                          </a:solidFill>
                          <a:latin typeface="Calibri" pitchFamily="34" charset="0"/>
                          <a:ea typeface="Calibri" pitchFamily="34" charset="-122"/>
                          <a:cs typeface="Calibri" pitchFamily="34" charset="-120"/>
                        </a:rPr>
                        <a:t>ecapa  (default)</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SpeechBrain ECAPA-TDNN</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3 at threshold 0.90</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7.1 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spectral</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MFCC mean and std</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None, no downloads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200" dirty="0">
                          <a:solidFill>
                            <a:srgbClr val="1C1A17"/>
                          </a:solidFill>
                          <a:latin typeface="Calibri" pitchFamily="34" charset="0"/>
                          <a:ea typeface="Calibri" pitchFamily="34" charset="-122"/>
                          <a:cs typeface="Calibri" pitchFamily="34" charset="-120"/>
                        </a:rPr>
                        <a:t>0.01 s</a:t>
                      </a:r>
                      <a:endParaRPr lang="en-US" sz="12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66928" y="3922776"/>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7" name="Text 4"/>
          <p:cNvSpPr/>
          <p:nvPr/>
        </p:nvSpPr>
        <p:spPr>
          <a:xfrm>
            <a:off x="804672" y="4087368"/>
            <a:ext cx="3054096"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Resolve overlaps</a:t>
            </a:r>
            <a:endParaRPr lang="en-US" sz="1600" dirty="0"/>
          </a:p>
        </p:txBody>
      </p:sp>
      <p:sp>
        <p:nvSpPr>
          <p:cNvPr id="8" name="Text 5"/>
          <p:cNvSpPr/>
          <p:nvPr/>
        </p:nvSpPr>
        <p:spPr>
          <a:xfrm>
            <a:off x="804672" y="4416552"/>
            <a:ext cx="3054096" cy="86868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Every instant gets exactly one speaker. A short interjection inside a long turn splits that turn in two rather than being truncated to nothing — that was a real bug, caught by a test.</a:t>
            </a:r>
            <a:endParaRPr lang="en-US" sz="1150" dirty="0"/>
          </a:p>
        </p:txBody>
      </p:sp>
      <p:sp>
        <p:nvSpPr>
          <p:cNvPr id="9" name="Shape 6"/>
          <p:cNvSpPr/>
          <p:nvPr/>
        </p:nvSpPr>
        <p:spPr>
          <a:xfrm>
            <a:off x="4325112" y="3922776"/>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10" name="Text 7"/>
          <p:cNvSpPr/>
          <p:nvPr/>
        </p:nvSpPr>
        <p:spPr>
          <a:xfrm>
            <a:off x="4562856" y="4087368"/>
            <a:ext cx="3054096"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Merge and drop</a:t>
            </a:r>
            <a:endParaRPr lang="en-US" sz="1600" dirty="0"/>
          </a:p>
        </p:txBody>
      </p:sp>
      <p:sp>
        <p:nvSpPr>
          <p:cNvPr id="11" name="Text 8"/>
          <p:cNvSpPr/>
          <p:nvPr/>
        </p:nvSpPr>
        <p:spPr>
          <a:xfrm>
            <a:off x="4562856" y="4416552"/>
            <a:ext cx="3054096" cy="86868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Same-speaker turns under 0.5 s apart are rejoined; turns under 0.35 s are discarded as diarizer jitter.</a:t>
            </a:r>
            <a:endParaRPr lang="en-US" sz="1150" dirty="0"/>
          </a:p>
        </p:txBody>
      </p:sp>
      <p:sp>
        <p:nvSpPr>
          <p:cNvPr id="12" name="Shape 9"/>
          <p:cNvSpPr/>
          <p:nvPr/>
        </p:nvSpPr>
        <p:spPr>
          <a:xfrm>
            <a:off x="8083296" y="3922776"/>
            <a:ext cx="3529584" cy="1463040"/>
          </a:xfrm>
          <a:prstGeom prst="roundRect">
            <a:avLst>
              <a:gd name="adj" fmla="val 5000"/>
            </a:avLst>
          </a:prstGeom>
          <a:solidFill>
            <a:srgbClr val="F3F1EF"/>
          </a:solidFill>
          <a:ln/>
          <a:effectLst>
            <a:outerShdw blurRad="101600" dist="25400" dir="5400000" algn="bl" rotWithShape="0">
              <a:srgbClr val="9A9088">
                <a:alpha val="28000"/>
              </a:srgbClr>
            </a:outerShdw>
          </a:effectLst>
        </p:spPr>
      </p:sp>
      <p:sp>
        <p:nvSpPr>
          <p:cNvPr id="13" name="Text 10"/>
          <p:cNvSpPr/>
          <p:nvPr/>
        </p:nvSpPr>
        <p:spPr>
          <a:xfrm>
            <a:off x="8321040" y="4087368"/>
            <a:ext cx="3054096"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Relabel in speaking order</a:t>
            </a:r>
            <a:endParaRPr lang="en-US" sz="1600" dirty="0"/>
          </a:p>
        </p:txBody>
      </p:sp>
      <p:sp>
        <p:nvSpPr>
          <p:cNvPr id="5" name="Text 11"/>
          <p:cNvSpPr/>
          <p:nvPr/>
        </p:nvSpPr>
        <p:spPr>
          <a:xfrm>
            <a:off x="8321040" y="4416552"/>
            <a:ext cx="3054096" cy="86868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Labels become SPEAKER_00, 01, 02 in the order people first speak, so they are stable between runs.</a:t>
            </a:r>
            <a:endParaRPr lang="en-US" sz="1150" dirty="0"/>
          </a:p>
        </p:txBody>
      </p:sp>
      <p:sp>
        <p:nvSpPr>
          <p:cNvPr id="15" name="Shape 12"/>
          <p:cNvSpPr/>
          <p:nvPr/>
        </p:nvSpPr>
        <p:spPr>
          <a:xfrm>
            <a:off x="566928" y="5568696"/>
            <a:ext cx="11055096" cy="786384"/>
          </a:xfrm>
          <a:prstGeom prst="roundRect">
            <a:avLst>
              <a:gd name="adj" fmla="val 9302"/>
            </a:avLst>
          </a:prstGeom>
          <a:solidFill>
            <a:srgbClr val="1C1A17"/>
          </a:solidFill>
          <a:ln/>
          <a:effectLst>
            <a:outerShdw blurRad="101600" dist="25400" dir="5400000" algn="bl" rotWithShape="0">
              <a:srgbClr val="9A9088">
                <a:alpha val="28000"/>
              </a:srgbClr>
            </a:outerShdw>
          </a:effectLst>
        </p:spPr>
      </p:sp>
      <p:sp>
        <p:nvSpPr>
          <p:cNvPr id="16" name="Text 13"/>
          <p:cNvSpPr/>
          <p:nvPr/>
        </p:nvSpPr>
        <p:spPr>
          <a:xfrm>
            <a:off x="841248" y="5660136"/>
            <a:ext cx="10424160" cy="603504"/>
          </a:xfrm>
          <a:prstGeom prst="rect">
            <a:avLst/>
          </a:prstGeom>
          <a:noFill/>
          <a:ln/>
        </p:spPr>
        <p:txBody>
          <a:bodyPr wrap="square" lIns="0" tIns="0" rIns="0" bIns="0" rtlCol="0" anchor="ctr"/>
          <a:lstStyle/>
          <a:p>
            <a:pPr marL="0" indent="0">
              <a:lnSpc>
                <a:spcPct val="110000"/>
              </a:lnSpc>
              <a:buNone/>
            </a:pPr>
            <a:r>
              <a:rPr lang="en-US" sz="1350" b="1" dirty="0">
                <a:solidFill>
                  <a:srgbClr val="D9A441"/>
                </a:solidFill>
                <a:latin typeface="Calibri" pitchFamily="34" charset="0"/>
                <a:ea typeface="Calibri" pitchFamily="34" charset="-122"/>
                <a:cs typeface="Calibri" pitchFamily="34" charset="-120"/>
              </a:rPr>
              <a:t>Say this plainly: </a:t>
            </a:r>
            <a:r>
              <a:rPr lang="en-US" sz="1350" dirty="0">
                <a:solidFill>
                  <a:srgbClr val="D9D2C9"/>
                </a:solidFill>
                <a:latin typeface="Calibri" pitchFamily="34" charset="0"/>
                <a:ea typeface="Calibri" pitchFamily="34" charset="-122"/>
                <a:cs typeface="Calibri" pitchFamily="34" charset="-120"/>
              </a:rPr>
              <a:t>the corpus clips carry no speaker labels, so "3 speakers" is agreement between two independent backends, not verified ground truth. Diarization Error Rate is not measured.</a:t>
            </a:r>
            <a:endParaRPr lang="en-US" sz="1350" dirty="0"/>
          </a:p>
        </p:txBody>
      </p:sp>
      <p:sp>
        <p:nvSpPr>
          <p:cNvPr id="18" name="Text 14"/>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docs/speaker_diarization.md §2, §3, §5, docs/results.md §7</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TECHNICAL</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engineering that makes results trustworthy</a:t>
            </a:r>
            <a:endParaRPr lang="en-US" sz="3300" dirty="0"/>
          </a:p>
        </p:txBody>
      </p:sp>
      <p:sp>
        <p:nvSpPr>
          <p:cNvPr id="4" name="Text 2"/>
          <p:cNvSpPr/>
          <p:nvPr/>
        </p:nvSpPr>
        <p:spPr>
          <a:xfrm>
            <a:off x="566928" y="1435608"/>
            <a:ext cx="10881360" cy="365760"/>
          </a:xfrm>
          <a:prstGeom prst="rect">
            <a:avLst/>
          </a:prstGeom>
          <a:noFill/>
          <a:ln/>
        </p:spPr>
        <p:txBody>
          <a:bodyPr wrap="square" lIns="0" tIns="0" rIns="0" bIns="0" rtlCol="0" anchor="ctr"/>
          <a:lstStyle/>
          <a:p>
            <a:pPr marL="0" indent="0">
              <a:buNone/>
            </a:pPr>
            <a:r>
              <a:rPr lang="en-US" sz="1400" dirty="0">
                <a:solidFill>
                  <a:srgbClr val="6B6560"/>
                </a:solidFill>
                <a:latin typeface="Calibri" pitchFamily="34" charset="0"/>
                <a:ea typeface="Calibri" pitchFamily="34" charset="-122"/>
                <a:cs typeface="Calibri" pitchFamily="34" charset="-120"/>
              </a:rPr>
              <a:t>A research result nobody can reproduce is an anecdote. Four mechanisms keep every SESA run comparable and every served model accounted for.</a:t>
            </a:r>
            <a:endParaRPr lang="en-US" sz="1400" dirty="0"/>
          </a:p>
        </p:txBody>
      </p:sp>
      <p:sp>
        <p:nvSpPr>
          <p:cNvPr id="5" name="Shape 3"/>
          <p:cNvSpPr/>
          <p:nvPr/>
        </p:nvSpPr>
        <p:spPr>
          <a:xfrm>
            <a:off x="566928" y="1938528"/>
            <a:ext cx="5413248" cy="1335024"/>
          </a:xfrm>
          <a:prstGeom prst="roundRect">
            <a:avLst>
              <a:gd name="adj" fmla="val 5479"/>
            </a:avLst>
          </a:prstGeom>
          <a:solidFill>
            <a:srgbClr val="F3F1EF"/>
          </a:solidFill>
          <a:ln/>
          <a:effectLst>
            <a:outerShdw blurRad="101600" dist="25400" dir="5400000" algn="bl" rotWithShape="0">
              <a:srgbClr val="9A9088">
                <a:alpha val="28000"/>
              </a:srgbClr>
            </a:outerShdw>
          </a:effectLst>
        </p:spPr>
      </p:sp>
      <p:sp>
        <p:nvSpPr>
          <p:cNvPr id="6" name="Shape 4"/>
          <p:cNvSpPr/>
          <p:nvPr/>
        </p:nvSpPr>
        <p:spPr>
          <a:xfrm>
            <a:off x="804672" y="2157984"/>
            <a:ext cx="329184" cy="329184"/>
          </a:xfrm>
          <a:prstGeom prst="ellipse">
            <a:avLst/>
          </a:prstGeom>
          <a:solidFill>
            <a:srgbClr val="B04A2F"/>
          </a:solidFill>
          <a:ln/>
        </p:spPr>
      </p:sp>
      <p:sp>
        <p:nvSpPr>
          <p:cNvPr id="7" name="Text 5"/>
          <p:cNvSpPr/>
          <p:nvPr/>
        </p:nvSpPr>
        <p:spPr>
          <a:xfrm>
            <a:off x="1243584" y="2139696"/>
            <a:ext cx="4498848" cy="347472"/>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Versioned model registry</a:t>
            </a:r>
            <a:endParaRPr lang="en-US" sz="1700" dirty="0"/>
          </a:p>
        </p:txBody>
      </p:sp>
      <p:sp>
        <p:nvSpPr>
          <p:cNvPr id="8" name="Text 6"/>
          <p:cNvSpPr/>
          <p:nvPr/>
        </p:nvSpPr>
        <p:spPr>
          <a:xfrm>
            <a:off x="804672" y="2542032"/>
            <a:ext cx="4937760" cy="658368"/>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Every finished run is published to outputs/registry/, but promoted only if it beats the served version's WER. A collapsed run is archived for comparison and never reaches the demo.</a:t>
            </a:r>
            <a:endParaRPr lang="en-US" sz="1150" dirty="0"/>
          </a:p>
        </p:txBody>
      </p:sp>
      <p:sp>
        <p:nvSpPr>
          <p:cNvPr id="9" name="Shape 7"/>
          <p:cNvSpPr/>
          <p:nvPr/>
        </p:nvSpPr>
        <p:spPr>
          <a:xfrm>
            <a:off x="6208776" y="1938528"/>
            <a:ext cx="5413248" cy="1335024"/>
          </a:xfrm>
          <a:prstGeom prst="roundRect">
            <a:avLst>
              <a:gd name="adj" fmla="val 5479"/>
            </a:avLst>
          </a:prstGeom>
          <a:solidFill>
            <a:srgbClr val="F3F1EF"/>
          </a:solidFill>
          <a:ln/>
          <a:effectLst>
            <a:outerShdw blurRad="101600" dist="25400" dir="5400000" algn="bl" rotWithShape="0">
              <a:srgbClr val="9A9088">
                <a:alpha val="28000"/>
              </a:srgbClr>
            </a:outerShdw>
          </a:effectLst>
        </p:spPr>
      </p:sp>
      <p:sp>
        <p:nvSpPr>
          <p:cNvPr id="10" name="Shape 8"/>
          <p:cNvSpPr/>
          <p:nvPr/>
        </p:nvSpPr>
        <p:spPr>
          <a:xfrm>
            <a:off x="6446520" y="2157984"/>
            <a:ext cx="329184" cy="329184"/>
          </a:xfrm>
          <a:prstGeom prst="ellipse">
            <a:avLst/>
          </a:prstGeom>
          <a:solidFill>
            <a:srgbClr val="D9A441"/>
          </a:solidFill>
          <a:ln/>
        </p:spPr>
      </p:sp>
      <p:sp>
        <p:nvSpPr>
          <p:cNvPr id="11" name="Text 9"/>
          <p:cNvSpPr/>
          <p:nvPr/>
        </p:nvSpPr>
        <p:spPr>
          <a:xfrm>
            <a:off x="6885432" y="2139696"/>
            <a:ext cx="4498848" cy="347472"/>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Rollback by promotion history</a:t>
            </a:r>
            <a:endParaRPr lang="en-US" sz="1700" dirty="0"/>
          </a:p>
        </p:txBody>
      </p:sp>
      <p:sp>
        <p:nvSpPr>
          <p:cNvPr id="12" name="Text 10"/>
          <p:cNvSpPr/>
          <p:nvPr/>
        </p:nvSpPr>
        <p:spPr>
          <a:xfrm>
            <a:off x="6446520" y="2542032"/>
            <a:ext cx="4937760" cy="658368"/>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models rollback returns to the last version actually served, not the previous version number. Exposed as a dropdown in the app — the live escape hatch mid-demo.</a:t>
            </a:r>
            <a:endParaRPr lang="en-US" sz="1150" dirty="0"/>
          </a:p>
        </p:txBody>
      </p:sp>
      <p:sp>
        <p:nvSpPr>
          <p:cNvPr id="13" name="Shape 11"/>
          <p:cNvSpPr/>
          <p:nvPr/>
        </p:nvSpPr>
        <p:spPr>
          <a:xfrm>
            <a:off x="566928" y="3456432"/>
            <a:ext cx="5413248" cy="1335024"/>
          </a:xfrm>
          <a:prstGeom prst="roundRect">
            <a:avLst>
              <a:gd name="adj" fmla="val 5479"/>
            </a:avLst>
          </a:prstGeom>
          <a:solidFill>
            <a:srgbClr val="F3F1EF"/>
          </a:solidFill>
          <a:ln/>
          <a:effectLst>
            <a:outerShdw blurRad="101600" dist="25400" dir="5400000" algn="bl" rotWithShape="0">
              <a:srgbClr val="9A9088">
                <a:alpha val="28000"/>
              </a:srgbClr>
            </a:outerShdw>
          </a:effectLst>
        </p:spPr>
      </p:sp>
      <p:sp>
        <p:nvSpPr>
          <p:cNvPr id="14" name="Shape 12"/>
          <p:cNvSpPr/>
          <p:nvPr/>
        </p:nvSpPr>
        <p:spPr>
          <a:xfrm>
            <a:off x="804672" y="3675888"/>
            <a:ext cx="329184" cy="329184"/>
          </a:xfrm>
          <a:prstGeom prst="ellipse">
            <a:avLst/>
          </a:prstGeom>
          <a:solidFill>
            <a:srgbClr val="5F7A62"/>
          </a:solidFill>
          <a:ln/>
        </p:spPr>
      </p:sp>
      <p:sp>
        <p:nvSpPr>
          <p:cNvPr id="15" name="Text 13"/>
          <p:cNvSpPr/>
          <p:nvPr/>
        </p:nvSpPr>
        <p:spPr>
          <a:xfrm>
            <a:off x="1243584" y="3657600"/>
            <a:ext cx="4498848" cy="347472"/>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Run directories for everything</a:t>
            </a:r>
            <a:endParaRPr lang="en-US" sz="1700" dirty="0"/>
          </a:p>
        </p:txBody>
      </p:sp>
      <p:sp>
        <p:nvSpPr>
          <p:cNvPr id="16" name="Text 14"/>
          <p:cNvSpPr/>
          <p:nvPr/>
        </p:nvSpPr>
        <p:spPr>
          <a:xfrm>
            <a:off x="804672" y="4059936"/>
            <a:ext cx="4937760" cy="658368"/>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Each command writes config, metrics.jsonl, predictions and logs to outputs/runs/. Dataset manifests are tracked in git even though the audio is not.</a:t>
            </a:r>
            <a:endParaRPr lang="en-US" sz="1150" dirty="0"/>
          </a:p>
        </p:txBody>
      </p:sp>
      <p:sp>
        <p:nvSpPr>
          <p:cNvPr id="17" name="Shape 15"/>
          <p:cNvSpPr/>
          <p:nvPr/>
        </p:nvSpPr>
        <p:spPr>
          <a:xfrm>
            <a:off x="6208776" y="3456432"/>
            <a:ext cx="5413248" cy="1335024"/>
          </a:xfrm>
          <a:prstGeom prst="roundRect">
            <a:avLst>
              <a:gd name="adj" fmla="val 5479"/>
            </a:avLst>
          </a:prstGeom>
          <a:solidFill>
            <a:srgbClr val="F3F1EF"/>
          </a:solidFill>
          <a:ln/>
          <a:effectLst>
            <a:outerShdw blurRad="101600" dist="25400" dir="5400000" algn="bl" rotWithShape="0">
              <a:srgbClr val="9A9088">
                <a:alpha val="28000"/>
              </a:srgbClr>
            </a:outerShdw>
          </a:effectLst>
        </p:spPr>
      </p:sp>
      <p:sp>
        <p:nvSpPr>
          <p:cNvPr id="18" name="Shape 16"/>
          <p:cNvSpPr/>
          <p:nvPr/>
        </p:nvSpPr>
        <p:spPr>
          <a:xfrm>
            <a:off x="6446520" y="3675888"/>
            <a:ext cx="329184" cy="329184"/>
          </a:xfrm>
          <a:prstGeom prst="ellipse">
            <a:avLst/>
          </a:prstGeom>
          <a:solidFill>
            <a:srgbClr val="1C1A17"/>
          </a:solidFill>
          <a:ln/>
        </p:spPr>
      </p:sp>
      <p:sp>
        <p:nvSpPr>
          <p:cNvPr id="19" name="Text 17"/>
          <p:cNvSpPr/>
          <p:nvPr/>
        </p:nvSpPr>
        <p:spPr>
          <a:xfrm>
            <a:off x="6885432" y="3657600"/>
            <a:ext cx="4498848" cy="347472"/>
          </a:xfrm>
          <a:prstGeom prst="rect">
            <a:avLst/>
          </a:prstGeom>
          <a:noFill/>
          <a:ln/>
        </p:spPr>
        <p:txBody>
          <a:bodyPr wrap="square" lIns="0" tIns="0" rIns="0" bIns="0" rtlCol="0" anchor="ctr"/>
          <a:lstStyle/>
          <a:p>
            <a:pPr marL="0" indent="0">
              <a:buNone/>
            </a:pPr>
            <a:r>
              <a:rPr lang="en-US" sz="1700" b="1" dirty="0">
                <a:solidFill>
                  <a:srgbClr val="1C1A17"/>
                </a:solidFill>
                <a:latin typeface="Cambria" pitchFamily="34" charset="0"/>
                <a:ea typeface="Cambria" pitchFamily="34" charset="-122"/>
                <a:cs typeface="Cambria" pitchFamily="34" charset="-120"/>
              </a:rPr>
              <a:t>145 tests, no network needed</a:t>
            </a:r>
            <a:endParaRPr lang="en-US" sz="1700" dirty="0"/>
          </a:p>
        </p:txBody>
      </p:sp>
      <p:sp>
        <p:nvSpPr>
          <p:cNvPr id="20" name="Text 18"/>
          <p:cNvSpPr/>
          <p:nvPr/>
        </p:nvSpPr>
        <p:spPr>
          <a:xfrm>
            <a:off x="6446520" y="4059936"/>
            <a:ext cx="4937760" cy="658368"/>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Text encoding, model shapes, ragged batches, length bucketing, WER/CER, diarization turn algebra, the registry and the outputs cleaner. Up from 15.</a:t>
            </a:r>
            <a:endParaRPr lang="en-US" sz="1150" dirty="0"/>
          </a:p>
        </p:txBody>
      </p:sp>
      <p:sp>
        <p:nvSpPr>
          <p:cNvPr id="21" name="Shape 19"/>
          <p:cNvSpPr/>
          <p:nvPr/>
        </p:nvSpPr>
        <p:spPr>
          <a:xfrm>
            <a:off x="566928" y="5001768"/>
            <a:ext cx="11055096" cy="1005840"/>
          </a:xfrm>
          <a:prstGeom prst="roundRect">
            <a:avLst>
              <a:gd name="adj" fmla="val 5455"/>
            </a:avLst>
          </a:prstGeom>
          <a:solidFill>
            <a:srgbClr val="1C1A17"/>
          </a:solidFill>
          <a:ln/>
        </p:spPr>
      </p:sp>
      <p:sp>
        <p:nvSpPr>
          <p:cNvPr id="22" name="Text 20"/>
          <p:cNvSpPr/>
          <p:nvPr/>
        </p:nvSpPr>
        <p:spPr>
          <a:xfrm>
            <a:off x="768096" y="5129784"/>
            <a:ext cx="10652760"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WHAT PROMOTION-ON-IMPROVEMENT LOOKS LIKE IN PRACTICE</a:t>
            </a:r>
            <a:endParaRPr lang="en-US" sz="1050" dirty="0"/>
          </a:p>
        </p:txBody>
      </p:sp>
      <p:sp>
        <p:nvSpPr>
          <p:cNvPr id="23" name="Text 21"/>
          <p:cNvSpPr/>
          <p:nvPr/>
        </p:nvSpPr>
        <p:spPr>
          <a:xfrm>
            <a:off x="768096" y="5404104"/>
            <a:ext cx="10652760" cy="47548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Published conformer/v002 (WER 1.0000)</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Not promoted; conformer/v001 (WER 0.5100) remains current.</a:t>
            </a:r>
            <a:endParaRPr lang="en-US" sz="1050" dirty="0"/>
          </a:p>
        </p:txBody>
      </p:sp>
      <p:sp>
        <p:nvSpPr>
          <p:cNvPr id="25" name="Text 22"/>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README.md, docs/results.md §5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DEMO</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Live demo — model versions and rollback</a:t>
            </a:r>
            <a:endParaRPr lang="en-US" sz="3300" dirty="0"/>
          </a:p>
        </p:txBody>
      </p:sp>
      <p:sp>
        <p:nvSpPr>
          <p:cNvPr id="4" name="Shape 2"/>
          <p:cNvSpPr/>
          <p:nvPr/>
        </p:nvSpPr>
        <p:spPr>
          <a:xfrm>
            <a:off x="566928" y="1417320"/>
            <a:ext cx="2148840" cy="384048"/>
          </a:xfrm>
          <a:prstGeom prst="roundRect">
            <a:avLst>
              <a:gd name="adj" fmla="val 47619"/>
            </a:avLst>
          </a:prstGeom>
          <a:solidFill>
            <a:srgbClr val="B04A2F"/>
          </a:solidFill>
          <a:ln/>
        </p:spPr>
      </p:sp>
      <p:sp>
        <p:nvSpPr>
          <p:cNvPr id="5" name="Text 3"/>
          <p:cNvSpPr/>
          <p:nvPr/>
        </p:nvSpPr>
        <p:spPr>
          <a:xfrm>
            <a:off x="566928" y="1417320"/>
            <a:ext cx="2148840" cy="384048"/>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SWITCH TO THE TERMINAL</a:t>
            </a:r>
            <a:endParaRPr lang="en-US" sz="1050" dirty="0"/>
          </a:p>
        </p:txBody>
      </p:sp>
      <p:sp>
        <p:nvSpPr>
          <p:cNvPr id="6" name="Shape 4"/>
          <p:cNvSpPr/>
          <p:nvPr/>
        </p:nvSpPr>
        <p:spPr>
          <a:xfrm>
            <a:off x="566928" y="2002536"/>
            <a:ext cx="6035040" cy="2487168"/>
          </a:xfrm>
          <a:prstGeom prst="roundRect">
            <a:avLst>
              <a:gd name="adj" fmla="val 2206"/>
            </a:avLst>
          </a:prstGeom>
          <a:solidFill>
            <a:srgbClr val="1C1A17"/>
          </a:solidFill>
          <a:ln/>
        </p:spPr>
      </p:sp>
      <p:sp>
        <p:nvSpPr>
          <p:cNvPr id="7" name="Text 5"/>
          <p:cNvSpPr/>
          <p:nvPr/>
        </p:nvSpPr>
        <p:spPr>
          <a:xfrm>
            <a:off x="768096" y="2130552"/>
            <a:ext cx="5632704"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CUE 3 — THE MODEL REGISTRY</a:t>
            </a:r>
            <a:endParaRPr lang="en-US" sz="1050" dirty="0"/>
          </a:p>
        </p:txBody>
      </p:sp>
      <p:sp>
        <p:nvSpPr>
          <p:cNvPr id="8" name="Text 6"/>
          <p:cNvSpPr/>
          <p:nvPr/>
        </p:nvSpPr>
        <p:spPr>
          <a:xfrm>
            <a:off x="768096" y="2404872"/>
            <a:ext cx="5632704" cy="1956816"/>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what exists, and which one is served</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models list</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roll back to the last version actually served</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models rollback --architecture conformer</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force a specific version</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models promote --architecture conformer --version v002</a:t>
            </a:r>
            <a:endParaRPr lang="en-US" sz="1050" dirty="0"/>
          </a:p>
        </p:txBody>
      </p:sp>
      <p:sp>
        <p:nvSpPr>
          <p:cNvPr id="9" name="Shape 7"/>
          <p:cNvSpPr/>
          <p:nvPr/>
        </p:nvSpPr>
        <p:spPr>
          <a:xfrm>
            <a:off x="6830568" y="2002536"/>
            <a:ext cx="4791456" cy="749808"/>
          </a:xfrm>
          <a:prstGeom prst="roundRect">
            <a:avLst>
              <a:gd name="adj" fmla="val 9756"/>
            </a:avLst>
          </a:prstGeom>
          <a:solidFill>
            <a:srgbClr val="F3F1EF"/>
          </a:solidFill>
          <a:ln/>
          <a:effectLst>
            <a:outerShdw blurRad="101600" dist="25400" dir="5400000" algn="bl" rotWithShape="0">
              <a:srgbClr val="9A9088">
                <a:alpha val="28000"/>
              </a:srgbClr>
            </a:outerShdw>
          </a:effectLst>
        </p:spPr>
      </p:sp>
      <p:sp>
        <p:nvSpPr>
          <p:cNvPr id="10" name="Text 8"/>
          <p:cNvSpPr/>
          <p:nvPr/>
        </p:nvSpPr>
        <p:spPr>
          <a:xfrm>
            <a:off x="7040880" y="2084832"/>
            <a:ext cx="4389120" cy="256032"/>
          </a:xfrm>
          <a:prstGeom prst="rect">
            <a:avLst/>
          </a:prstGeom>
          <a:noFill/>
          <a:ln/>
        </p:spPr>
        <p:txBody>
          <a:bodyPr wrap="square" lIns="0" tIns="0" rIns="0" bIns="0" rtlCol="0" anchor="t"/>
          <a:lstStyle/>
          <a:p>
            <a:pPr marL="0" indent="0">
              <a:buNone/>
            </a:pPr>
            <a:r>
              <a:rPr lang="en-US" sz="1250" b="1" dirty="0">
                <a:solidFill>
                  <a:srgbClr val="B04A2F"/>
                </a:solidFill>
                <a:latin typeface="Calibri" pitchFamily="34" charset="0"/>
                <a:ea typeface="Calibri" pitchFamily="34" charset="-122"/>
                <a:cs typeface="Calibri" pitchFamily="34" charset="-120"/>
              </a:rPr>
              <a:t>Point at the arrow</a:t>
            </a:r>
            <a:endParaRPr lang="en-US" sz="1250" dirty="0"/>
          </a:p>
        </p:txBody>
      </p:sp>
      <p:sp>
        <p:nvSpPr>
          <p:cNvPr id="11" name="Text 9"/>
          <p:cNvSpPr/>
          <p:nvPr/>
        </p:nvSpPr>
        <p:spPr>
          <a:xfrm>
            <a:off x="7040880" y="2340864"/>
            <a:ext cx="4389120" cy="365760"/>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models list marks the served version. v004 at 0.4701 is promoted; v001 at 0.5100 is the fallback; v003 sits archived at its corrected 0.5131.</a:t>
            </a:r>
            <a:endParaRPr lang="en-US" sz="1050" dirty="0"/>
          </a:p>
        </p:txBody>
      </p:sp>
      <p:sp>
        <p:nvSpPr>
          <p:cNvPr id="12" name="Shape 10"/>
          <p:cNvSpPr/>
          <p:nvPr/>
        </p:nvSpPr>
        <p:spPr>
          <a:xfrm>
            <a:off x="6830568" y="2871216"/>
            <a:ext cx="4791456" cy="749808"/>
          </a:xfrm>
          <a:prstGeom prst="roundRect">
            <a:avLst>
              <a:gd name="adj" fmla="val 9756"/>
            </a:avLst>
          </a:prstGeom>
          <a:solidFill>
            <a:srgbClr val="F3F1EF"/>
          </a:solidFill>
          <a:ln/>
          <a:effectLst>
            <a:outerShdw blurRad="101600" dist="25400" dir="5400000" algn="bl" rotWithShape="0">
              <a:srgbClr val="9A9088">
                <a:alpha val="28000"/>
              </a:srgbClr>
            </a:outerShdw>
          </a:effectLst>
        </p:spPr>
      </p:sp>
      <p:sp>
        <p:nvSpPr>
          <p:cNvPr id="13" name="Text 11"/>
          <p:cNvSpPr/>
          <p:nvPr/>
        </p:nvSpPr>
        <p:spPr>
          <a:xfrm>
            <a:off x="7040880" y="2953512"/>
            <a:ext cx="4389120" cy="256032"/>
          </a:xfrm>
          <a:prstGeom prst="rect">
            <a:avLst/>
          </a:prstGeom>
          <a:noFill/>
          <a:ln/>
        </p:spPr>
        <p:txBody>
          <a:bodyPr wrap="square" lIns="0" tIns="0" rIns="0" bIns="0" rtlCol="0" anchor="t"/>
          <a:lstStyle/>
          <a:p>
            <a:pPr marL="0" indent="0">
              <a:buNone/>
            </a:pPr>
            <a:r>
              <a:rPr lang="en-US" sz="1250" b="1" dirty="0">
                <a:solidFill>
                  <a:srgbClr val="B04A2F"/>
                </a:solidFill>
                <a:latin typeface="Calibri" pitchFamily="34" charset="0"/>
                <a:ea typeface="Calibri" pitchFamily="34" charset="-122"/>
                <a:cs typeface="Calibri" pitchFamily="34" charset="-120"/>
              </a:rPr>
              <a:t>Then show the app dropdown</a:t>
            </a:r>
            <a:endParaRPr lang="en-US" sz="1250" dirty="0"/>
          </a:p>
        </p:txBody>
      </p:sp>
      <p:sp>
        <p:nvSpPr>
          <p:cNvPr id="14" name="Text 12"/>
          <p:cNvSpPr/>
          <p:nvPr/>
        </p:nvSpPr>
        <p:spPr>
          <a:xfrm>
            <a:off x="7040880" y="3209544"/>
            <a:ext cx="4389120" cy="365760"/>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The same switch is a Model version dropdown in the Gradio app. If a newly promoted model misbehaves mid-demo, you swap it live.</a:t>
            </a:r>
            <a:endParaRPr lang="en-US" sz="1050" dirty="0"/>
          </a:p>
        </p:txBody>
      </p:sp>
      <p:sp>
        <p:nvSpPr>
          <p:cNvPr id="15" name="Shape 13"/>
          <p:cNvSpPr/>
          <p:nvPr/>
        </p:nvSpPr>
        <p:spPr>
          <a:xfrm>
            <a:off x="6830568" y="3739896"/>
            <a:ext cx="4791456" cy="749808"/>
          </a:xfrm>
          <a:prstGeom prst="roundRect">
            <a:avLst>
              <a:gd name="adj" fmla="val 9756"/>
            </a:avLst>
          </a:prstGeom>
          <a:solidFill>
            <a:srgbClr val="F3F1EF"/>
          </a:solidFill>
          <a:ln/>
          <a:effectLst>
            <a:outerShdw blurRad="101600" dist="25400" dir="5400000" algn="bl" rotWithShape="0">
              <a:srgbClr val="9A9088">
                <a:alpha val="28000"/>
              </a:srgbClr>
            </a:outerShdw>
          </a:effectLst>
        </p:spPr>
      </p:sp>
      <p:sp>
        <p:nvSpPr>
          <p:cNvPr id="16" name="Text 14"/>
          <p:cNvSpPr/>
          <p:nvPr/>
        </p:nvSpPr>
        <p:spPr>
          <a:xfrm>
            <a:off x="7040880" y="3822192"/>
            <a:ext cx="4389120" cy="256032"/>
          </a:xfrm>
          <a:prstGeom prst="rect">
            <a:avLst/>
          </a:prstGeom>
          <a:noFill/>
          <a:ln/>
        </p:spPr>
        <p:txBody>
          <a:bodyPr wrap="square" lIns="0" tIns="0" rIns="0" bIns="0" rtlCol="0" anchor="t"/>
          <a:lstStyle/>
          <a:p>
            <a:pPr marL="0" indent="0">
              <a:buNone/>
            </a:pPr>
            <a:r>
              <a:rPr lang="en-US" sz="1250" b="1" dirty="0">
                <a:solidFill>
                  <a:srgbClr val="B04A2F"/>
                </a:solidFill>
                <a:latin typeface="Calibri" pitchFamily="34" charset="0"/>
                <a:ea typeface="Calibri" pitchFamily="34" charset="-122"/>
                <a:cs typeface="Calibri" pitchFamily="34" charset="-120"/>
              </a:rPr>
              <a:t>Make the governance point</a:t>
            </a:r>
            <a:endParaRPr lang="en-US" sz="1250" dirty="0"/>
          </a:p>
        </p:txBody>
      </p:sp>
      <p:sp>
        <p:nvSpPr>
          <p:cNvPr id="17" name="Text 15"/>
          <p:cNvSpPr/>
          <p:nvPr/>
        </p:nvSpPr>
        <p:spPr>
          <a:xfrm>
            <a:off x="7040880" y="4078224"/>
            <a:ext cx="4389120" cy="365760"/>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For a court deployment this matters more than the accuracy number: you can always say exactly which model produced a given transcript, and go back.</a:t>
            </a:r>
            <a:endParaRPr lang="en-US" sz="1050" dirty="0"/>
          </a:p>
        </p:txBody>
      </p:sp>
      <p:sp>
        <p:nvSpPr>
          <p:cNvPr id="18" name="Shape 16"/>
          <p:cNvSpPr/>
          <p:nvPr/>
        </p:nvSpPr>
        <p:spPr>
          <a:xfrm>
            <a:off x="566928" y="4709160"/>
            <a:ext cx="11055096" cy="1298448"/>
          </a:xfrm>
          <a:prstGeom prst="roundRect">
            <a:avLst>
              <a:gd name="adj" fmla="val 5634"/>
            </a:avLst>
          </a:prstGeom>
          <a:solidFill>
            <a:srgbClr val="1C1A17"/>
          </a:solidFill>
          <a:ln/>
          <a:effectLst>
            <a:outerShdw blurRad="101600" dist="25400" dir="5400000" algn="bl" rotWithShape="0">
              <a:srgbClr val="9A9088">
                <a:alpha val="28000"/>
              </a:srgbClr>
            </a:outerShdw>
          </a:effectLst>
        </p:spPr>
      </p:sp>
      <p:sp>
        <p:nvSpPr>
          <p:cNvPr id="19" name="Text 17"/>
          <p:cNvSpPr/>
          <p:nvPr/>
        </p:nvSpPr>
        <p:spPr>
          <a:xfrm>
            <a:off x="859536" y="4855464"/>
            <a:ext cx="10424160" cy="310896"/>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 demo-safety argument</a:t>
            </a:r>
            <a:endParaRPr lang="en-US" sz="1900" dirty="0"/>
          </a:p>
        </p:txBody>
      </p:sp>
      <p:sp>
        <p:nvSpPr>
          <p:cNvPr id="20" name="Text 18"/>
          <p:cNvSpPr/>
          <p:nvPr/>
        </p:nvSpPr>
        <p:spPr>
          <a:xfrm>
            <a:off x="859536" y="5202936"/>
            <a:ext cx="10424160" cy="685800"/>
          </a:xfrm>
          <a:prstGeom prst="rect">
            <a:avLst/>
          </a:prstGeom>
          <a:noFill/>
          <a:ln/>
        </p:spPr>
        <p:txBody>
          <a:bodyPr wrap="square" lIns="0" tIns="0" rIns="0" bIns="0" rtlCol="0" anchor="t"/>
          <a:lstStyle/>
          <a:p>
            <a:pPr marL="0" indent="0">
              <a:lnSpc>
                <a:spcPct val="112000"/>
              </a:lnSpc>
              <a:buNone/>
            </a:pPr>
            <a:r>
              <a:rPr lang="en-US" sz="1350" dirty="0">
                <a:solidFill>
                  <a:srgbClr val="D9D2C9"/>
                </a:solidFill>
                <a:latin typeface="Calibri" pitchFamily="34" charset="0"/>
                <a:ea typeface="Calibri" pitchFamily="34" charset="-122"/>
                <a:cs typeface="Calibri" pitchFamily="34" charset="-120"/>
              </a:rPr>
              <a:t>Publishing and promoting are separate on purpose. Every run is archived so it can be compared; only a run that beats the current word error rate is ever served. That single rule is why a nine-times-larger training run could not quietly destroy this presentation.</a:t>
            </a:r>
            <a:endParaRPr lang="en-US" sz="1350" dirty="0"/>
          </a:p>
        </p:txBody>
      </p:sp>
      <p:sp>
        <p:nvSpPr>
          <p:cNvPr id="22" name="Text 19"/>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03</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data story</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Three public Akan corpora, one 494-hour corpus that will not train, and eight hours of customary court audio with no transcripts yet.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What we have to train on</a:t>
            </a:r>
            <a:endParaRPr lang="en-US" sz="3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435608"/>
          <a:ext cx="11055096" cy="2066544"/>
        </p:xfrm>
        <a:graphic>
          <a:graphicData uri="http://schemas.openxmlformats.org/drawingml/2006/table">
            <a:tbl>
              <a:tblPr/>
              <a:tblGrid>
                <a:gridCol w="3794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261872">
                  <a:extLst>
                    <a:ext uri="{9D8B030D-6E8A-4147-A177-3AD203B41FA5}">
                      <a16:colId xmlns:a16="http://schemas.microsoft.com/office/drawing/2014/main" val="20005"/>
                    </a:ext>
                  </a:extLst>
                </a:gridCol>
                <a:gridCol w="1152144">
                  <a:extLst>
                    <a:ext uri="{9D8B030D-6E8A-4147-A177-3AD203B41FA5}">
                      <a16:colId xmlns:a16="http://schemas.microsoft.com/office/drawing/2014/main" val="20006"/>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Corpus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Clips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Hours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Clip length</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Licence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Used?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ghanaopendata/twi-speech-text-multispeaker-16k</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15,560</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9.1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0.04 – 7.0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Religious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Open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b="1" dirty="0">
                          <a:solidFill>
                            <a:srgbClr val="5F7A6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Lagyamfi/akan_audio_processed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2,446</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3.2 + 0.3</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1.5 – 16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Bible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MIT, gated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b="1" dirty="0">
                          <a:solidFill>
                            <a:srgbClr val="5F7A62"/>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ghananlpcommunity/twi-health-asr-gemini-500hrs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59,291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494.1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30.00 s exactly</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Health / media</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CC-BY-NC-4.0</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b="1" dirty="0">
                          <a:solidFill>
                            <a:srgbClr val="B04A2F"/>
                          </a:solidFill>
                          <a:latin typeface="Calibri" pitchFamily="34" charset="0"/>
                          <a:ea typeface="Calibri" pitchFamily="34" charset="-122"/>
                          <a:cs typeface="Calibri" pitchFamily="34" charset="-120"/>
                        </a:rPr>
                        <a:t>FAILED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1C1A17"/>
                          </a:solidFill>
                          <a:latin typeface="Calibri" pitchFamily="34" charset="0"/>
                          <a:ea typeface="Calibri" pitchFamily="34" charset="-122"/>
                          <a:cs typeface="Calibri" pitchFamily="34" charset="-120"/>
                        </a:rPr>
                        <a:t>Customary court recordings (RAIL)</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Full hearings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Customary court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To be agreed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b="1" dirty="0">
                          <a:solidFill>
                            <a:srgbClr val="B04A2F"/>
                          </a:solidFill>
                          <a:latin typeface="Calibri" pitchFamily="34" charset="0"/>
                          <a:ea typeface="Calibri" pitchFamily="34" charset="-122"/>
                          <a:cs typeface="Calibri" pitchFamily="34" charset="-120"/>
                        </a:rPr>
                        <a:t>NO LABELS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566928" y="3721608"/>
          <a:ext cx="60350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876288" y="3721608"/>
            <a:ext cx="4745736" cy="713232"/>
          </a:xfrm>
          <a:prstGeom prst="roundRect">
            <a:avLst>
              <a:gd name="adj" fmla="val 10256"/>
            </a:avLst>
          </a:prstGeom>
          <a:solidFill>
            <a:srgbClr val="F3F1EF"/>
          </a:solidFill>
          <a:ln/>
          <a:effectLst>
            <a:outerShdw blurRad="101600" dist="25400" dir="5400000" algn="bl" rotWithShape="0">
              <a:srgbClr val="9A9088">
                <a:alpha val="28000"/>
              </a:srgbClr>
            </a:outerShdw>
          </a:effectLst>
        </p:spPr>
      </p:sp>
      <p:sp>
        <p:nvSpPr>
          <p:cNvPr id="7" name="Shape 3"/>
          <p:cNvSpPr/>
          <p:nvPr/>
        </p:nvSpPr>
        <p:spPr>
          <a:xfrm>
            <a:off x="7077456" y="3913632"/>
            <a:ext cx="274320" cy="274320"/>
          </a:xfrm>
          <a:prstGeom prst="ellipse">
            <a:avLst/>
          </a:prstGeom>
          <a:solidFill>
            <a:srgbClr val="B04A2F"/>
          </a:solidFill>
          <a:ln/>
        </p:spPr>
      </p:sp>
      <p:sp>
        <p:nvSpPr>
          <p:cNvPr id="8" name="Text 4"/>
          <p:cNvSpPr/>
          <p:nvPr/>
        </p:nvSpPr>
        <p:spPr>
          <a:xfrm>
            <a:off x="7461504" y="3813048"/>
            <a:ext cx="4023360" cy="256032"/>
          </a:xfrm>
          <a:prstGeom prst="rect">
            <a:avLst/>
          </a:prstGeom>
          <a:noFill/>
          <a:ln/>
        </p:spPr>
        <p:txBody>
          <a:bodyPr wrap="square" lIns="0" tIns="0" rIns="0" bIns="0" rtlCol="0" anchor="t"/>
          <a:lstStyle/>
          <a:p>
            <a:pPr marL="0" indent="0">
              <a:buNone/>
            </a:pPr>
            <a:r>
              <a:rPr lang="en-US" sz="1200" b="1" dirty="0">
                <a:solidFill>
                  <a:srgbClr val="1C1A17"/>
                </a:solidFill>
                <a:latin typeface="Calibri" pitchFamily="34" charset="0"/>
                <a:ea typeface="Calibri" pitchFamily="34" charset="-122"/>
                <a:cs typeface="Calibri" pitchFamily="34" charset="-120"/>
              </a:rPr>
              <a:t>All three public corpora are religious or health</a:t>
            </a:r>
            <a:endParaRPr lang="en-US" sz="1200" dirty="0"/>
          </a:p>
        </p:txBody>
      </p:sp>
      <p:sp>
        <p:nvSpPr>
          <p:cNvPr id="9" name="Text 5"/>
          <p:cNvSpPr/>
          <p:nvPr/>
        </p:nvSpPr>
        <p:spPr>
          <a:xfrm>
            <a:off x="7461504" y="4050792"/>
            <a:ext cx="4023360" cy="329184"/>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None is spontaneous conversation, none is adversarial speech, and none is a courtroom.</a:t>
            </a:r>
            <a:endParaRPr lang="en-US" sz="1050" dirty="0"/>
          </a:p>
        </p:txBody>
      </p:sp>
      <p:sp>
        <p:nvSpPr>
          <p:cNvPr id="10" name="Shape 6"/>
          <p:cNvSpPr/>
          <p:nvPr/>
        </p:nvSpPr>
        <p:spPr>
          <a:xfrm>
            <a:off x="6876288" y="4507992"/>
            <a:ext cx="4745736" cy="713232"/>
          </a:xfrm>
          <a:prstGeom prst="roundRect">
            <a:avLst>
              <a:gd name="adj" fmla="val 10256"/>
            </a:avLst>
          </a:prstGeom>
          <a:solidFill>
            <a:srgbClr val="F3F1EF"/>
          </a:solidFill>
          <a:ln/>
          <a:effectLst>
            <a:outerShdw blurRad="101600" dist="25400" dir="5400000" algn="bl" rotWithShape="0">
              <a:srgbClr val="9A9088">
                <a:alpha val="28000"/>
              </a:srgbClr>
            </a:outerShdw>
          </a:effectLst>
        </p:spPr>
      </p:sp>
      <p:sp>
        <p:nvSpPr>
          <p:cNvPr id="11" name="Shape 7"/>
          <p:cNvSpPr/>
          <p:nvPr/>
        </p:nvSpPr>
        <p:spPr>
          <a:xfrm>
            <a:off x="7077456" y="4700016"/>
            <a:ext cx="274320" cy="274320"/>
          </a:xfrm>
          <a:prstGeom prst="ellipse">
            <a:avLst/>
          </a:prstGeom>
          <a:solidFill>
            <a:srgbClr val="D9A441"/>
          </a:solidFill>
          <a:ln/>
        </p:spPr>
      </p:sp>
      <p:sp>
        <p:nvSpPr>
          <p:cNvPr id="12" name="Text 8"/>
          <p:cNvSpPr/>
          <p:nvPr/>
        </p:nvSpPr>
        <p:spPr>
          <a:xfrm>
            <a:off x="7461504" y="4599432"/>
            <a:ext cx="4023360" cy="256032"/>
          </a:xfrm>
          <a:prstGeom prst="rect">
            <a:avLst/>
          </a:prstGeom>
          <a:noFill/>
          <a:ln/>
        </p:spPr>
        <p:txBody>
          <a:bodyPr wrap="square" lIns="0" tIns="0" rIns="0" bIns="0" rtlCol="0" anchor="t"/>
          <a:lstStyle/>
          <a:p>
            <a:pPr marL="0" indent="0">
              <a:buNone/>
            </a:pPr>
            <a:r>
              <a:rPr lang="en-US" sz="1200" b="1" dirty="0">
                <a:solidFill>
                  <a:srgbClr val="1C1A17"/>
                </a:solidFill>
                <a:latin typeface="Calibri" pitchFamily="34" charset="0"/>
                <a:ea typeface="Calibri" pitchFamily="34" charset="-122"/>
                <a:cs typeface="Calibri" pitchFamily="34" charset="-120"/>
              </a:rPr>
              <a:t>The big one is the wrong shape</a:t>
            </a:r>
            <a:endParaRPr lang="en-US" sz="1200" dirty="0"/>
          </a:p>
        </p:txBody>
      </p:sp>
      <p:sp>
        <p:nvSpPr>
          <p:cNvPr id="13" name="Text 9"/>
          <p:cNvSpPr/>
          <p:nvPr/>
        </p:nvSpPr>
        <p:spPr>
          <a:xfrm>
            <a:off x="7461504" y="4837176"/>
            <a:ext cx="4023360" cy="329184"/>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494 hours in clips of exactly 30.00 seconds with machine-generated transcripts. It broke training — see the next section.</a:t>
            </a:r>
            <a:endParaRPr lang="en-US" sz="1050" dirty="0"/>
          </a:p>
        </p:txBody>
      </p:sp>
      <p:sp>
        <p:nvSpPr>
          <p:cNvPr id="14" name="Shape 10"/>
          <p:cNvSpPr/>
          <p:nvPr/>
        </p:nvSpPr>
        <p:spPr>
          <a:xfrm>
            <a:off x="6876288" y="5294376"/>
            <a:ext cx="4745736" cy="713232"/>
          </a:xfrm>
          <a:prstGeom prst="roundRect">
            <a:avLst>
              <a:gd name="adj" fmla="val 10256"/>
            </a:avLst>
          </a:prstGeom>
          <a:solidFill>
            <a:srgbClr val="F3F1EF"/>
          </a:solidFill>
          <a:ln/>
          <a:effectLst>
            <a:outerShdw blurRad="101600" dist="25400" dir="5400000" algn="bl" rotWithShape="0">
              <a:srgbClr val="9A9088">
                <a:alpha val="28000"/>
              </a:srgbClr>
            </a:outerShdw>
          </a:effectLst>
        </p:spPr>
      </p:sp>
      <p:sp>
        <p:nvSpPr>
          <p:cNvPr id="15" name="Shape 11"/>
          <p:cNvSpPr/>
          <p:nvPr/>
        </p:nvSpPr>
        <p:spPr>
          <a:xfrm>
            <a:off x="7077456" y="5486400"/>
            <a:ext cx="274320" cy="274320"/>
          </a:xfrm>
          <a:prstGeom prst="ellipse">
            <a:avLst/>
          </a:prstGeom>
          <a:solidFill>
            <a:srgbClr val="5F7A62"/>
          </a:solidFill>
          <a:ln/>
        </p:spPr>
      </p:sp>
      <p:sp>
        <p:nvSpPr>
          <p:cNvPr id="16" name="Text 12"/>
          <p:cNvSpPr/>
          <p:nvPr/>
        </p:nvSpPr>
        <p:spPr>
          <a:xfrm>
            <a:off x="7461504" y="5385816"/>
            <a:ext cx="4023360" cy="256032"/>
          </a:xfrm>
          <a:prstGeom prst="rect">
            <a:avLst/>
          </a:prstGeom>
          <a:noFill/>
          <a:ln/>
        </p:spPr>
        <p:txBody>
          <a:bodyPr wrap="square" lIns="0" tIns="0" rIns="0" bIns="0" rtlCol="0" anchor="t"/>
          <a:lstStyle/>
          <a:p>
            <a:pPr marL="0" indent="0">
              <a:buNone/>
            </a:pPr>
            <a:r>
              <a:rPr lang="en-US" sz="1200" b="1" dirty="0">
                <a:solidFill>
                  <a:srgbClr val="1C1A17"/>
                </a:solidFill>
                <a:latin typeface="Calibri" pitchFamily="34" charset="0"/>
                <a:ea typeface="Calibri" pitchFamily="34" charset="-122"/>
                <a:cs typeface="Calibri" pitchFamily="34" charset="-120"/>
              </a:rPr>
              <a:t>A hidden duplication trap</a:t>
            </a:r>
            <a:endParaRPr lang="en-US" sz="1200" dirty="0"/>
          </a:p>
        </p:txBody>
      </p:sp>
      <p:sp>
        <p:nvSpPr>
          <p:cNvPr id="17" name="Text 13"/>
          <p:cNvSpPr/>
          <p:nvPr/>
        </p:nvSpPr>
        <p:spPr>
          <a:xfrm>
            <a:off x="7461504" y="5623560"/>
            <a:ext cx="4023360" cy="329184"/>
          </a:xfrm>
          <a:prstGeom prst="rect">
            <a:avLst/>
          </a:prstGeom>
          <a:noFill/>
          <a:ln/>
        </p:spPr>
        <p:txBody>
          <a:bodyPr wrap="square" lIns="0" tIns="0" rIns="0" bIns="0" rtlCol="0" anchor="t"/>
          <a:lstStyle/>
          <a:p>
            <a:pPr marL="0" indent="0">
              <a:lnSpc>
                <a:spcPct val="105000"/>
              </a:lnSpc>
              <a:buNone/>
            </a:pPr>
            <a:r>
              <a:rPr lang="en-US" sz="1050" dirty="0">
                <a:solidFill>
                  <a:srgbClr val="6B6560"/>
                </a:solidFill>
                <a:latin typeface="Calibri" pitchFamily="34" charset="0"/>
                <a:ea typeface="Calibri" pitchFamily="34" charset="-122"/>
                <a:cs typeface="Calibri" pitchFamily="34" charset="-120"/>
              </a:rPr>
              <a:t>Lagyamfi advertises 26,906 rows across 22 splits. That is 2,446 unique clips duplicated 11 times. We use the base splits only.</a:t>
            </a:r>
            <a:endParaRPr lang="en-US" sz="1050" dirty="0"/>
          </a:p>
        </p:txBody>
      </p:sp>
      <p:sp>
        <p:nvSpPr>
          <p:cNvPr id="19" name="Text 14"/>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§6, data/info.md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eight hours of customary court audio</a:t>
            </a:r>
            <a:endParaRPr lang="en-US" sz="3300" dirty="0"/>
          </a:p>
        </p:txBody>
      </p:sp>
      <p:sp>
        <p:nvSpPr>
          <p:cNvPr id="4" name="Shape 2"/>
          <p:cNvSpPr/>
          <p:nvPr/>
        </p:nvSpPr>
        <p:spPr>
          <a:xfrm>
            <a:off x="566928" y="1435608"/>
            <a:ext cx="11055096" cy="868680"/>
          </a:xfrm>
          <a:prstGeom prst="roundRect">
            <a:avLst>
              <a:gd name="adj" fmla="val 8421"/>
            </a:avLst>
          </a:prstGeom>
          <a:solidFill>
            <a:srgbClr val="1C1A17"/>
          </a:solidFill>
          <a:ln/>
          <a:effectLst>
            <a:outerShdw blurRad="101600" dist="25400" dir="5400000" algn="bl" rotWithShape="0">
              <a:srgbClr val="9A9088">
                <a:alpha val="28000"/>
              </a:srgbClr>
            </a:outerShdw>
          </a:effectLst>
        </p:spPr>
      </p:sp>
      <p:sp>
        <p:nvSpPr>
          <p:cNvPr id="5" name="Text 3"/>
          <p:cNvSpPr/>
          <p:nvPr/>
        </p:nvSpPr>
        <p:spPr>
          <a:xfrm>
            <a:off x="859536" y="1618488"/>
            <a:ext cx="10424160" cy="548640"/>
          </a:xfrm>
          <a:prstGeom prst="rect">
            <a:avLst/>
          </a:prstGeom>
          <a:noFill/>
          <a:ln/>
        </p:spPr>
        <p:txBody>
          <a:bodyPr wrap="square" lIns="0" tIns="0" rIns="0" bIns="0" rtlCol="0" anchor="ctr"/>
          <a:lstStyle/>
          <a:p>
            <a:pPr marL="0" indent="0">
              <a:buNone/>
            </a:pPr>
            <a:r>
              <a:rPr lang="en-US" sz="1900" dirty="0">
                <a:solidFill>
                  <a:srgbClr val="FFFFFF"/>
                </a:solidFill>
                <a:latin typeface="Cambria" pitchFamily="34" charset="0"/>
                <a:ea typeface="Cambria" pitchFamily="34" charset="-122"/>
                <a:cs typeface="Cambria" pitchFamily="34" charset="-120"/>
              </a:rPr>
              <a:t>Current status: raw recordings only. No transcripts, no speaker labels, no alignment. This is a pilot corpus and a work plan, not a training set.</a:t>
            </a:r>
            <a:endParaRPr lang="en-US" sz="1900" dirty="0"/>
          </a:p>
        </p:txBody>
      </p:sp>
      <p:sp>
        <p:nvSpPr>
          <p:cNvPr id="6" name="Shape 4"/>
          <p:cNvSpPr/>
          <p:nvPr/>
        </p:nvSpPr>
        <p:spPr>
          <a:xfrm>
            <a:off x="566928" y="2487168"/>
            <a:ext cx="3529584"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7" name="Text 5"/>
          <p:cNvSpPr/>
          <p:nvPr/>
        </p:nvSpPr>
        <p:spPr>
          <a:xfrm>
            <a:off x="731520" y="2615184"/>
            <a:ext cx="3200400" cy="658368"/>
          </a:xfrm>
          <a:prstGeom prst="rect">
            <a:avLst/>
          </a:prstGeom>
          <a:noFill/>
          <a:ln/>
        </p:spPr>
        <p:txBody>
          <a:bodyPr wrap="square" lIns="0" tIns="0" rIns="0" bIns="0" rtlCol="0" anchor="ctr"/>
          <a:lstStyle/>
          <a:p>
            <a:pPr marL="0" indent="0">
              <a:buNone/>
            </a:pPr>
            <a:r>
              <a:rPr lang="en-US" sz="4000" b="1" dirty="0">
                <a:solidFill>
                  <a:srgbClr val="B04A2F"/>
                </a:solidFill>
                <a:latin typeface="Cambria" pitchFamily="34" charset="0"/>
                <a:ea typeface="Cambria" pitchFamily="34" charset="-122"/>
                <a:cs typeface="Cambria" pitchFamily="34" charset="-120"/>
              </a:rPr>
              <a:t>~8 h</a:t>
            </a:r>
            <a:endParaRPr lang="en-US" sz="4000" dirty="0"/>
          </a:p>
        </p:txBody>
      </p:sp>
      <p:sp>
        <p:nvSpPr>
          <p:cNvPr id="8" name="Text 6"/>
          <p:cNvSpPr/>
          <p:nvPr/>
        </p:nvSpPr>
        <p:spPr>
          <a:xfrm>
            <a:off x="731520" y="3291840"/>
            <a:ext cx="3200400"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Court audio collected</a:t>
            </a:r>
            <a:endParaRPr lang="en-US" sz="1300" dirty="0"/>
          </a:p>
        </p:txBody>
      </p:sp>
      <p:sp>
        <p:nvSpPr>
          <p:cNvPr id="9" name="Text 7"/>
          <p:cNvSpPr/>
          <p:nvPr/>
        </p:nvSpPr>
        <p:spPr>
          <a:xfrm>
            <a:off x="731520" y="3566160"/>
            <a:ext cx="3200400"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Real customary court proceedings, the target domain</a:t>
            </a:r>
            <a:endParaRPr lang="en-US" sz="1050" dirty="0"/>
          </a:p>
        </p:txBody>
      </p:sp>
      <p:sp>
        <p:nvSpPr>
          <p:cNvPr id="10" name="Shape 8"/>
          <p:cNvSpPr/>
          <p:nvPr/>
        </p:nvSpPr>
        <p:spPr>
          <a:xfrm>
            <a:off x="4325112" y="2487168"/>
            <a:ext cx="3529584"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11" name="Text 9"/>
          <p:cNvSpPr/>
          <p:nvPr/>
        </p:nvSpPr>
        <p:spPr>
          <a:xfrm>
            <a:off x="4489704" y="2615184"/>
            <a:ext cx="3200400" cy="658368"/>
          </a:xfrm>
          <a:prstGeom prst="rect">
            <a:avLst/>
          </a:prstGeom>
          <a:noFill/>
          <a:ln/>
        </p:spPr>
        <p:txBody>
          <a:bodyPr wrap="square" lIns="0" tIns="0" rIns="0" bIns="0" rtlCol="0" anchor="ctr"/>
          <a:lstStyle/>
          <a:p>
            <a:pPr marL="0" indent="0">
              <a:buNone/>
            </a:pPr>
            <a:r>
              <a:rPr lang="en-US" sz="4000" b="1" dirty="0">
                <a:solidFill>
                  <a:srgbClr val="B04A2F"/>
                </a:solidFill>
                <a:latin typeface="Cambria" pitchFamily="34" charset="0"/>
                <a:ea typeface="Cambria" pitchFamily="34" charset="-122"/>
                <a:cs typeface="Cambria" pitchFamily="34" charset="-120"/>
              </a:rPr>
              <a:t>1 h</a:t>
            </a:r>
            <a:endParaRPr lang="en-US" sz="4000" dirty="0"/>
          </a:p>
        </p:txBody>
      </p:sp>
      <p:sp>
        <p:nvSpPr>
          <p:cNvPr id="12" name="Text 10"/>
          <p:cNvSpPr/>
          <p:nvPr/>
        </p:nvSpPr>
        <p:spPr>
          <a:xfrm>
            <a:off x="4489704" y="3291840"/>
            <a:ext cx="3200400"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Transcribed and aligned</a:t>
            </a:r>
            <a:endParaRPr lang="en-US" sz="1300" dirty="0"/>
          </a:p>
        </p:txBody>
      </p:sp>
      <p:sp>
        <p:nvSpPr>
          <p:cNvPr id="13" name="Text 11"/>
          <p:cNvSpPr/>
          <p:nvPr/>
        </p:nvSpPr>
        <p:spPr>
          <a:xfrm>
            <a:off x="4489704" y="3566160"/>
            <a:ext cx="3200400"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Nothing is usable for training or evaluation yet</a:t>
            </a:r>
            <a:endParaRPr lang="en-US" sz="1050" dirty="0"/>
          </a:p>
        </p:txBody>
      </p:sp>
      <p:sp>
        <p:nvSpPr>
          <p:cNvPr id="14" name="Shape 12"/>
          <p:cNvSpPr/>
          <p:nvPr/>
        </p:nvSpPr>
        <p:spPr>
          <a:xfrm>
            <a:off x="8083296" y="2487168"/>
            <a:ext cx="3538728"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15" name="Text 13"/>
          <p:cNvSpPr/>
          <p:nvPr/>
        </p:nvSpPr>
        <p:spPr>
          <a:xfrm>
            <a:off x="8247888" y="2615184"/>
            <a:ext cx="3209544" cy="658368"/>
          </a:xfrm>
          <a:prstGeom prst="rect">
            <a:avLst/>
          </a:prstGeom>
          <a:noFill/>
          <a:ln/>
        </p:spPr>
        <p:txBody>
          <a:bodyPr wrap="square" lIns="0" tIns="0" rIns="0" bIns="0"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0.65x</a:t>
            </a:r>
            <a:endParaRPr lang="en-US" sz="4000" dirty="0"/>
          </a:p>
        </p:txBody>
      </p:sp>
      <p:sp>
        <p:nvSpPr>
          <p:cNvPr id="16" name="Text 14"/>
          <p:cNvSpPr/>
          <p:nvPr/>
        </p:nvSpPr>
        <p:spPr>
          <a:xfrm>
            <a:off x="8247888" y="3291840"/>
            <a:ext cx="3209544"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vs current training set</a:t>
            </a:r>
            <a:endParaRPr lang="en-US" sz="1300" dirty="0"/>
          </a:p>
        </p:txBody>
      </p:sp>
      <p:sp>
        <p:nvSpPr>
          <p:cNvPr id="17" name="Text 15"/>
          <p:cNvSpPr/>
          <p:nvPr/>
        </p:nvSpPr>
        <p:spPr>
          <a:xfrm>
            <a:off x="8247888" y="3566160"/>
            <a:ext cx="3209544"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8 hours against the 12.3 hours the model was built on</a:t>
            </a:r>
            <a:endParaRPr lang="en-US" sz="1050" dirty="0"/>
          </a:p>
        </p:txBody>
      </p:sp>
      <p:sp>
        <p:nvSpPr>
          <p:cNvPr id="18" name="Shape 16"/>
          <p:cNvSpPr/>
          <p:nvPr/>
        </p:nvSpPr>
        <p:spPr>
          <a:xfrm>
            <a:off x="566928" y="4224528"/>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19" name="Text 17"/>
          <p:cNvSpPr/>
          <p:nvPr/>
        </p:nvSpPr>
        <p:spPr>
          <a:xfrm>
            <a:off x="804672" y="4379976"/>
            <a:ext cx="3054096" cy="512064"/>
          </a:xfrm>
          <a:prstGeom prst="rect">
            <a:avLst/>
          </a:prstGeom>
          <a:noFill/>
          <a:ln/>
        </p:spPr>
        <p:txBody>
          <a:bodyPr wrap="square" lIns="0" tIns="0" rIns="0" bIns="0" rtlCol="0" anchor="t"/>
          <a:lstStyle/>
          <a:p>
            <a:pPr marL="0" indent="0">
              <a:lnSpc>
                <a:spcPct val="100000"/>
              </a:lnSpc>
              <a:buNone/>
            </a:pPr>
            <a:r>
              <a:rPr lang="en-US" sz="1600" b="1" dirty="0">
                <a:solidFill>
                  <a:srgbClr val="1C1A17"/>
                </a:solidFill>
                <a:latin typeface="Cambria" pitchFamily="34" charset="0"/>
                <a:ea typeface="Cambria" pitchFamily="34" charset="-122"/>
                <a:cs typeface="Cambria" pitchFamily="34" charset="-120"/>
              </a:rPr>
              <a:t>What eight hours is enough for</a:t>
            </a:r>
            <a:endParaRPr lang="en-US" sz="1600" dirty="0"/>
          </a:p>
        </p:txBody>
      </p:sp>
      <p:sp>
        <p:nvSpPr>
          <p:cNvPr id="20" name="Text 18"/>
          <p:cNvSpPr/>
          <p:nvPr/>
        </p:nvSpPr>
        <p:spPr>
          <a:xfrm>
            <a:off x="804672" y="4873752"/>
            <a:ext cx="3054096" cy="10058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A domain-specific evaluation set, fine-tuning on top of an existing model, and an honest measurement of how far the current model is from courtroom-ready. It is not enough to train from scratch — but we already know 12.3 hours is.</a:t>
            </a:r>
            <a:endParaRPr lang="en-US" sz="1150" dirty="0"/>
          </a:p>
        </p:txBody>
      </p:sp>
      <p:sp>
        <p:nvSpPr>
          <p:cNvPr id="21" name="Shape 19"/>
          <p:cNvSpPr/>
          <p:nvPr/>
        </p:nvSpPr>
        <p:spPr>
          <a:xfrm>
            <a:off x="4325112" y="4224528"/>
            <a:ext cx="3529584" cy="1810512"/>
          </a:xfrm>
          <a:prstGeom prst="roundRect">
            <a:avLst>
              <a:gd name="adj" fmla="val 4040"/>
            </a:avLst>
          </a:prstGeom>
          <a:solidFill>
            <a:srgbClr val="E9E5E1"/>
          </a:solidFill>
          <a:ln/>
          <a:effectLst>
            <a:outerShdw blurRad="101600" dist="25400" dir="5400000" algn="bl" rotWithShape="0">
              <a:srgbClr val="9A9088">
                <a:alpha val="28000"/>
              </a:srgbClr>
            </a:outerShdw>
          </a:effectLst>
        </p:spPr>
      </p:sp>
      <p:sp>
        <p:nvSpPr>
          <p:cNvPr id="22" name="Text 20"/>
          <p:cNvSpPr/>
          <p:nvPr/>
        </p:nvSpPr>
        <p:spPr>
          <a:xfrm>
            <a:off x="4562856" y="4379976"/>
            <a:ext cx="3054096" cy="512064"/>
          </a:xfrm>
          <a:prstGeom prst="rect">
            <a:avLst/>
          </a:prstGeom>
          <a:noFill/>
          <a:ln/>
        </p:spPr>
        <p:txBody>
          <a:bodyPr wrap="square" lIns="0" tIns="0" rIns="0" bIns="0" rtlCol="0" anchor="t"/>
          <a:lstStyle/>
          <a:p>
            <a:pPr marL="0" indent="0">
              <a:lnSpc>
                <a:spcPct val="100000"/>
              </a:lnSpc>
              <a:buNone/>
            </a:pPr>
            <a:r>
              <a:rPr lang="en-US" sz="1600" b="1" dirty="0">
                <a:solidFill>
                  <a:srgbClr val="1C1A17"/>
                </a:solidFill>
                <a:latin typeface="Cambria" pitchFamily="34" charset="0"/>
                <a:ea typeface="Cambria" pitchFamily="34" charset="-122"/>
                <a:cs typeface="Cambria" pitchFamily="34" charset="-120"/>
              </a:rPr>
              <a:t>What it is not enough for</a:t>
            </a:r>
            <a:endParaRPr lang="en-US" sz="1600" dirty="0"/>
          </a:p>
        </p:txBody>
      </p:sp>
      <p:sp>
        <p:nvSpPr>
          <p:cNvPr id="23" name="Text 21"/>
          <p:cNvSpPr/>
          <p:nvPr/>
        </p:nvSpPr>
        <p:spPr>
          <a:xfrm>
            <a:off x="4562856" y="4873752"/>
            <a:ext cx="3054096" cy="10058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Replacing the public corpora. Covering the full range of speakers, dialects, courts and recording conditions in Ghana. Or, on its own, solving code-switching.</a:t>
            </a:r>
            <a:endParaRPr lang="en-US" sz="1150" dirty="0"/>
          </a:p>
        </p:txBody>
      </p:sp>
      <p:sp>
        <p:nvSpPr>
          <p:cNvPr id="24" name="Shape 22"/>
          <p:cNvSpPr/>
          <p:nvPr/>
        </p:nvSpPr>
        <p:spPr>
          <a:xfrm>
            <a:off x="8083296" y="4224528"/>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25" name="Text 23"/>
          <p:cNvSpPr/>
          <p:nvPr/>
        </p:nvSpPr>
        <p:spPr>
          <a:xfrm>
            <a:off x="8321040" y="4379976"/>
            <a:ext cx="3054096" cy="512064"/>
          </a:xfrm>
          <a:prstGeom prst="rect">
            <a:avLst/>
          </a:prstGeom>
          <a:noFill/>
          <a:ln/>
        </p:spPr>
        <p:txBody>
          <a:bodyPr wrap="square" lIns="0" tIns="0" rIns="0" bIns="0" rtlCol="0" anchor="t"/>
          <a:lstStyle/>
          <a:p>
            <a:pPr marL="0" indent="0">
              <a:lnSpc>
                <a:spcPct val="100000"/>
              </a:lnSpc>
              <a:buNone/>
            </a:pPr>
            <a:r>
              <a:rPr lang="en-US" sz="1600" b="1" dirty="0">
                <a:solidFill>
                  <a:srgbClr val="1C1A17"/>
                </a:solidFill>
                <a:latin typeface="Cambria" pitchFamily="34" charset="0"/>
                <a:ea typeface="Cambria" pitchFamily="34" charset="-122"/>
                <a:cs typeface="Cambria" pitchFamily="34" charset="-120"/>
              </a:rPr>
              <a:t>What has to happen first</a:t>
            </a:r>
            <a:endParaRPr lang="en-US" sz="1600" dirty="0"/>
          </a:p>
        </p:txBody>
      </p:sp>
      <p:sp>
        <p:nvSpPr>
          <p:cNvPr id="26" name="Text 24"/>
          <p:cNvSpPr/>
          <p:nvPr/>
        </p:nvSpPr>
        <p:spPr>
          <a:xfrm>
            <a:off x="8321040" y="4873752"/>
            <a:ext cx="3054096" cy="1005840"/>
          </a:xfrm>
          <a:prstGeom prst="rect">
            <a:avLst/>
          </a:prstGeom>
          <a:noFill/>
          <a:ln/>
        </p:spPr>
        <p:txBody>
          <a:bodyPr wrap="square" lIns="0" tIns="0" rIns="0" bIns="0" rtlCol="0" anchor="t"/>
          <a:lstStyle/>
          <a:p>
            <a:pPr marL="0" indent="0">
              <a:lnSpc>
                <a:spcPct val="110000"/>
              </a:lnSpc>
              <a:buNone/>
            </a:pPr>
            <a:r>
              <a:rPr lang="en-US" sz="1150" dirty="0">
                <a:solidFill>
                  <a:srgbClr val="6B6560"/>
                </a:solidFill>
                <a:latin typeface="Calibri" pitchFamily="34" charset="0"/>
                <a:ea typeface="Calibri" pitchFamily="34" charset="-122"/>
                <a:cs typeface="Calibri" pitchFamily="34" charset="-120"/>
              </a:rPr>
              <a:t>Transcription by Twi-literate annotators, a written annotation standard covering code-switching, speaker labelling, and consent and anonymisation agreed with the courts involved before anything is published.</a:t>
            </a:r>
            <a:endParaRPr lang="en-US" sz="1150" dirty="0"/>
          </a:p>
        </p:txBody>
      </p:sp>
      <p:sp>
        <p:nvSpPr>
          <p:cNvPr id="28" name="Text 25"/>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gap between our corpus and a courtroom</a:t>
            </a:r>
            <a:endParaRPr lang="en-US" sz="3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435608"/>
          <a:ext cx="11055096" cy="3218688"/>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3054096">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we trained on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 customary court hearing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Consequence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Speech style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Read and recited, one speaker at a time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Spontaneous, interrupted, argumentative, overlapping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Model has never heard hesitation, repair or overlap</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Language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Twi throughout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Twi with English code-switching mid-sentence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English acoustics were never trained; only the alphabet transfers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Vocabulary</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Religious and Bible register</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Legal and customary terms, names, places, oath formulas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Out-of-vocabulary words decode as plausible nonsense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Acoustics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Close-mic, low noise, 16 kHz</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Room reverberation, fans, traffic, distant microphones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Spectral gating is applied at inference; training-time augmentation is not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Speakers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Multi-speaker but unlabelled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Panel, parties, witnesses, clerk — roles matter</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Speaker labels are anonymous; role identification is not implemented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4773168"/>
            <a:ext cx="11055096" cy="1143000"/>
          </a:xfrm>
          <a:prstGeom prst="roundRect">
            <a:avLst>
              <a:gd name="adj" fmla="val 6400"/>
            </a:avLst>
          </a:prstGeom>
          <a:solidFill>
            <a:srgbClr val="1C1A17"/>
          </a:solidFill>
          <a:ln/>
          <a:effectLst>
            <a:outerShdw blurRad="101600" dist="25400" dir="5400000" algn="bl" rotWithShape="0">
              <a:srgbClr val="9A9088">
                <a:alpha val="28000"/>
              </a:srgbClr>
            </a:outerShdw>
          </a:effectLst>
        </p:spPr>
      </p:sp>
      <p:sp>
        <p:nvSpPr>
          <p:cNvPr id="6" name="Text 3"/>
          <p:cNvSpPr/>
          <p:nvPr/>
        </p:nvSpPr>
        <p:spPr>
          <a:xfrm>
            <a:off x="859536" y="4928616"/>
            <a:ext cx="3657600" cy="256032"/>
          </a:xfrm>
          <a:prstGeom prst="rect">
            <a:avLst/>
          </a:prstGeom>
          <a:noFill/>
          <a:ln/>
        </p:spPr>
        <p:txBody>
          <a:bodyPr wrap="square" lIns="0" tIns="0" rIns="0" bIns="0"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THE HONEST SUMMARY</a:t>
            </a:r>
            <a:endParaRPr lang="en-US" sz="1050" dirty="0"/>
          </a:p>
        </p:txBody>
      </p:sp>
      <p:sp>
        <p:nvSpPr>
          <p:cNvPr id="7" name="Text 4"/>
          <p:cNvSpPr/>
          <p:nvPr/>
        </p:nvSpPr>
        <p:spPr>
          <a:xfrm>
            <a:off x="859536" y="5221224"/>
            <a:ext cx="10424160" cy="658368"/>
          </a:xfrm>
          <a:prstGeom prst="rect">
            <a:avLst/>
          </a:prstGeom>
          <a:noFill/>
          <a:ln/>
        </p:spPr>
        <p:txBody>
          <a:bodyPr wrap="square" lIns="0" tIns="0" rIns="0" bIns="0" rtlCol="0" anchor="t"/>
          <a:lstStyle/>
          <a:p>
            <a:pPr marL="0" indent="0">
              <a:lnSpc>
                <a:spcPct val="112000"/>
              </a:lnSpc>
              <a:buNone/>
            </a:pPr>
            <a:r>
              <a:rPr lang="en-US" sz="1350" dirty="0">
                <a:solidFill>
                  <a:srgbClr val="D9D2C9"/>
                </a:solidFill>
                <a:latin typeface="Calibri" pitchFamily="34" charset="0"/>
                <a:ea typeface="Calibri" pitchFamily="34" charset="-122"/>
                <a:cs typeface="Calibri" pitchFamily="34" charset="-120"/>
              </a:rPr>
              <a:t>We have run v004 over court recordings and read the output, but we cannot score it — there are no reference transcripts. Expect the word error rate on real proceedings to be materially worse than 0.4701 until the domain gap is closed. Quantifying that gap is the first thing the eight hours will buy us.</a:t>
            </a:r>
            <a:endParaRPr lang="en-US" sz="1350" dirty="0"/>
          </a:p>
        </p:txBody>
      </p:sp>
      <p:sp>
        <p:nvSpPr>
          <p:cNvPr id="9" name="Text 5"/>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04</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Findings and challenges</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Including the result we are most glad we measured: nine times more data produced a strictly worse model.</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FINDING</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Nine times the data made the model worse</a:t>
            </a:r>
            <a:endParaRPr lang="en-US" sz="3300" dirty="0"/>
          </a:p>
        </p:txBody>
      </p:sp>
      <p:graphicFrame>
        <p:nvGraphicFramePr>
          <p:cNvPr id="4" name="Chart 0"/>
          <p:cNvGraphicFramePr/>
          <p:nvPr/>
        </p:nvGraphicFramePr>
        <p:xfrm>
          <a:off x="566928" y="1435608"/>
          <a:ext cx="50749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 y="4590288"/>
            <a:ext cx="5074920" cy="658368"/>
          </a:xfrm>
          <a:prstGeom prst="rect">
            <a:avLst/>
          </a:prstGeom>
          <a:noFill/>
          <a:ln/>
        </p:spPr>
        <p:txBody>
          <a:bodyPr wrap="square" lIns="0" tIns="0" rIns="0" bIns="0" rtlCol="0" anchor="t"/>
          <a:lstStyle/>
          <a:p>
            <a:pPr marL="0" indent="0">
              <a:lnSpc>
                <a:spcPct val="110000"/>
              </a:lnSpc>
              <a:buNone/>
            </a:pPr>
            <a:r>
              <a:rPr lang="en-US" sz="1250" dirty="0">
                <a:solidFill>
                  <a:srgbClr val="6B6560"/>
                </a:solidFill>
                <a:latin typeface="Calibri" pitchFamily="34" charset="0"/>
                <a:ea typeface="Calibri" pitchFamily="34" charset="-122"/>
                <a:cs typeface="Calibri" pitchFamily="34" charset="-120"/>
              </a:rPr>
              <a:t>run-big added a 100-hour slice of the 494-hour health corpus. Training loss plateaued at about 2.75 and the model never escaped emitting blanks.</a:t>
            </a:r>
            <a:endParaRPr lang="en-US" sz="1250" dirty="0"/>
          </a:p>
        </p:txBody>
      </p:sp>
      <p:sp>
        <p:nvSpPr>
          <p:cNvPr id="6" name="Shape 3"/>
          <p:cNvSpPr/>
          <p:nvPr/>
        </p:nvSpPr>
        <p:spPr>
          <a:xfrm>
            <a:off x="5916168" y="1435608"/>
            <a:ext cx="5705856" cy="1298448"/>
          </a:xfrm>
          <a:prstGeom prst="roundRect">
            <a:avLst>
              <a:gd name="adj" fmla="val 5634"/>
            </a:avLst>
          </a:prstGeom>
          <a:solidFill>
            <a:srgbClr val="F3F1EF"/>
          </a:solidFill>
          <a:ln/>
          <a:effectLst>
            <a:outerShdw blurRad="101600" dist="25400" dir="5400000" algn="bl" rotWithShape="0">
              <a:srgbClr val="9A9088">
                <a:alpha val="28000"/>
              </a:srgbClr>
            </a:outerShdw>
          </a:effectLst>
        </p:spPr>
      </p:sp>
      <p:sp>
        <p:nvSpPr>
          <p:cNvPr id="7" name="Shape 4"/>
          <p:cNvSpPr/>
          <p:nvPr/>
        </p:nvSpPr>
        <p:spPr>
          <a:xfrm>
            <a:off x="6144768" y="1636776"/>
            <a:ext cx="420624" cy="420624"/>
          </a:xfrm>
          <a:prstGeom prst="ellipse">
            <a:avLst/>
          </a:prstGeom>
          <a:solidFill>
            <a:srgbClr val="B04A2F"/>
          </a:solidFill>
          <a:ln/>
        </p:spPr>
      </p:sp>
      <p:sp>
        <p:nvSpPr>
          <p:cNvPr id="8" name="Text 5"/>
          <p:cNvSpPr/>
          <p:nvPr/>
        </p:nvSpPr>
        <p:spPr>
          <a:xfrm>
            <a:off x="6144768" y="16367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766560" y="1609344"/>
            <a:ext cx="4626864"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Utterance length — the prime suspect</a:t>
            </a:r>
            <a:endParaRPr lang="en-US" sz="1500" dirty="0"/>
          </a:p>
        </p:txBody>
      </p:sp>
      <p:sp>
        <p:nvSpPr>
          <p:cNvPr id="10" name="Text 7"/>
          <p:cNvSpPr/>
          <p:nvPr/>
        </p:nvSpPr>
        <p:spPr>
          <a:xfrm>
            <a:off x="6766560" y="1911096"/>
            <a:ext cx="4626864"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Every health clip is exactly 30.00 seconds. CTC has to align roughly 400 characters over 750 encoder frames, from random weights. Long-form CTC normally needs curriculum learning or segmentation first.</a:t>
            </a:r>
            <a:endParaRPr lang="en-US" sz="1250" dirty="0"/>
          </a:p>
        </p:txBody>
      </p:sp>
      <p:sp>
        <p:nvSpPr>
          <p:cNvPr id="11" name="Shape 8"/>
          <p:cNvSpPr/>
          <p:nvPr/>
        </p:nvSpPr>
        <p:spPr>
          <a:xfrm>
            <a:off x="5916168" y="2843784"/>
            <a:ext cx="5705856" cy="1298448"/>
          </a:xfrm>
          <a:prstGeom prst="roundRect">
            <a:avLst>
              <a:gd name="adj" fmla="val 5634"/>
            </a:avLst>
          </a:prstGeom>
          <a:solidFill>
            <a:srgbClr val="F3F1EF"/>
          </a:solidFill>
          <a:ln/>
          <a:effectLst>
            <a:outerShdw blurRad="101600" dist="25400" dir="5400000" algn="bl" rotWithShape="0">
              <a:srgbClr val="9A9088">
                <a:alpha val="28000"/>
              </a:srgbClr>
            </a:outerShdw>
          </a:effectLst>
        </p:spPr>
      </p:sp>
      <p:sp>
        <p:nvSpPr>
          <p:cNvPr id="12" name="Shape 9"/>
          <p:cNvSpPr/>
          <p:nvPr/>
        </p:nvSpPr>
        <p:spPr>
          <a:xfrm>
            <a:off x="6144768" y="3044952"/>
            <a:ext cx="420624" cy="420624"/>
          </a:xfrm>
          <a:prstGeom prst="ellipse">
            <a:avLst/>
          </a:prstGeom>
          <a:solidFill>
            <a:srgbClr val="D9A441"/>
          </a:solidFill>
          <a:ln/>
        </p:spPr>
      </p:sp>
      <p:sp>
        <p:nvSpPr>
          <p:cNvPr id="13" name="Text 10"/>
          <p:cNvSpPr/>
          <p:nvPr/>
        </p:nvSpPr>
        <p:spPr>
          <a:xfrm>
            <a:off x="6144768" y="304495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6766560" y="3017520"/>
            <a:ext cx="4626864"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Label quality</a:t>
            </a:r>
            <a:endParaRPr lang="en-US" sz="1500" dirty="0"/>
          </a:p>
        </p:txBody>
      </p:sp>
      <p:sp>
        <p:nvSpPr>
          <p:cNvPr id="15" name="Text 12"/>
          <p:cNvSpPr/>
          <p:nvPr/>
        </p:nvSpPr>
        <p:spPr>
          <a:xfrm>
            <a:off x="6766560" y="3319272"/>
            <a:ext cx="4626864"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The transcripts are Gemini-generated pseudo-labels, not human-verified. If they do not align tightly with the audio, there is nothing to learn from.</a:t>
            </a:r>
            <a:endParaRPr lang="en-US" sz="1250" dirty="0"/>
          </a:p>
        </p:txBody>
      </p:sp>
      <p:sp>
        <p:nvSpPr>
          <p:cNvPr id="16" name="Shape 13"/>
          <p:cNvSpPr/>
          <p:nvPr/>
        </p:nvSpPr>
        <p:spPr>
          <a:xfrm>
            <a:off x="5916168" y="4251960"/>
            <a:ext cx="5705856" cy="1298448"/>
          </a:xfrm>
          <a:prstGeom prst="roundRect">
            <a:avLst>
              <a:gd name="adj" fmla="val 5634"/>
            </a:avLst>
          </a:prstGeom>
          <a:solidFill>
            <a:srgbClr val="F3F1EF"/>
          </a:solidFill>
          <a:ln/>
          <a:effectLst>
            <a:outerShdw blurRad="101600" dist="25400" dir="5400000" algn="bl" rotWithShape="0">
              <a:srgbClr val="9A9088">
                <a:alpha val="28000"/>
              </a:srgbClr>
            </a:outerShdw>
          </a:effectLst>
        </p:spPr>
      </p:sp>
      <p:sp>
        <p:nvSpPr>
          <p:cNvPr id="17" name="Shape 14"/>
          <p:cNvSpPr/>
          <p:nvPr/>
        </p:nvSpPr>
        <p:spPr>
          <a:xfrm>
            <a:off x="6144768" y="4453128"/>
            <a:ext cx="420624" cy="420624"/>
          </a:xfrm>
          <a:prstGeom prst="ellipse">
            <a:avLst/>
          </a:prstGeom>
          <a:solidFill>
            <a:srgbClr val="5F7A62"/>
          </a:solidFill>
          <a:ln/>
        </p:spPr>
      </p:sp>
      <p:sp>
        <p:nvSpPr>
          <p:cNvPr id="18" name="Text 15"/>
          <p:cNvSpPr/>
          <p:nvPr/>
        </p:nvSpPr>
        <p:spPr>
          <a:xfrm>
            <a:off x="6144768" y="445312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6766560" y="4425696"/>
            <a:ext cx="4626864"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Not a compute problem</a:t>
            </a:r>
            <a:endParaRPr lang="en-US" sz="1500" dirty="0"/>
          </a:p>
        </p:txBody>
      </p:sp>
      <p:sp>
        <p:nvSpPr>
          <p:cNvPr id="20" name="Text 17"/>
          <p:cNvSpPr/>
          <p:nvPr/>
        </p:nvSpPr>
        <p:spPr>
          <a:xfrm>
            <a:off x="6766560" y="4727448"/>
            <a:ext cx="4626864"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The run was healthy on the hardware: 98% GPU utilisation, 12 of 20 GB used, 99% padding efficiency with bucketing on. It had everything except a learnable target.</a:t>
            </a:r>
            <a:endParaRPr lang="en-US" sz="1250" dirty="0"/>
          </a:p>
        </p:txBody>
      </p:sp>
      <p:sp>
        <p:nvSpPr>
          <p:cNvPr id="21" name="Shape 18"/>
          <p:cNvSpPr/>
          <p:nvPr/>
        </p:nvSpPr>
        <p:spPr>
          <a:xfrm>
            <a:off x="5916168" y="5660136"/>
            <a:ext cx="5705856" cy="566928"/>
          </a:xfrm>
          <a:prstGeom prst="roundRect">
            <a:avLst>
              <a:gd name="adj" fmla="val 12903"/>
            </a:avLst>
          </a:prstGeom>
          <a:solidFill>
            <a:srgbClr val="1C1A17"/>
          </a:solidFill>
          <a:ln/>
          <a:effectLst>
            <a:outerShdw blurRad="101600" dist="25400" dir="5400000" algn="bl" rotWithShape="0">
              <a:srgbClr val="9A9088">
                <a:alpha val="28000"/>
              </a:srgbClr>
            </a:outerShdw>
          </a:effectLst>
        </p:spPr>
      </p:sp>
      <p:sp>
        <p:nvSpPr>
          <p:cNvPr id="22" name="Text 19"/>
          <p:cNvSpPr/>
          <p:nvPr/>
        </p:nvSpPr>
        <p:spPr>
          <a:xfrm>
            <a:off x="6144768" y="5751576"/>
            <a:ext cx="5248656"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lesson: more data is not automatically better. Utterance length and label quality decide whether data is usable at all.</a:t>
            </a:r>
            <a:endParaRPr lang="en-US" sz="1250" dirty="0"/>
          </a:p>
        </p:txBody>
      </p:sp>
      <p:sp>
        <p:nvSpPr>
          <p:cNvPr id="24" name="Text 20"/>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§3, §6</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FINDING</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bugs that decided whether this worked at all</a:t>
            </a:r>
            <a:endParaRPr lang="en-US" sz="3300" dirty="0"/>
          </a:p>
        </p:txBody>
      </p:sp>
      <p:sp>
        <p:nvSpPr>
          <p:cNvPr id="4" name="Shape 2"/>
          <p:cNvSpPr/>
          <p:nvPr/>
        </p:nvSpPr>
        <p:spPr>
          <a:xfrm>
            <a:off x="566928" y="1435608"/>
            <a:ext cx="11055096" cy="960120"/>
          </a:xfrm>
          <a:prstGeom prst="roundRect">
            <a:avLst>
              <a:gd name="adj" fmla="val 7619"/>
            </a:avLst>
          </a:prstGeom>
          <a:solidFill>
            <a:srgbClr val="1C1A17"/>
          </a:solidFill>
          <a:ln/>
          <a:effectLst>
            <a:outerShdw blurRad="101600" dist="25400" dir="5400000" algn="bl" rotWithShape="0">
              <a:srgbClr val="9A9088">
                <a:alpha val="28000"/>
              </a:srgbClr>
            </a:outerShdw>
          </a:effectLst>
        </p:spPr>
      </p:sp>
      <p:sp>
        <p:nvSpPr>
          <p:cNvPr id="5" name="Text 3"/>
          <p:cNvSpPr/>
          <p:nvPr/>
        </p:nvSpPr>
        <p:spPr>
          <a:xfrm>
            <a:off x="859536" y="1600200"/>
            <a:ext cx="10424160" cy="658368"/>
          </a:xfrm>
          <a:prstGeom prst="rect">
            <a:avLst/>
          </a:prstGeom>
          <a:noFill/>
          <a:ln/>
        </p:spPr>
        <p:txBody>
          <a:bodyPr wrap="square" lIns="0" tIns="0" rIns="0" bIns="0" rtlCol="0" anchor="ctr"/>
          <a:lstStyle/>
          <a:p>
            <a:pPr marL="0" indent="0">
              <a:lnSpc>
                <a:spcPct val="110000"/>
              </a:lnSpc>
              <a:buNone/>
            </a:pPr>
            <a:r>
              <a:rPr lang="en-US" sz="1650" dirty="0">
                <a:solidFill>
                  <a:srgbClr val="FFFFFF"/>
                </a:solidFill>
                <a:latin typeface="Cambria" pitchFamily="34" charset="0"/>
                <a:ea typeface="Cambria" pitchFamily="34" charset="-122"/>
                <a:cs typeface="Cambria" pitchFamily="34" charset="-120"/>
              </a:rPr>
              <a:t>An earlier 30-epoch run reported a training loss of exactly 0.0 and looked converged. It had learned nothing — the CSV it was reading was text-only, so every label was empty, and CTC minimises empty targets by emitting blanks forever.</a:t>
            </a:r>
            <a:endParaRPr lang="en-US" sz="16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2551176"/>
          <a:ext cx="11055096" cy="3048000"/>
        </p:xfrm>
        <a:graphic>
          <a:graphicData uri="http://schemas.openxmlformats.org/drawingml/2006/table">
            <a:tbl>
              <a:tblPr/>
              <a:tblGrid>
                <a:gridCol w="329184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3785616">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was wrong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did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fix</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Text-only CSV used as an audio manifest</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Empty labels and synthetic noise. Loss went to 0.0 and looked converged</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Columns auto-detected; a missing one is now a hard error. Fails in 0.1 s, not 50 minutes</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torchaudio.load was broken</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torchaudio 2.9 delegates I/O to torchcodec, which it does not depend on. Every audio read raised</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soundfile-backed loader with a torchaudio fallback</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Raw mel power fed to the encoder</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Values spanning 0 to 2568 with no compression or normalisation</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Log-mel plus per-utterance mean-variance normalisation</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DeepSpeech2 ignored sequence lengths</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The bidirectional GRU ran its backward pass over padding. Measured activation drift 0.33</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pack_padded_sequence</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Blank CSV cells became the string "nan"</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pandas produced NaN, which became a literal 3-character CTC target</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keep_default_na=False</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The apostrophe was dropped from the vocabulary</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Twi elisions such as m'abankɛseɛ were silently glued into one word</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00" dirty="0">
                          <a:solidFill>
                            <a:srgbClr val="1C1A17"/>
                          </a:solidFill>
                          <a:latin typeface="Calibri" pitchFamily="34" charset="0"/>
                          <a:ea typeface="Calibri" pitchFamily="34" charset="-122"/>
                          <a:cs typeface="Calibri" pitchFamily="34" charset="-120"/>
                        </a:rPr>
                        <a:t>Typographic variants folded to a single apostrophe</a:t>
                      </a:r>
                      <a:endParaRPr lang="en-US" sz="110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4"/>
          <p:cNvSpPr/>
          <p:nvPr/>
        </p:nvSpPr>
        <p:spPr>
          <a:xfrm>
            <a:off x="566928" y="5779008"/>
            <a:ext cx="5486400" cy="292608"/>
          </a:xfrm>
          <a:prstGeom prst="rect">
            <a:avLst/>
          </a:prstGeom>
          <a:noFill/>
          <a:ln/>
        </p:spPr>
        <p:txBody>
          <a:bodyPr wrap="square" lIns="0" tIns="0" rIns="0" bIns="0" rtlCol="0" anchor="ctr"/>
          <a:lstStyle/>
          <a:p>
            <a:pPr marL="0" indent="0">
              <a:buNone/>
            </a:pPr>
            <a:r>
              <a:rPr lang="en-US" sz="1300" b="1" dirty="0">
                <a:solidFill>
                  <a:srgbClr val="B04A2F"/>
                </a:solidFill>
                <a:latin typeface="Calibri" pitchFamily="34" charset="0"/>
                <a:ea typeface="Calibri" pitchFamily="34" charset="-122"/>
                <a:cs typeface="Calibri" pitchFamily="34" charset="-120"/>
              </a:rPr>
              <a:t>Test suite over the same period: 15 tests → 144. Today it stands at 145.</a:t>
            </a:r>
            <a:endParaRPr lang="en-US" sz="1300" dirty="0"/>
          </a:p>
        </p:txBody>
      </p:sp>
      <p:sp>
        <p:nvSpPr>
          <p:cNvPr id="9" name="Text 5"/>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§4</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FINDING</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The v2 release, and the bug that nearly hid it</a:t>
            </a:r>
            <a:endParaRPr lang="en-US" sz="3300" dirty="0"/>
          </a:p>
        </p:txBody>
      </p:sp>
      <p:sp>
        <p:nvSpPr>
          <p:cNvPr id="4" name="Shape 2"/>
          <p:cNvSpPr/>
          <p:nvPr/>
        </p:nvSpPr>
        <p:spPr>
          <a:xfrm>
            <a:off x="566928" y="1435608"/>
            <a:ext cx="11055096" cy="841248"/>
          </a:xfrm>
          <a:prstGeom prst="roundRect">
            <a:avLst>
              <a:gd name="adj" fmla="val 8696"/>
            </a:avLst>
          </a:prstGeom>
          <a:solidFill>
            <a:srgbClr val="1C1A17"/>
          </a:solidFill>
          <a:ln/>
          <a:effectLst>
            <a:outerShdw blurRad="101600" dist="25400" dir="5400000" algn="bl" rotWithShape="0">
              <a:srgbClr val="9A9088">
                <a:alpha val="28000"/>
              </a:srgbClr>
            </a:outerShdw>
          </a:effectLst>
        </p:spPr>
      </p:sp>
      <p:sp>
        <p:nvSpPr>
          <p:cNvPr id="5" name="Text 3"/>
          <p:cNvSpPr/>
          <p:nvPr/>
        </p:nvSpPr>
        <p:spPr>
          <a:xfrm>
            <a:off x="859536" y="1563624"/>
            <a:ext cx="10424160" cy="603504"/>
          </a:xfrm>
          <a:prstGeom prst="rect">
            <a:avLst/>
          </a:prstGeom>
          <a:noFill/>
          <a:ln/>
        </p:spPr>
        <p:txBody>
          <a:bodyPr wrap="square" lIns="0" tIns="0" rIns="0" bIns="0" rtlCol="0" anchor="ctr"/>
          <a:lstStyle/>
          <a:p>
            <a:pPr marL="0" indent="0">
              <a:lnSpc>
                <a:spcPct val="110000"/>
              </a:lnSpc>
              <a:buNone/>
            </a:pPr>
            <a:r>
              <a:rPr lang="en-US" sz="1700" dirty="0">
                <a:solidFill>
                  <a:srgbClr val="FFFFFF"/>
                </a:solidFill>
                <a:latin typeface="Cambria" pitchFamily="34" charset="0"/>
                <a:ea typeface="Cambria" pitchFamily="34" charset="-122"/>
                <a:cs typeface="Cambria" pitchFamily="34" charset="-120"/>
              </a:rPr>
              <a:t>The training log for this run reports a best WER of 0.4533. No checkpoint with that number exists. The figure we quote, 0.4701, came from an evaluation run against weights that are actually on disk.</a:t>
            </a:r>
            <a:endParaRPr lang="en-US" sz="1700" dirty="0"/>
          </a:p>
        </p:txBody>
      </p:sp>
      <p:sp>
        <p:nvSpPr>
          <p:cNvPr id="6" name="Shape 4"/>
          <p:cNvSpPr/>
          <p:nvPr/>
        </p:nvSpPr>
        <p:spPr>
          <a:xfrm>
            <a:off x="566928" y="2423160"/>
            <a:ext cx="6035040"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7" name="Shape 5"/>
          <p:cNvSpPr/>
          <p:nvPr/>
        </p:nvSpPr>
        <p:spPr>
          <a:xfrm>
            <a:off x="786384" y="2606040"/>
            <a:ext cx="365760" cy="365760"/>
          </a:xfrm>
          <a:prstGeom prst="ellipse">
            <a:avLst/>
          </a:prstGeom>
          <a:solidFill>
            <a:srgbClr val="B04A2F"/>
          </a:solidFill>
          <a:ln/>
        </p:spPr>
      </p:sp>
      <p:sp>
        <p:nvSpPr>
          <p:cNvPr id="8" name="Text 6"/>
          <p:cNvSpPr/>
          <p:nvPr/>
        </p:nvSpPr>
        <p:spPr>
          <a:xfrm>
            <a:off x="786384" y="26060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53312" y="2578608"/>
            <a:ext cx="5029200"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Two different criteria</a:t>
            </a:r>
            <a:endParaRPr lang="en-US" sz="1500" dirty="0"/>
          </a:p>
        </p:txBody>
      </p:sp>
      <p:sp>
        <p:nvSpPr>
          <p:cNvPr id="10" name="Text 8"/>
          <p:cNvSpPr/>
          <p:nvPr/>
        </p:nvSpPr>
        <p:spPr>
          <a:xfrm>
            <a:off x="1353312" y="2880360"/>
            <a:ext cx="5029200"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best_model.pt was saved at the lowest validation loss (epoch 1). _publish() reported the lowest-WER epoch (epoch 38, 0.4533).</a:t>
            </a:r>
            <a:endParaRPr lang="en-US" sz="1250" dirty="0"/>
          </a:p>
        </p:txBody>
      </p:sp>
      <p:sp>
        <p:nvSpPr>
          <p:cNvPr id="11" name="Shape 9"/>
          <p:cNvSpPr/>
          <p:nvPr/>
        </p:nvSpPr>
        <p:spPr>
          <a:xfrm>
            <a:off x="566928" y="3392424"/>
            <a:ext cx="6035040"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12" name="Shape 10"/>
          <p:cNvSpPr/>
          <p:nvPr/>
        </p:nvSpPr>
        <p:spPr>
          <a:xfrm>
            <a:off x="786384" y="3575304"/>
            <a:ext cx="365760" cy="365760"/>
          </a:xfrm>
          <a:prstGeom prst="ellipse">
            <a:avLst/>
          </a:prstGeom>
          <a:solidFill>
            <a:srgbClr val="B04A2F"/>
          </a:solidFill>
          <a:ln/>
        </p:spPr>
      </p:sp>
      <p:sp>
        <p:nvSpPr>
          <p:cNvPr id="13" name="Text 11"/>
          <p:cNvSpPr/>
          <p:nvPr/>
        </p:nvSpPr>
        <p:spPr>
          <a:xfrm>
            <a:off x="786384" y="35753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353312" y="3547872"/>
            <a:ext cx="5029200"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A version labelled with someone else's score</a:t>
            </a:r>
            <a:endParaRPr lang="en-US" sz="1500" dirty="0"/>
          </a:p>
        </p:txBody>
      </p:sp>
      <p:sp>
        <p:nvSpPr>
          <p:cNvPr id="15" name="Text 13"/>
          <p:cNvSpPr/>
          <p:nvPr/>
        </p:nvSpPr>
        <p:spPr>
          <a:xfrm>
            <a:off x="1353312" y="3849624"/>
            <a:ext cx="5029200"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conformer/v003 therefore held epoch-1 weights carrying epoch-38's WER. Promotion compares WER, so it displaced v001 automatically.</a:t>
            </a:r>
            <a:endParaRPr lang="en-US" sz="1250" dirty="0"/>
          </a:p>
        </p:txBody>
      </p:sp>
      <p:sp>
        <p:nvSpPr>
          <p:cNvPr id="16" name="Shape 14"/>
          <p:cNvSpPr/>
          <p:nvPr/>
        </p:nvSpPr>
        <p:spPr>
          <a:xfrm>
            <a:off x="566928" y="4361688"/>
            <a:ext cx="6035040"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17" name="Shape 15"/>
          <p:cNvSpPr/>
          <p:nvPr/>
        </p:nvSpPr>
        <p:spPr>
          <a:xfrm>
            <a:off x="786384" y="4544568"/>
            <a:ext cx="365760" cy="365760"/>
          </a:xfrm>
          <a:prstGeom prst="ellipse">
            <a:avLst/>
          </a:prstGeom>
          <a:solidFill>
            <a:srgbClr val="D9A441"/>
          </a:solidFill>
          <a:ln/>
        </p:spPr>
      </p:sp>
      <p:sp>
        <p:nvSpPr>
          <p:cNvPr id="18" name="Text 16"/>
          <p:cNvSpPr/>
          <p:nvPr/>
        </p:nvSpPr>
        <p:spPr>
          <a:xfrm>
            <a:off x="786384" y="45445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353312" y="4517136"/>
            <a:ext cx="5029200"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Caught by evaluating, not by reading</a:t>
            </a:r>
            <a:endParaRPr lang="en-US" sz="1500" dirty="0"/>
          </a:p>
        </p:txBody>
      </p:sp>
      <p:sp>
        <p:nvSpPr>
          <p:cNvPr id="20" name="Text 18"/>
          <p:cNvSpPr/>
          <p:nvPr/>
        </p:nvSpPr>
        <p:spPr>
          <a:xfrm>
            <a:off x="1353312" y="4818888"/>
            <a:ext cx="5029200"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Direct evaluation put v003 at 0.5131 — worse than the v001 it replaced. For a short window the app served a downgrade under a better-looking number.</a:t>
            </a:r>
            <a:endParaRPr lang="en-US" sz="1250" dirty="0"/>
          </a:p>
        </p:txBody>
      </p:sp>
      <p:sp>
        <p:nvSpPr>
          <p:cNvPr id="21" name="Shape 19"/>
          <p:cNvSpPr/>
          <p:nvPr/>
        </p:nvSpPr>
        <p:spPr>
          <a:xfrm>
            <a:off x="566928" y="5330952"/>
            <a:ext cx="6035040"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22" name="Shape 20"/>
          <p:cNvSpPr/>
          <p:nvPr/>
        </p:nvSpPr>
        <p:spPr>
          <a:xfrm>
            <a:off x="786384" y="5513832"/>
            <a:ext cx="365760" cy="365760"/>
          </a:xfrm>
          <a:prstGeom prst="ellipse">
            <a:avLst/>
          </a:prstGeom>
          <a:solidFill>
            <a:srgbClr val="5F7A62"/>
          </a:solidFill>
          <a:ln/>
        </p:spPr>
      </p:sp>
      <p:sp>
        <p:nvSpPr>
          <p:cNvPr id="23" name="Text 21"/>
          <p:cNvSpPr/>
          <p:nvPr/>
        </p:nvSpPr>
        <p:spPr>
          <a:xfrm>
            <a:off x="786384" y="55138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353312" y="5486400"/>
            <a:ext cx="5029200" cy="274320"/>
          </a:xfrm>
          <a:prstGeom prst="rect">
            <a:avLst/>
          </a:prstGeom>
          <a:noFill/>
          <a:ln/>
        </p:spPr>
        <p:txBody>
          <a:bodyPr wrap="square" lIns="0" tIns="0" rIns="0" bIns="0" rtlCol="0" anchor="t"/>
          <a:lstStyle/>
          <a:p>
            <a:pPr marL="0" indent="0">
              <a:buNone/>
            </a:pPr>
            <a:r>
              <a:rPr lang="en-US" sz="1500" b="1" dirty="0">
                <a:solidFill>
                  <a:srgbClr val="1C1A17"/>
                </a:solidFill>
                <a:latin typeface="Calibri" pitchFamily="34" charset="0"/>
                <a:ea typeface="Calibri" pitchFamily="34" charset="-122"/>
                <a:cs typeface="Calibri" pitchFamily="34" charset="-120"/>
              </a:rPr>
              <a:t>Corrected and re-published</a:t>
            </a:r>
            <a:endParaRPr lang="en-US" sz="1500" dirty="0"/>
          </a:p>
        </p:txBody>
      </p:sp>
      <p:sp>
        <p:nvSpPr>
          <p:cNvPr id="25" name="Text 23"/>
          <p:cNvSpPr/>
          <p:nvPr/>
        </p:nvSpPr>
        <p:spPr>
          <a:xfrm>
            <a:off x="1353312" y="5788152"/>
            <a:ext cx="5029200" cy="914400"/>
          </a:xfrm>
          <a:prstGeom prst="rect">
            <a:avLst/>
          </a:prstGeom>
          <a:noFill/>
          <a:ln/>
        </p:spPr>
        <p:txBody>
          <a:bodyPr wrap="square" lIns="0" tIns="0" rIns="0" bIns="0" rtlCol="0" anchor="t"/>
          <a:lstStyle/>
          <a:p>
            <a:pPr marL="0" indent="0">
              <a:lnSpc>
                <a:spcPct val="105000"/>
              </a:lnSpc>
              <a:buNone/>
            </a:pPr>
            <a:r>
              <a:rPr lang="en-US" sz="1250" dirty="0">
                <a:solidFill>
                  <a:srgbClr val="6B6560"/>
                </a:solidFill>
                <a:latin typeface="Calibri" pitchFamily="34" charset="0"/>
                <a:ea typeface="Calibri" pitchFamily="34" charset="-122"/>
                <a:cs typeface="Calibri" pitchFamily="34" charset="-120"/>
              </a:rPr>
              <a:t>v003's metadata was rewritten to its measured values, and the final-epoch weights were published as v004 at a measured 0.4701.</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4025746191"/>
              </p:ext>
            </p:extLst>
          </p:nvPr>
        </p:nvGraphicFramePr>
        <p:xfrm>
          <a:off x="6830568" y="2423160"/>
          <a:ext cx="4791456" cy="1527048"/>
        </p:xfrm>
        <a:graphic>
          <a:graphicData uri="http://schemas.openxmlformats.org/drawingml/2006/table">
            <a:tbl>
              <a:tblPr/>
              <a:tblGrid>
                <a:gridCol w="21031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Weights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Claimed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Measured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v003 — epoch 1</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0.4533</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b="1" dirty="0">
                          <a:solidFill>
                            <a:srgbClr val="B04A2F"/>
                          </a:solidFill>
                          <a:latin typeface="Calibri" pitchFamily="34" charset="0"/>
                          <a:ea typeface="Calibri" pitchFamily="34" charset="-122"/>
                          <a:cs typeface="Calibri" pitchFamily="34" charset="-120"/>
                        </a:rPr>
                        <a:t>0.5131  ← worse than v001</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epoch 38 — never written to disk</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0.4533</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dirty="0">
                          <a:solidFill>
                            <a:srgbClr val="6B656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v004 — epoch 40</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dirty="0">
                          <a:solidFill>
                            <a:srgbClr val="1C1A1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050" b="1" dirty="0">
                          <a:solidFill>
                            <a:srgbClr val="5F7A62"/>
                          </a:solidFill>
                          <a:latin typeface="Calibri" pitchFamily="34" charset="0"/>
                          <a:ea typeface="Calibri" pitchFamily="34" charset="-122"/>
                          <a:cs typeface="Calibri" pitchFamily="34" charset="-120"/>
                        </a:rPr>
                        <a:t>0.4701  ← serving</a:t>
                      </a:r>
                      <a:endParaRPr lang="en-US" sz="10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7" name="Shape 24"/>
          <p:cNvSpPr/>
          <p:nvPr/>
        </p:nvSpPr>
        <p:spPr>
          <a:xfrm>
            <a:off x="6830568" y="4041648"/>
            <a:ext cx="4791456" cy="2057400"/>
          </a:xfrm>
          <a:prstGeom prst="roundRect">
            <a:avLst>
              <a:gd name="adj" fmla="val 3556"/>
            </a:avLst>
          </a:prstGeom>
          <a:solidFill>
            <a:srgbClr val="E9E5E1"/>
          </a:solidFill>
          <a:ln/>
          <a:effectLst>
            <a:outerShdw blurRad="101600" dist="25400" dir="5400000" algn="bl" rotWithShape="0">
              <a:srgbClr val="9A9088">
                <a:alpha val="28000"/>
              </a:srgbClr>
            </a:outerShdw>
          </a:effectLst>
        </p:spPr>
      </p:sp>
      <p:sp>
        <p:nvSpPr>
          <p:cNvPr id="28" name="Text 25"/>
          <p:cNvSpPr/>
          <p:nvPr/>
        </p:nvSpPr>
        <p:spPr>
          <a:xfrm>
            <a:off x="7050024" y="4197096"/>
            <a:ext cx="4389120" cy="292608"/>
          </a:xfrm>
          <a:prstGeom prst="rect">
            <a:avLst/>
          </a:prstGeom>
          <a:noFill/>
          <a:ln/>
        </p:spPr>
        <p:txBody>
          <a:bodyPr wrap="square" lIns="0" tIns="0" rIns="0" bIns="0" rtlCol="0" anchor="ctr"/>
          <a:lstStyle/>
          <a:p>
            <a:pPr marL="0" indent="0">
              <a:buNone/>
            </a:pPr>
            <a:r>
              <a:rPr lang="en-US" sz="1600" b="1" dirty="0">
                <a:solidFill>
                  <a:srgbClr val="1C1A17"/>
                </a:solidFill>
                <a:latin typeface="Cambria" pitchFamily="34" charset="0"/>
                <a:ea typeface="Cambria" pitchFamily="34" charset="-122"/>
                <a:cs typeface="Cambria" pitchFamily="34" charset="-120"/>
              </a:rPr>
              <a:t>What it cost, and what changed</a:t>
            </a:r>
            <a:endParaRPr lang="en-US" sz="1600" dirty="0"/>
          </a:p>
        </p:txBody>
      </p:sp>
      <p:sp>
        <p:nvSpPr>
          <p:cNvPr id="29" name="Text 26"/>
          <p:cNvSpPr/>
          <p:nvPr/>
        </p:nvSpPr>
        <p:spPr>
          <a:xfrm>
            <a:off x="7050024" y="4562856"/>
            <a:ext cx="4389120" cy="14630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50" dirty="0">
                <a:solidFill>
                  <a:srgbClr val="1C1A17"/>
                </a:solidFill>
                <a:latin typeface="Calibri" pitchFamily="34" charset="0"/>
                <a:ea typeface="Calibri" pitchFamily="34" charset="-122"/>
                <a:cs typeface="Calibri" pitchFamily="34" charset="-120"/>
              </a:rPr>
              <a:t>The epoch-38 weights are gone — never written, because selection tracked val_loss. The bug cost about 0.017 WER</a:t>
            </a:r>
            <a:endParaRPr lang="en-US" sz="1050" dirty="0"/>
          </a:p>
          <a:p>
            <a:pPr marL="342900" indent="-342900">
              <a:lnSpc>
                <a:spcPct val="105000"/>
              </a:lnSpc>
              <a:spcAft>
                <a:spcPts val="500"/>
              </a:spcAft>
              <a:buSzPct val="100000"/>
              <a:buChar char="•"/>
            </a:pPr>
            <a:r>
              <a:rPr lang="en-US" sz="1050" dirty="0">
                <a:solidFill>
                  <a:srgbClr val="1C1A17"/>
                </a:solidFill>
                <a:latin typeface="Calibri" pitchFamily="34" charset="0"/>
                <a:ea typeface="Calibri" pitchFamily="34" charset="-122"/>
                <a:cs typeface="Calibri" pitchFamily="34" charset="-120"/>
              </a:rPr>
              <a:t>Checkpoints now select on WER when validation provides one</a:t>
            </a:r>
            <a:endParaRPr lang="en-US" sz="1050" dirty="0"/>
          </a:p>
          <a:p>
            <a:pPr marL="342900" indent="-342900">
              <a:lnSpc>
                <a:spcPct val="105000"/>
              </a:lnSpc>
              <a:spcAft>
                <a:spcPts val="500"/>
              </a:spcAft>
              <a:buSzPct val="100000"/>
              <a:buChar char="•"/>
            </a:pPr>
            <a:r>
              <a:rPr lang="en-US" sz="1050" dirty="0">
                <a:solidFill>
                  <a:srgbClr val="1C1A17"/>
                </a:solidFill>
                <a:latin typeface="Calibri" pitchFamily="34" charset="0"/>
                <a:ea typeface="Calibri" pitchFamily="34" charset="-122"/>
                <a:cs typeface="Calibri" pitchFamily="34" charset="-120"/>
              </a:rPr>
              <a:t>Publishing reports the metrics captured when that checkpoint was written, so the label always describes the weights</a:t>
            </a:r>
            <a:endParaRPr lang="en-US" sz="1050" dirty="0"/>
          </a:p>
          <a:p>
            <a:pPr marL="342900" indent="-342900">
              <a:lnSpc>
                <a:spcPct val="105000"/>
              </a:lnSpc>
              <a:spcAft>
                <a:spcPts val="500"/>
              </a:spcAft>
              <a:buSzPct val="100000"/>
              <a:buChar char="•"/>
            </a:pPr>
            <a:r>
              <a:rPr lang="en-US" sz="1050" dirty="0">
                <a:solidFill>
                  <a:srgbClr val="1C1A17"/>
                </a:solidFill>
                <a:latin typeface="Calibri" pitchFamily="34" charset="0"/>
                <a:ea typeface="Calibri" pitchFamily="34" charset="-122"/>
                <a:cs typeface="Calibri" pitchFamily="34" charset="-120"/>
              </a:rPr>
              <a:t>New working norm: verify a published WER with an evaluation run before it reaches a slide</a:t>
            </a:r>
            <a:endParaRPr lang="en-US" sz="1050" dirty="0"/>
          </a:p>
        </p:txBody>
      </p:sp>
      <p:sp>
        <p:nvSpPr>
          <p:cNvPr id="31" name="Text 27"/>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§5</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FINDING</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What SESA cannot do today</a:t>
            </a:r>
            <a:endParaRPr lang="en-US" sz="3300" dirty="0"/>
          </a:p>
        </p:txBody>
      </p:sp>
      <p:sp>
        <p:nvSpPr>
          <p:cNvPr id="5" name="Shape 3"/>
          <p:cNvSpPr/>
          <p:nvPr/>
        </p:nvSpPr>
        <p:spPr>
          <a:xfrm>
            <a:off x="566928" y="1911096"/>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6" name="Text 4"/>
          <p:cNvSpPr/>
          <p:nvPr/>
        </p:nvSpPr>
        <p:spPr>
          <a:xfrm>
            <a:off x="804672" y="2075688"/>
            <a:ext cx="3054096" cy="219456"/>
          </a:xfrm>
          <a:prstGeom prst="rect">
            <a:avLst/>
          </a:prstGeom>
          <a:noFill/>
          <a:ln/>
        </p:spPr>
        <p:txBody>
          <a:bodyPr wrap="square" lIns="0" tIns="0" rIns="0" bIns="0" rtlCol="0" anchor="ctr"/>
          <a:lstStyle/>
          <a:p>
            <a:pPr marL="0" indent="0">
              <a:buNone/>
            </a:pPr>
            <a:r>
              <a:rPr lang="en-US" sz="950" b="1" kern="0" spc="140" dirty="0">
                <a:solidFill>
                  <a:srgbClr val="B04A2F"/>
                </a:solidFill>
                <a:latin typeface="Calibri" pitchFamily="34" charset="0"/>
                <a:ea typeface="Calibri" pitchFamily="34" charset="-122"/>
                <a:cs typeface="Calibri" pitchFamily="34" charset="-120"/>
              </a:rPr>
              <a:t>ACCURACY</a:t>
            </a:r>
            <a:endParaRPr lang="en-US" sz="950" dirty="0"/>
          </a:p>
        </p:txBody>
      </p:sp>
      <p:sp>
        <p:nvSpPr>
          <p:cNvPr id="7" name="Text 5"/>
          <p:cNvSpPr/>
          <p:nvPr/>
        </p:nvSpPr>
        <p:spPr>
          <a:xfrm>
            <a:off x="804672" y="2313432"/>
            <a:ext cx="3054096" cy="512064"/>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Recognisable, not accurate</a:t>
            </a:r>
            <a:endParaRPr lang="en-US" sz="1700" dirty="0"/>
          </a:p>
        </p:txBody>
      </p:sp>
      <p:sp>
        <p:nvSpPr>
          <p:cNvPr id="8" name="Text 6"/>
          <p:cNvSpPr/>
          <p:nvPr/>
        </p:nvSpPr>
        <p:spPr>
          <a:xfrm>
            <a:off x="804672" y="2825496"/>
            <a:ext cx="3054096" cy="804672"/>
          </a:xfrm>
          <a:prstGeom prst="rect">
            <a:avLst/>
          </a:prstGeom>
          <a:noFill/>
          <a:ln/>
        </p:spPr>
        <p:txBody>
          <a:bodyPr wrap="square" lIns="0" tIns="0" rIns="0" bIns="0" rtlCol="0" anchor="t"/>
          <a:lstStyle/>
          <a:p>
            <a:pPr marL="0" indent="0">
              <a:lnSpc>
                <a:spcPct val="108000"/>
              </a:lnSpc>
              <a:buNone/>
            </a:pPr>
            <a:r>
              <a:rPr lang="en-US" sz="1150" dirty="0">
                <a:solidFill>
                  <a:srgbClr val="6B6560"/>
                </a:solidFill>
                <a:latin typeface="Calibri" pitchFamily="34" charset="0"/>
                <a:ea typeface="Calibri" pitchFamily="34" charset="-122"/>
                <a:cs typeface="Calibri" pitchFamily="34" charset="-120"/>
              </a:rPr>
              <a:t>At WER 0.4701 a transcript is legible to a Twi speaker who knows the context. It is not a verbatim record and must not be presented as one.</a:t>
            </a:r>
            <a:endParaRPr lang="en-US" sz="1150" dirty="0"/>
          </a:p>
        </p:txBody>
      </p:sp>
      <p:sp>
        <p:nvSpPr>
          <p:cNvPr id="9" name="Shape 7"/>
          <p:cNvSpPr/>
          <p:nvPr/>
        </p:nvSpPr>
        <p:spPr>
          <a:xfrm>
            <a:off x="4325112" y="1911096"/>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10" name="Text 8"/>
          <p:cNvSpPr/>
          <p:nvPr/>
        </p:nvSpPr>
        <p:spPr>
          <a:xfrm>
            <a:off x="4562856" y="2075688"/>
            <a:ext cx="3054096" cy="219456"/>
          </a:xfrm>
          <a:prstGeom prst="rect">
            <a:avLst/>
          </a:prstGeom>
          <a:noFill/>
          <a:ln/>
        </p:spPr>
        <p:txBody>
          <a:bodyPr wrap="square" lIns="0" tIns="0" rIns="0" bIns="0" rtlCol="0" anchor="ctr"/>
          <a:lstStyle/>
          <a:p>
            <a:pPr marL="0" indent="0">
              <a:buNone/>
            </a:pPr>
            <a:r>
              <a:rPr lang="en-US" sz="950" b="1" kern="0" spc="140" dirty="0">
                <a:solidFill>
                  <a:srgbClr val="B04A2F"/>
                </a:solidFill>
                <a:latin typeface="Calibri" pitchFamily="34" charset="0"/>
                <a:ea typeface="Calibri" pitchFamily="34" charset="-122"/>
                <a:cs typeface="Calibri" pitchFamily="34" charset="-120"/>
              </a:rPr>
              <a:t>COURT DOMAIN</a:t>
            </a:r>
            <a:endParaRPr lang="en-US" sz="950" dirty="0"/>
          </a:p>
        </p:txBody>
      </p:sp>
      <p:sp>
        <p:nvSpPr>
          <p:cNvPr id="11" name="Text 9"/>
          <p:cNvSpPr/>
          <p:nvPr/>
        </p:nvSpPr>
        <p:spPr>
          <a:xfrm>
            <a:off x="4562856" y="2313432"/>
            <a:ext cx="3054096" cy="512064"/>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Spot-checked, not quantified</a:t>
            </a:r>
            <a:endParaRPr lang="en-US" sz="1700" dirty="0"/>
          </a:p>
        </p:txBody>
      </p:sp>
      <p:sp>
        <p:nvSpPr>
          <p:cNvPr id="12" name="Text 10"/>
          <p:cNvSpPr/>
          <p:nvPr/>
        </p:nvSpPr>
        <p:spPr>
          <a:xfrm>
            <a:off x="4562856" y="2825496"/>
            <a:ext cx="3054096" cy="804672"/>
          </a:xfrm>
          <a:prstGeom prst="rect">
            <a:avLst/>
          </a:prstGeom>
          <a:noFill/>
          <a:ln/>
        </p:spPr>
        <p:txBody>
          <a:bodyPr wrap="square" lIns="0" tIns="0" rIns="0" bIns="0" rtlCol="0" anchor="t"/>
          <a:lstStyle/>
          <a:p>
            <a:pPr marL="0" indent="0">
              <a:lnSpc>
                <a:spcPct val="108000"/>
              </a:lnSpc>
              <a:buNone/>
            </a:pPr>
            <a:r>
              <a:rPr lang="en-US" sz="1150" dirty="0">
                <a:solidFill>
                  <a:srgbClr val="6B6560"/>
                </a:solidFill>
                <a:latin typeface="Calibri" pitchFamily="34" charset="0"/>
                <a:ea typeface="Calibri" pitchFamily="34" charset="-122"/>
                <a:cs typeface="Calibri" pitchFamily="34" charset="-120"/>
              </a:rPr>
              <a:t>We have run v004 over court recordings and read the output. With no reference transcripts there is no court-domain WER, so we cannot say how accurate it is there.</a:t>
            </a:r>
            <a:endParaRPr lang="en-US" sz="1150" dirty="0"/>
          </a:p>
        </p:txBody>
      </p:sp>
      <p:sp>
        <p:nvSpPr>
          <p:cNvPr id="13" name="Shape 11"/>
          <p:cNvSpPr/>
          <p:nvPr/>
        </p:nvSpPr>
        <p:spPr>
          <a:xfrm>
            <a:off x="8083296" y="1911096"/>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14" name="Text 12"/>
          <p:cNvSpPr/>
          <p:nvPr/>
        </p:nvSpPr>
        <p:spPr>
          <a:xfrm>
            <a:off x="8321040" y="2075688"/>
            <a:ext cx="3054096" cy="219456"/>
          </a:xfrm>
          <a:prstGeom prst="rect">
            <a:avLst/>
          </a:prstGeom>
          <a:noFill/>
          <a:ln/>
        </p:spPr>
        <p:txBody>
          <a:bodyPr wrap="square" lIns="0" tIns="0" rIns="0" bIns="0" rtlCol="0" anchor="ctr"/>
          <a:lstStyle/>
          <a:p>
            <a:pPr marL="0" indent="0">
              <a:buNone/>
            </a:pPr>
            <a:r>
              <a:rPr lang="en-US" sz="950" b="1" kern="0" spc="140" dirty="0">
                <a:solidFill>
                  <a:srgbClr val="D9A441"/>
                </a:solidFill>
                <a:latin typeface="Calibri" pitchFamily="34" charset="0"/>
                <a:ea typeface="Calibri" pitchFamily="34" charset="-122"/>
                <a:cs typeface="Calibri" pitchFamily="34" charset="-120"/>
              </a:rPr>
              <a:t>OVERLAP</a:t>
            </a:r>
            <a:endParaRPr lang="en-US" sz="950" dirty="0"/>
          </a:p>
        </p:txBody>
      </p:sp>
      <p:sp>
        <p:nvSpPr>
          <p:cNvPr id="15" name="Text 13"/>
          <p:cNvSpPr/>
          <p:nvPr/>
        </p:nvSpPr>
        <p:spPr>
          <a:xfrm>
            <a:off x="8321040" y="2313432"/>
            <a:ext cx="3054096" cy="512064"/>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Overlapping speech is discarded</a:t>
            </a:r>
            <a:endParaRPr lang="en-US" sz="1700" dirty="0"/>
          </a:p>
        </p:txBody>
      </p:sp>
      <p:sp>
        <p:nvSpPr>
          <p:cNvPr id="16" name="Text 14"/>
          <p:cNvSpPr/>
          <p:nvPr/>
        </p:nvSpPr>
        <p:spPr>
          <a:xfrm>
            <a:off x="8321040" y="2825496"/>
            <a:ext cx="3054096" cy="804672"/>
          </a:xfrm>
          <a:prstGeom prst="rect">
            <a:avLst/>
          </a:prstGeom>
          <a:noFill/>
          <a:ln/>
        </p:spPr>
        <p:txBody>
          <a:bodyPr wrap="square" lIns="0" tIns="0" rIns="0" bIns="0" rtlCol="0" anchor="t"/>
          <a:lstStyle/>
          <a:p>
            <a:pPr marL="0" indent="0">
              <a:lnSpc>
                <a:spcPct val="108000"/>
              </a:lnSpc>
              <a:buNone/>
            </a:pPr>
            <a:r>
              <a:rPr lang="en-US" sz="1150" dirty="0">
                <a:solidFill>
                  <a:srgbClr val="6B6560"/>
                </a:solidFill>
                <a:latin typeface="Calibri" pitchFamily="34" charset="0"/>
                <a:ea typeface="Calibri" pitchFamily="34" charset="-122"/>
                <a:cs typeface="Calibri" pitchFamily="34" charset="-120"/>
              </a:rPr>
              <a:t>Overlaps are resolved to one speaker per instant before transcription. pyannote detects overlap; we throw that information away.</a:t>
            </a:r>
            <a:endParaRPr lang="en-US" sz="1150" dirty="0"/>
          </a:p>
        </p:txBody>
      </p:sp>
      <p:sp>
        <p:nvSpPr>
          <p:cNvPr id="17" name="Shape 15"/>
          <p:cNvSpPr/>
          <p:nvPr/>
        </p:nvSpPr>
        <p:spPr>
          <a:xfrm>
            <a:off x="566928" y="3886200"/>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18" name="Text 16"/>
          <p:cNvSpPr/>
          <p:nvPr/>
        </p:nvSpPr>
        <p:spPr>
          <a:xfrm>
            <a:off x="804672" y="4050792"/>
            <a:ext cx="3054096" cy="219456"/>
          </a:xfrm>
          <a:prstGeom prst="rect">
            <a:avLst/>
          </a:prstGeom>
          <a:noFill/>
          <a:ln/>
        </p:spPr>
        <p:txBody>
          <a:bodyPr wrap="square" lIns="0" tIns="0" rIns="0" bIns="0" rtlCol="0" anchor="ctr"/>
          <a:lstStyle/>
          <a:p>
            <a:pPr marL="0" indent="0">
              <a:buNone/>
            </a:pPr>
            <a:r>
              <a:rPr lang="en-US" sz="950" b="1" kern="0" spc="140" dirty="0">
                <a:solidFill>
                  <a:srgbClr val="D9A441"/>
                </a:solidFill>
                <a:latin typeface="Calibri" pitchFamily="34" charset="0"/>
                <a:ea typeface="Calibri" pitchFamily="34" charset="-122"/>
                <a:cs typeface="Calibri" pitchFamily="34" charset="-120"/>
              </a:rPr>
              <a:t>SPEAKERS</a:t>
            </a:r>
            <a:endParaRPr lang="en-US" sz="950" dirty="0"/>
          </a:p>
        </p:txBody>
      </p:sp>
      <p:sp>
        <p:nvSpPr>
          <p:cNvPr id="19" name="Text 17"/>
          <p:cNvSpPr/>
          <p:nvPr/>
        </p:nvSpPr>
        <p:spPr>
          <a:xfrm>
            <a:off x="804672" y="4288536"/>
            <a:ext cx="3054096" cy="512064"/>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Anonymous labels only</a:t>
            </a:r>
            <a:endParaRPr lang="en-US" sz="1700" dirty="0"/>
          </a:p>
        </p:txBody>
      </p:sp>
      <p:sp>
        <p:nvSpPr>
          <p:cNvPr id="20" name="Text 18"/>
          <p:cNvSpPr/>
          <p:nvPr/>
        </p:nvSpPr>
        <p:spPr>
          <a:xfrm>
            <a:off x="804672" y="4800600"/>
            <a:ext cx="3054096" cy="804672"/>
          </a:xfrm>
          <a:prstGeom prst="rect">
            <a:avLst/>
          </a:prstGeom>
          <a:noFill/>
          <a:ln/>
        </p:spPr>
        <p:txBody>
          <a:bodyPr wrap="square" lIns="0" tIns="0" rIns="0" bIns="0" rtlCol="0" anchor="t"/>
          <a:lstStyle/>
          <a:p>
            <a:pPr marL="0" indent="0">
              <a:lnSpc>
                <a:spcPct val="108000"/>
              </a:lnSpc>
              <a:buNone/>
            </a:pPr>
            <a:r>
              <a:rPr lang="en-US" sz="1150" dirty="0">
                <a:solidFill>
                  <a:srgbClr val="6B6560"/>
                </a:solidFill>
                <a:latin typeface="Calibri" pitchFamily="34" charset="0"/>
                <a:ea typeface="Calibri" pitchFamily="34" charset="-122"/>
                <a:cs typeface="Calibri" pitchFamily="34" charset="-120"/>
              </a:rPr>
              <a:t>SPEAKER_00, SPEAKER_01. No enrolment against known voices, so no roles — no panel, plaintiff or witness.</a:t>
            </a:r>
            <a:endParaRPr lang="en-US" sz="1150" dirty="0"/>
          </a:p>
        </p:txBody>
      </p:sp>
      <p:sp>
        <p:nvSpPr>
          <p:cNvPr id="21" name="Shape 19"/>
          <p:cNvSpPr/>
          <p:nvPr/>
        </p:nvSpPr>
        <p:spPr>
          <a:xfrm>
            <a:off x="4325112" y="3886200"/>
            <a:ext cx="3529584" cy="1810512"/>
          </a:xfrm>
          <a:prstGeom prst="roundRect">
            <a:avLst>
              <a:gd name="adj" fmla="val 4040"/>
            </a:avLst>
          </a:prstGeom>
          <a:solidFill>
            <a:srgbClr val="F3F1EF"/>
          </a:solidFill>
          <a:ln/>
          <a:effectLst>
            <a:outerShdw blurRad="101600" dist="25400" dir="5400000" algn="bl" rotWithShape="0">
              <a:srgbClr val="9A9088">
                <a:alpha val="28000"/>
              </a:srgbClr>
            </a:outerShdw>
          </a:effectLst>
        </p:spPr>
      </p:sp>
      <p:sp>
        <p:nvSpPr>
          <p:cNvPr id="22" name="Text 20"/>
          <p:cNvSpPr/>
          <p:nvPr/>
        </p:nvSpPr>
        <p:spPr>
          <a:xfrm>
            <a:off x="4562856" y="4050792"/>
            <a:ext cx="3054096" cy="219456"/>
          </a:xfrm>
          <a:prstGeom prst="rect">
            <a:avLst/>
          </a:prstGeom>
          <a:noFill/>
          <a:ln/>
        </p:spPr>
        <p:txBody>
          <a:bodyPr wrap="square" lIns="0" tIns="0" rIns="0" bIns="0" rtlCol="0" anchor="ctr"/>
          <a:lstStyle/>
          <a:p>
            <a:pPr marL="0" indent="0">
              <a:buNone/>
            </a:pPr>
            <a:r>
              <a:rPr lang="en-US" sz="950" b="1" kern="0" spc="140" dirty="0">
                <a:solidFill>
                  <a:srgbClr val="5F7A62"/>
                </a:solidFill>
                <a:latin typeface="Calibri" pitchFamily="34" charset="0"/>
                <a:ea typeface="Calibri" pitchFamily="34" charset="-122"/>
                <a:cs typeface="Calibri" pitchFamily="34" charset="-120"/>
              </a:rPr>
              <a:t>LANGUAGE</a:t>
            </a:r>
            <a:endParaRPr lang="en-US" sz="950" dirty="0"/>
          </a:p>
        </p:txBody>
      </p:sp>
      <p:sp>
        <p:nvSpPr>
          <p:cNvPr id="23" name="Text 21"/>
          <p:cNvSpPr/>
          <p:nvPr/>
        </p:nvSpPr>
        <p:spPr>
          <a:xfrm>
            <a:off x="4562856" y="4288536"/>
            <a:ext cx="3054096" cy="512064"/>
          </a:xfrm>
          <a:prstGeom prst="rect">
            <a:avLst/>
          </a:prstGeom>
          <a:noFill/>
          <a:ln/>
        </p:spPr>
        <p:txBody>
          <a:bodyPr wrap="square" lIns="0" tIns="0" rIns="0" bIns="0" rtlCol="0" anchor="t"/>
          <a:lstStyle/>
          <a:p>
            <a:pPr marL="0" indent="0">
              <a:lnSpc>
                <a:spcPct val="100000"/>
              </a:lnSpc>
              <a:buNone/>
            </a:pPr>
            <a:r>
              <a:rPr lang="en-US" sz="1700" b="1" dirty="0">
                <a:solidFill>
                  <a:srgbClr val="1C1A17"/>
                </a:solidFill>
                <a:latin typeface="Cambria" pitchFamily="34" charset="0"/>
                <a:ea typeface="Cambria" pitchFamily="34" charset="-122"/>
                <a:cs typeface="Cambria" pitchFamily="34" charset="-120"/>
              </a:rPr>
              <a:t>No language model, no lexicon</a:t>
            </a:r>
            <a:endParaRPr lang="en-US" sz="1700" dirty="0"/>
          </a:p>
        </p:txBody>
      </p:sp>
      <p:sp>
        <p:nvSpPr>
          <p:cNvPr id="24" name="Text 22"/>
          <p:cNvSpPr/>
          <p:nvPr/>
        </p:nvSpPr>
        <p:spPr>
          <a:xfrm>
            <a:off x="4562856" y="4800600"/>
            <a:ext cx="3054096" cy="804672"/>
          </a:xfrm>
          <a:prstGeom prst="rect">
            <a:avLst/>
          </a:prstGeom>
          <a:noFill/>
          <a:ln/>
        </p:spPr>
        <p:txBody>
          <a:bodyPr wrap="square" lIns="0" tIns="0" rIns="0" bIns="0" rtlCol="0" anchor="t"/>
          <a:lstStyle/>
          <a:p>
            <a:pPr marL="0" indent="0">
              <a:lnSpc>
                <a:spcPct val="108000"/>
              </a:lnSpc>
              <a:buNone/>
            </a:pPr>
            <a:r>
              <a:rPr lang="en-US" sz="1150" dirty="0">
                <a:solidFill>
                  <a:srgbClr val="6B6560"/>
                </a:solidFill>
                <a:latin typeface="Calibri" pitchFamily="34" charset="0"/>
                <a:ea typeface="Calibri" pitchFamily="34" charset="-122"/>
                <a:cs typeface="Calibri" pitchFamily="34" charset="-120"/>
              </a:rPr>
              <a:t>Decoding is greedy with no knowledge of Twi spelling or grammar. This is why the remaining errors are misspellings.</a:t>
            </a:r>
            <a:endParaRPr lang="en-US" sz="1150" dirty="0"/>
          </a:p>
        </p:txBody>
      </p:sp>
      <p:sp>
        <p:nvSpPr>
          <p:cNvPr id="30" name="Text 27"/>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05</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happens next</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The cheapest high-value work first: a language model, fine-tuning instead of retraining, and turning eight hours of court audio into a measuring instrument.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Roadmap, cheapest and highest-value first</a:t>
            </a:r>
            <a:endParaRPr lang="en-US" sz="3300" dirty="0"/>
          </a:p>
        </p:txBody>
      </p:sp>
      <p:sp>
        <p:nvSpPr>
          <p:cNvPr id="4" name="Shape 2"/>
          <p:cNvSpPr/>
          <p:nvPr/>
        </p:nvSpPr>
        <p:spPr>
          <a:xfrm>
            <a:off x="566928" y="1435608"/>
            <a:ext cx="3529584" cy="3611880"/>
          </a:xfrm>
          <a:prstGeom prst="roundRect">
            <a:avLst>
              <a:gd name="adj" fmla="val 2073"/>
            </a:avLst>
          </a:prstGeom>
          <a:solidFill>
            <a:srgbClr val="F3F1EF"/>
          </a:solidFill>
          <a:ln/>
          <a:effectLst>
            <a:outerShdw blurRad="101600" dist="25400" dir="5400000" algn="bl" rotWithShape="0">
              <a:srgbClr val="9A9088">
                <a:alpha val="28000"/>
              </a:srgbClr>
            </a:outerShdw>
          </a:effectLst>
        </p:spPr>
      </p:sp>
      <p:sp>
        <p:nvSpPr>
          <p:cNvPr id="5" name="Shape 3"/>
          <p:cNvSpPr/>
          <p:nvPr/>
        </p:nvSpPr>
        <p:spPr>
          <a:xfrm>
            <a:off x="804672" y="1655064"/>
            <a:ext cx="1600200" cy="329184"/>
          </a:xfrm>
          <a:prstGeom prst="roundRect">
            <a:avLst>
              <a:gd name="adj" fmla="val 44444"/>
            </a:avLst>
          </a:prstGeom>
          <a:solidFill>
            <a:srgbClr val="B04A2F"/>
          </a:solidFill>
          <a:ln/>
        </p:spPr>
      </p:sp>
      <p:sp>
        <p:nvSpPr>
          <p:cNvPr id="6" name="Text 4"/>
          <p:cNvSpPr/>
          <p:nvPr/>
        </p:nvSpPr>
        <p:spPr>
          <a:xfrm>
            <a:off x="804672" y="1655064"/>
            <a:ext cx="1600200" cy="329184"/>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NEAR TERM</a:t>
            </a:r>
            <a:endParaRPr lang="en-US" sz="1000" dirty="0"/>
          </a:p>
        </p:txBody>
      </p:sp>
      <p:sp>
        <p:nvSpPr>
          <p:cNvPr id="7" name="Text 5"/>
          <p:cNvSpPr/>
          <p:nvPr/>
        </p:nvSpPr>
        <p:spPr>
          <a:xfrm>
            <a:off x="804672" y="2130552"/>
            <a:ext cx="3054096" cy="2788920"/>
          </a:xfrm>
          <a:prstGeom prst="rect">
            <a:avLst/>
          </a:prstGeom>
          <a:noFill/>
          <a:ln/>
        </p:spPr>
        <p:txBody>
          <a:bodyPr wrap="square" lIns="0" tIns="0" rIns="0" bIns="0" rtlCol="0" anchor="t"/>
          <a:lstStyle/>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KenLM 4-gram language model with beam-search CTC decoding — highest expected value now that the warm-restart lever is spent</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Fine-tune the health corpus from the v004 checkpoint instead of from random weights</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Segment the 30-second health clips into utterances using the VAD already written for diarization</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Verify a sample of the Gemini pseudo-labels against the audio before spending more GPU time</a:t>
            </a:r>
            <a:endParaRPr lang="en-US" sz="1150" dirty="0"/>
          </a:p>
        </p:txBody>
      </p:sp>
      <p:sp>
        <p:nvSpPr>
          <p:cNvPr id="8" name="Shape 6"/>
          <p:cNvSpPr/>
          <p:nvPr/>
        </p:nvSpPr>
        <p:spPr>
          <a:xfrm>
            <a:off x="4325112" y="1435608"/>
            <a:ext cx="3529584" cy="3611880"/>
          </a:xfrm>
          <a:prstGeom prst="roundRect">
            <a:avLst>
              <a:gd name="adj" fmla="val 2073"/>
            </a:avLst>
          </a:prstGeom>
          <a:solidFill>
            <a:srgbClr val="F3F1EF"/>
          </a:solidFill>
          <a:ln/>
          <a:effectLst>
            <a:outerShdw blurRad="101600" dist="25400" dir="5400000" algn="bl" rotWithShape="0">
              <a:srgbClr val="9A9088">
                <a:alpha val="28000"/>
              </a:srgbClr>
            </a:outerShdw>
          </a:effectLst>
        </p:spPr>
      </p:sp>
      <p:sp>
        <p:nvSpPr>
          <p:cNvPr id="9" name="Shape 7"/>
          <p:cNvSpPr/>
          <p:nvPr/>
        </p:nvSpPr>
        <p:spPr>
          <a:xfrm>
            <a:off x="4562856" y="1655064"/>
            <a:ext cx="1600200" cy="329184"/>
          </a:xfrm>
          <a:prstGeom prst="roundRect">
            <a:avLst>
              <a:gd name="adj" fmla="val 44444"/>
            </a:avLst>
          </a:prstGeom>
          <a:solidFill>
            <a:srgbClr val="D9A441"/>
          </a:solidFill>
          <a:ln/>
        </p:spPr>
      </p:sp>
      <p:sp>
        <p:nvSpPr>
          <p:cNvPr id="10" name="Text 8"/>
          <p:cNvSpPr/>
          <p:nvPr/>
        </p:nvSpPr>
        <p:spPr>
          <a:xfrm>
            <a:off x="4562856" y="1655064"/>
            <a:ext cx="1600200" cy="329184"/>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MEDIUM TERM</a:t>
            </a:r>
            <a:endParaRPr lang="en-US" sz="1000" dirty="0"/>
          </a:p>
        </p:txBody>
      </p:sp>
      <p:sp>
        <p:nvSpPr>
          <p:cNvPr id="11" name="Text 9"/>
          <p:cNvSpPr/>
          <p:nvPr/>
        </p:nvSpPr>
        <p:spPr>
          <a:xfrm>
            <a:off x="4562856" y="2130552"/>
            <a:ext cx="3054096" cy="2788920"/>
          </a:xfrm>
          <a:prstGeom prst="rect">
            <a:avLst/>
          </a:prstGeom>
          <a:noFill/>
          <a:ln/>
        </p:spPr>
        <p:txBody>
          <a:bodyPr wrap="square" lIns="0" tIns="0" rIns="0" bIns="0" rtlCol="0" anchor="t"/>
          <a:lstStyle/>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Twi number normalisation — spell digits out rather than making the model map a sound to "2"</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Training-time noise augmentation at 5–20 dB SNR — inference-side spectral gating already ships in the app</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A small hand-labelled multi-speaker Akan set so Diarization Error Rate becomes measurable</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Silero neural VAD in production serving, replacing the energy-based one</a:t>
            </a:r>
            <a:endParaRPr lang="en-US" sz="1150" dirty="0"/>
          </a:p>
        </p:txBody>
      </p:sp>
      <p:sp>
        <p:nvSpPr>
          <p:cNvPr id="12" name="Shape 10"/>
          <p:cNvSpPr/>
          <p:nvPr/>
        </p:nvSpPr>
        <p:spPr>
          <a:xfrm>
            <a:off x="8083296" y="1435608"/>
            <a:ext cx="3529584" cy="3611880"/>
          </a:xfrm>
          <a:prstGeom prst="roundRect">
            <a:avLst>
              <a:gd name="adj" fmla="val 2073"/>
            </a:avLst>
          </a:prstGeom>
          <a:solidFill>
            <a:srgbClr val="F3F1EF"/>
          </a:solidFill>
          <a:ln/>
          <a:effectLst>
            <a:outerShdw blurRad="101600" dist="25400" dir="5400000" algn="bl" rotWithShape="0">
              <a:srgbClr val="9A9088">
                <a:alpha val="28000"/>
              </a:srgbClr>
            </a:outerShdw>
          </a:effectLst>
        </p:spPr>
      </p:sp>
      <p:sp>
        <p:nvSpPr>
          <p:cNvPr id="13" name="Shape 11"/>
          <p:cNvSpPr/>
          <p:nvPr/>
        </p:nvSpPr>
        <p:spPr>
          <a:xfrm>
            <a:off x="8321040" y="1655064"/>
            <a:ext cx="1600200" cy="329184"/>
          </a:xfrm>
          <a:prstGeom prst="roundRect">
            <a:avLst>
              <a:gd name="adj" fmla="val 44444"/>
            </a:avLst>
          </a:prstGeom>
          <a:solidFill>
            <a:srgbClr val="5F7A62"/>
          </a:solidFill>
          <a:ln/>
        </p:spPr>
      </p:sp>
      <p:sp>
        <p:nvSpPr>
          <p:cNvPr id="14" name="Text 12"/>
          <p:cNvSpPr/>
          <p:nvPr/>
        </p:nvSpPr>
        <p:spPr>
          <a:xfrm>
            <a:off x="8321040" y="1655064"/>
            <a:ext cx="1600200" cy="329184"/>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LONGER TERM</a:t>
            </a:r>
            <a:endParaRPr lang="en-US" sz="1000" dirty="0"/>
          </a:p>
        </p:txBody>
      </p:sp>
      <p:sp>
        <p:nvSpPr>
          <p:cNvPr id="15" name="Text 13"/>
          <p:cNvSpPr/>
          <p:nvPr/>
        </p:nvSpPr>
        <p:spPr>
          <a:xfrm>
            <a:off x="8321040" y="2130552"/>
            <a:ext cx="3054096" cy="2788920"/>
          </a:xfrm>
          <a:prstGeom prst="rect">
            <a:avLst/>
          </a:prstGeom>
          <a:noFill/>
          <a:ln/>
        </p:spPr>
        <p:txBody>
          <a:bodyPr wrap="square" lIns="0" tIns="0" rIns="0" bIns="0" rtlCol="0" anchor="t"/>
          <a:lstStyle/>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ONNX Runtime and INT8 ExecuTorch export for offline, on-device transcription</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Speaker identification by enrolment, so labels become roles rather than numbers</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Multi-GPU training — noting the current card is power-limited, not memory-limited</a:t>
            </a:r>
            <a:endParaRPr lang="en-US" sz="1150" dirty="0"/>
          </a:p>
          <a:p>
            <a:pPr marL="342900" indent="-342900">
              <a:lnSpc>
                <a:spcPct val="108000"/>
              </a:lnSpc>
              <a:spcAft>
                <a:spcPts val="900"/>
              </a:spcAft>
              <a:buSzPct val="100000"/>
              <a:buChar char="•"/>
            </a:pPr>
            <a:r>
              <a:rPr lang="en-US" sz="1150" dirty="0">
                <a:solidFill>
                  <a:srgbClr val="1C1A17"/>
                </a:solidFill>
                <a:latin typeface="Calibri" pitchFamily="34" charset="0"/>
                <a:ea typeface="Calibri" pitchFamily="34" charset="-122"/>
                <a:cs typeface="Calibri" pitchFamily="34" charset="-120"/>
              </a:rPr>
              <a:t>Async REST service so long recordings run in a worker rather than a request</a:t>
            </a:r>
            <a:endParaRPr lang="en-US" sz="1150" dirty="0"/>
          </a:p>
        </p:txBody>
      </p:sp>
      <p:sp>
        <p:nvSpPr>
          <p:cNvPr id="16" name="Shape 14"/>
          <p:cNvSpPr/>
          <p:nvPr/>
        </p:nvSpPr>
        <p:spPr>
          <a:xfrm>
            <a:off x="566928" y="5276088"/>
            <a:ext cx="11055096" cy="777240"/>
          </a:xfrm>
          <a:prstGeom prst="roundRect">
            <a:avLst>
              <a:gd name="adj" fmla="val 9412"/>
            </a:avLst>
          </a:prstGeom>
          <a:solidFill>
            <a:srgbClr val="1C1A17"/>
          </a:solidFill>
          <a:ln/>
          <a:effectLst>
            <a:outerShdw blurRad="101600" dist="25400" dir="5400000" algn="bl" rotWithShape="0">
              <a:srgbClr val="9A9088">
                <a:alpha val="28000"/>
              </a:srgbClr>
            </a:outerShdw>
          </a:effectLst>
        </p:spPr>
      </p:sp>
      <p:sp>
        <p:nvSpPr>
          <p:cNvPr id="17" name="Text 15"/>
          <p:cNvSpPr/>
          <p:nvPr/>
        </p:nvSpPr>
        <p:spPr>
          <a:xfrm>
            <a:off x="859536" y="5385816"/>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E0D9D0"/>
                </a:solidFill>
                <a:latin typeface="Calibri" pitchFamily="34" charset="0"/>
                <a:ea typeface="Calibri" pitchFamily="34" charset="-122"/>
                <a:cs typeface="Calibri" pitchFamily="34" charset="-120"/>
              </a:rPr>
              <a:t>Notice what is not on this list: a bigger model. Validation loss tracks training loss to the last epoch, so capacity is not the constraint — labelled Akan audio is.</a:t>
            </a:r>
            <a:endParaRPr lang="en-US" sz="1350" dirty="0"/>
          </a:p>
        </p:txBody>
      </p:sp>
      <p:sp>
        <p:nvSpPr>
          <p:cNvPr id="19" name="Text 16"/>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docs/roadmap_next_steps.md</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Turning eight hours into a court-ready system</a:t>
            </a:r>
            <a:endParaRPr lang="en-US" sz="3300" dirty="0"/>
          </a:p>
        </p:txBody>
      </p:sp>
      <p:sp>
        <p:nvSpPr>
          <p:cNvPr id="4" name="Text 2"/>
          <p:cNvSpPr/>
          <p:nvPr/>
        </p:nvSpPr>
        <p:spPr>
          <a:xfrm>
            <a:off x="566928" y="1435608"/>
            <a:ext cx="10881360" cy="365760"/>
          </a:xfrm>
          <a:prstGeom prst="rect">
            <a:avLst/>
          </a:prstGeom>
          <a:noFill/>
          <a:ln/>
        </p:spPr>
        <p:txBody>
          <a:bodyPr wrap="square" lIns="0" tIns="0" rIns="0" bIns="0" rtlCol="0" anchor="ctr"/>
          <a:lstStyle/>
          <a:p>
            <a:pPr marL="0" indent="0">
              <a:buNone/>
            </a:pPr>
            <a:r>
              <a:rPr lang="en-US" sz="1400" dirty="0">
                <a:solidFill>
                  <a:srgbClr val="6B6560"/>
                </a:solidFill>
                <a:latin typeface="Calibri" pitchFamily="34" charset="0"/>
                <a:ea typeface="Calibri" pitchFamily="34" charset="-122"/>
                <a:cs typeface="Calibri" pitchFamily="34" charset="-120"/>
              </a:rPr>
              <a:t>A five-step path from raw recordings to a measured, in-domain model. Each step produces something checkable before the next begins.</a:t>
            </a:r>
            <a:endParaRPr lang="en-US" sz="1400" dirty="0"/>
          </a:p>
        </p:txBody>
      </p:sp>
      <p:sp>
        <p:nvSpPr>
          <p:cNvPr id="5" name="Shape 3"/>
          <p:cNvSpPr/>
          <p:nvPr/>
        </p:nvSpPr>
        <p:spPr>
          <a:xfrm>
            <a:off x="566928" y="1984248"/>
            <a:ext cx="2121408" cy="3200400"/>
          </a:xfrm>
          <a:prstGeom prst="roundRect">
            <a:avLst>
              <a:gd name="adj" fmla="val 3448"/>
            </a:avLst>
          </a:prstGeom>
          <a:solidFill>
            <a:srgbClr val="F3F1EF"/>
          </a:solidFill>
          <a:ln/>
          <a:effectLst>
            <a:outerShdw blurRad="101600" dist="25400" dir="5400000" algn="bl" rotWithShape="0">
              <a:srgbClr val="9A9088">
                <a:alpha val="28000"/>
              </a:srgbClr>
            </a:outerShdw>
          </a:effectLst>
        </p:spPr>
      </p:sp>
      <p:sp>
        <p:nvSpPr>
          <p:cNvPr id="6" name="Shape 4"/>
          <p:cNvSpPr/>
          <p:nvPr/>
        </p:nvSpPr>
        <p:spPr>
          <a:xfrm>
            <a:off x="768096" y="2185416"/>
            <a:ext cx="457200" cy="457200"/>
          </a:xfrm>
          <a:prstGeom prst="ellipse">
            <a:avLst/>
          </a:prstGeom>
          <a:solidFill>
            <a:srgbClr val="B04A2F"/>
          </a:solidFill>
          <a:ln/>
        </p:spPr>
      </p:sp>
      <p:sp>
        <p:nvSpPr>
          <p:cNvPr id="7" name="Text 5"/>
          <p:cNvSpPr/>
          <p:nvPr/>
        </p:nvSpPr>
        <p:spPr>
          <a:xfrm>
            <a:off x="768096" y="2185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68096" y="2752344"/>
            <a:ext cx="1719072" cy="841248"/>
          </a:xfrm>
          <a:prstGeom prst="rect">
            <a:avLst/>
          </a:prstGeom>
          <a:noFill/>
          <a:ln/>
        </p:spPr>
        <p:txBody>
          <a:bodyPr wrap="square" lIns="0" tIns="0" rIns="0" bIns="0" rtlCol="0" anchor="t"/>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Agree the terms</a:t>
            </a:r>
            <a:endParaRPr lang="en-US" sz="1500" dirty="0"/>
          </a:p>
        </p:txBody>
      </p:sp>
      <p:sp>
        <p:nvSpPr>
          <p:cNvPr id="9" name="Text 7"/>
          <p:cNvSpPr/>
          <p:nvPr/>
        </p:nvSpPr>
        <p:spPr>
          <a:xfrm>
            <a:off x="768096" y="3593592"/>
            <a:ext cx="1719072" cy="1371600"/>
          </a:xfrm>
          <a:prstGeom prst="rect">
            <a:avLst/>
          </a:prstGeom>
          <a:noFill/>
          <a:ln/>
        </p:spPr>
        <p:txBody>
          <a:bodyPr wrap="square" lIns="0" tIns="0" rIns="0" bIns="0" rtlCol="0" anchor="t"/>
          <a:lstStyle/>
          <a:p>
            <a:pPr marL="0" indent="0">
              <a:lnSpc>
                <a:spcPct val="110000"/>
              </a:lnSpc>
              <a:buNone/>
            </a:pPr>
            <a:r>
              <a:rPr lang="en-US" sz="1050" dirty="0">
                <a:solidFill>
                  <a:srgbClr val="6B6560"/>
                </a:solidFill>
                <a:latin typeface="Calibri" pitchFamily="34" charset="0"/>
                <a:ea typeface="Calibri" pitchFamily="34" charset="-122"/>
                <a:cs typeface="Calibri" pitchFamily="34" charset="-120"/>
              </a:rPr>
              <a:t>Consent, anonymisation and data-governance agreed with the courts before any transcription begins. Court proceedings involve identifiable people and live disputes — this is a prerequisite, not paperwork.</a:t>
            </a:r>
            <a:endParaRPr lang="en-US" sz="1050" dirty="0"/>
          </a:p>
        </p:txBody>
      </p:sp>
      <p:sp>
        <p:nvSpPr>
          <p:cNvPr id="10" name="Shape 8"/>
          <p:cNvSpPr/>
          <p:nvPr/>
        </p:nvSpPr>
        <p:spPr>
          <a:xfrm>
            <a:off x="2834640" y="1984248"/>
            <a:ext cx="2121408" cy="3200400"/>
          </a:xfrm>
          <a:prstGeom prst="roundRect">
            <a:avLst>
              <a:gd name="adj" fmla="val 3448"/>
            </a:avLst>
          </a:prstGeom>
          <a:solidFill>
            <a:srgbClr val="F3F1EF"/>
          </a:solidFill>
          <a:ln/>
          <a:effectLst>
            <a:outerShdw blurRad="101600" dist="25400" dir="5400000" algn="bl" rotWithShape="0">
              <a:srgbClr val="9A9088">
                <a:alpha val="28000"/>
              </a:srgbClr>
            </a:outerShdw>
          </a:effectLst>
        </p:spPr>
      </p:sp>
      <p:sp>
        <p:nvSpPr>
          <p:cNvPr id="11" name="Shape 9"/>
          <p:cNvSpPr/>
          <p:nvPr/>
        </p:nvSpPr>
        <p:spPr>
          <a:xfrm>
            <a:off x="3035808" y="2185416"/>
            <a:ext cx="457200" cy="457200"/>
          </a:xfrm>
          <a:prstGeom prst="ellipse">
            <a:avLst/>
          </a:prstGeom>
          <a:solidFill>
            <a:srgbClr val="B04A2F"/>
          </a:solidFill>
          <a:ln/>
        </p:spPr>
      </p:sp>
      <p:sp>
        <p:nvSpPr>
          <p:cNvPr id="12" name="Text 10"/>
          <p:cNvSpPr/>
          <p:nvPr/>
        </p:nvSpPr>
        <p:spPr>
          <a:xfrm>
            <a:off x="3035808" y="2185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035808" y="2752344"/>
            <a:ext cx="1719072" cy="841248"/>
          </a:xfrm>
          <a:prstGeom prst="rect">
            <a:avLst/>
          </a:prstGeom>
          <a:noFill/>
          <a:ln/>
        </p:spPr>
        <p:txBody>
          <a:bodyPr wrap="square" lIns="0" tIns="0" rIns="0" bIns="0" rtlCol="0" anchor="t"/>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Write the annotation standard</a:t>
            </a:r>
            <a:endParaRPr lang="en-US" sz="1500" dirty="0"/>
          </a:p>
        </p:txBody>
      </p:sp>
      <p:sp>
        <p:nvSpPr>
          <p:cNvPr id="14" name="Text 12"/>
          <p:cNvSpPr/>
          <p:nvPr/>
        </p:nvSpPr>
        <p:spPr>
          <a:xfrm>
            <a:off x="3035808" y="3593592"/>
            <a:ext cx="1719072" cy="1371600"/>
          </a:xfrm>
          <a:prstGeom prst="rect">
            <a:avLst/>
          </a:prstGeom>
          <a:noFill/>
          <a:ln/>
        </p:spPr>
        <p:txBody>
          <a:bodyPr wrap="square" lIns="0" tIns="0" rIns="0" bIns="0" rtlCol="0" anchor="t"/>
          <a:lstStyle/>
          <a:p>
            <a:pPr marL="0" indent="0">
              <a:lnSpc>
                <a:spcPct val="110000"/>
              </a:lnSpc>
              <a:buNone/>
            </a:pPr>
            <a:r>
              <a:rPr lang="en-US" sz="1050" dirty="0">
                <a:solidFill>
                  <a:srgbClr val="6B6560"/>
                </a:solidFill>
                <a:latin typeface="Calibri" pitchFamily="34" charset="0"/>
                <a:ea typeface="Calibri" pitchFamily="34" charset="-122"/>
                <a:cs typeface="Calibri" pitchFamily="34" charset="-120"/>
              </a:rPr>
              <a:t>How code-switching is written, how speakers are labelled, how inaudible passages and overlaps are marked, and which orthography is authoritative. Two annotators, measured agreement.</a:t>
            </a:r>
            <a:endParaRPr lang="en-US" sz="1050" dirty="0"/>
          </a:p>
        </p:txBody>
      </p:sp>
      <p:sp>
        <p:nvSpPr>
          <p:cNvPr id="15" name="Shape 13"/>
          <p:cNvSpPr/>
          <p:nvPr/>
        </p:nvSpPr>
        <p:spPr>
          <a:xfrm>
            <a:off x="5102352" y="1984248"/>
            <a:ext cx="2121408" cy="3200400"/>
          </a:xfrm>
          <a:prstGeom prst="roundRect">
            <a:avLst>
              <a:gd name="adj" fmla="val 3448"/>
            </a:avLst>
          </a:prstGeom>
          <a:solidFill>
            <a:srgbClr val="F3F1EF"/>
          </a:solidFill>
          <a:ln/>
          <a:effectLst>
            <a:outerShdw blurRad="101600" dist="25400" dir="5400000" algn="bl" rotWithShape="0">
              <a:srgbClr val="9A9088">
                <a:alpha val="28000"/>
              </a:srgbClr>
            </a:outerShdw>
          </a:effectLst>
        </p:spPr>
      </p:sp>
      <p:sp>
        <p:nvSpPr>
          <p:cNvPr id="16" name="Shape 14"/>
          <p:cNvSpPr/>
          <p:nvPr/>
        </p:nvSpPr>
        <p:spPr>
          <a:xfrm>
            <a:off x="5303520" y="2185416"/>
            <a:ext cx="457200" cy="457200"/>
          </a:xfrm>
          <a:prstGeom prst="ellipse">
            <a:avLst/>
          </a:prstGeom>
          <a:solidFill>
            <a:srgbClr val="D9A441"/>
          </a:solidFill>
          <a:ln/>
        </p:spPr>
      </p:sp>
      <p:sp>
        <p:nvSpPr>
          <p:cNvPr id="17" name="Text 15"/>
          <p:cNvSpPr/>
          <p:nvPr/>
        </p:nvSpPr>
        <p:spPr>
          <a:xfrm>
            <a:off x="5303520" y="2185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5303520" y="2752344"/>
            <a:ext cx="1719072" cy="841248"/>
          </a:xfrm>
          <a:prstGeom prst="rect">
            <a:avLst/>
          </a:prstGeom>
          <a:noFill/>
          <a:ln/>
        </p:spPr>
        <p:txBody>
          <a:bodyPr wrap="square" lIns="0" tIns="0" rIns="0" bIns="0" rtlCol="0" anchor="t"/>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Transcribe and split</a:t>
            </a:r>
            <a:endParaRPr lang="en-US" sz="1500" dirty="0"/>
          </a:p>
        </p:txBody>
      </p:sp>
      <p:sp>
        <p:nvSpPr>
          <p:cNvPr id="19" name="Text 17"/>
          <p:cNvSpPr/>
          <p:nvPr/>
        </p:nvSpPr>
        <p:spPr>
          <a:xfrm>
            <a:off x="5303520" y="3593592"/>
            <a:ext cx="1719072" cy="1371600"/>
          </a:xfrm>
          <a:prstGeom prst="rect">
            <a:avLst/>
          </a:prstGeom>
          <a:noFill/>
          <a:ln/>
        </p:spPr>
        <p:txBody>
          <a:bodyPr wrap="square" lIns="0" tIns="0" rIns="0" bIns="0" rtlCol="0" anchor="t"/>
          <a:lstStyle/>
          <a:p>
            <a:pPr marL="0" indent="0">
              <a:lnSpc>
                <a:spcPct val="110000"/>
              </a:lnSpc>
              <a:buNone/>
            </a:pPr>
            <a:r>
              <a:rPr lang="en-US" sz="1050" dirty="0">
                <a:solidFill>
                  <a:srgbClr val="6B6560"/>
                </a:solidFill>
                <a:latin typeface="Calibri" pitchFamily="34" charset="0"/>
                <a:ea typeface="Calibri" pitchFamily="34" charset="-122"/>
                <a:cs typeface="Calibri" pitchFamily="34" charset="-120"/>
              </a:rPr>
              <a:t>Twi-literate annotators transcribe the eight hours. Hold out roughly two hours untouched as a court evaluation set; the rest becomes fine-tuning data.</a:t>
            </a:r>
            <a:endParaRPr lang="en-US" sz="1050" dirty="0"/>
          </a:p>
        </p:txBody>
      </p:sp>
      <p:sp>
        <p:nvSpPr>
          <p:cNvPr id="20" name="Shape 18"/>
          <p:cNvSpPr/>
          <p:nvPr/>
        </p:nvSpPr>
        <p:spPr>
          <a:xfrm>
            <a:off x="7370064" y="1984248"/>
            <a:ext cx="2121408" cy="3200400"/>
          </a:xfrm>
          <a:prstGeom prst="roundRect">
            <a:avLst>
              <a:gd name="adj" fmla="val 3448"/>
            </a:avLst>
          </a:prstGeom>
          <a:solidFill>
            <a:srgbClr val="F3F1EF"/>
          </a:solidFill>
          <a:ln/>
          <a:effectLst>
            <a:outerShdw blurRad="101600" dist="25400" dir="5400000" algn="bl" rotWithShape="0">
              <a:srgbClr val="9A9088">
                <a:alpha val="28000"/>
              </a:srgbClr>
            </a:outerShdw>
          </a:effectLst>
        </p:spPr>
      </p:sp>
      <p:sp>
        <p:nvSpPr>
          <p:cNvPr id="21" name="Shape 19"/>
          <p:cNvSpPr/>
          <p:nvPr/>
        </p:nvSpPr>
        <p:spPr>
          <a:xfrm>
            <a:off x="7571232" y="2185416"/>
            <a:ext cx="457200" cy="457200"/>
          </a:xfrm>
          <a:prstGeom prst="ellipse">
            <a:avLst/>
          </a:prstGeom>
          <a:solidFill>
            <a:srgbClr val="D9A441"/>
          </a:solidFill>
          <a:ln/>
        </p:spPr>
      </p:sp>
      <p:sp>
        <p:nvSpPr>
          <p:cNvPr id="22" name="Text 20"/>
          <p:cNvSpPr/>
          <p:nvPr/>
        </p:nvSpPr>
        <p:spPr>
          <a:xfrm>
            <a:off x="7571232" y="2185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7571232" y="2752344"/>
            <a:ext cx="1719072" cy="841248"/>
          </a:xfrm>
          <a:prstGeom prst="rect">
            <a:avLst/>
          </a:prstGeom>
          <a:noFill/>
          <a:ln/>
        </p:spPr>
        <p:txBody>
          <a:bodyPr wrap="square" lIns="0" tIns="0" rIns="0" bIns="0" rtlCol="0" anchor="t"/>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Measure the domain gap</a:t>
            </a:r>
            <a:endParaRPr lang="en-US" sz="1500" dirty="0"/>
          </a:p>
        </p:txBody>
      </p:sp>
      <p:sp>
        <p:nvSpPr>
          <p:cNvPr id="24" name="Text 22"/>
          <p:cNvSpPr/>
          <p:nvPr/>
        </p:nvSpPr>
        <p:spPr>
          <a:xfrm>
            <a:off x="7571232" y="3593592"/>
            <a:ext cx="1719072" cy="1371600"/>
          </a:xfrm>
          <a:prstGeom prst="rect">
            <a:avLst/>
          </a:prstGeom>
          <a:noFill/>
          <a:ln/>
        </p:spPr>
        <p:txBody>
          <a:bodyPr wrap="square" lIns="0" tIns="0" rIns="0" bIns="0" rtlCol="0" anchor="t"/>
          <a:lstStyle/>
          <a:p>
            <a:pPr marL="0" indent="0">
              <a:lnSpc>
                <a:spcPct val="110000"/>
              </a:lnSpc>
              <a:buNone/>
            </a:pPr>
            <a:r>
              <a:rPr lang="en-US" sz="1050" dirty="0">
                <a:solidFill>
                  <a:srgbClr val="6B6560"/>
                </a:solidFill>
                <a:latin typeface="Calibri" pitchFamily="34" charset="0"/>
                <a:ea typeface="Calibri" pitchFamily="34" charset="-122"/>
                <a:cs typeface="Calibri" pitchFamily="34" charset="-120"/>
              </a:rPr>
              <a:t>Run v004, unchanged, against the held-out court set. We have spot-checked court audio but never scored it; this is the first honest number anyone will have — good or bad, publish it.</a:t>
            </a:r>
            <a:endParaRPr lang="en-US" sz="1050" dirty="0"/>
          </a:p>
        </p:txBody>
      </p:sp>
      <p:sp>
        <p:nvSpPr>
          <p:cNvPr id="25" name="Shape 23"/>
          <p:cNvSpPr/>
          <p:nvPr/>
        </p:nvSpPr>
        <p:spPr>
          <a:xfrm>
            <a:off x="9637776" y="1984248"/>
            <a:ext cx="2121408" cy="3200400"/>
          </a:xfrm>
          <a:prstGeom prst="roundRect">
            <a:avLst>
              <a:gd name="adj" fmla="val 3448"/>
            </a:avLst>
          </a:prstGeom>
          <a:solidFill>
            <a:srgbClr val="F3F1EF"/>
          </a:solidFill>
          <a:ln/>
          <a:effectLst>
            <a:outerShdw blurRad="101600" dist="25400" dir="5400000" algn="bl" rotWithShape="0">
              <a:srgbClr val="9A9088">
                <a:alpha val="28000"/>
              </a:srgbClr>
            </a:outerShdw>
          </a:effectLst>
        </p:spPr>
      </p:sp>
      <p:sp>
        <p:nvSpPr>
          <p:cNvPr id="26" name="Shape 24"/>
          <p:cNvSpPr/>
          <p:nvPr/>
        </p:nvSpPr>
        <p:spPr>
          <a:xfrm>
            <a:off x="9838944" y="2185416"/>
            <a:ext cx="457200" cy="457200"/>
          </a:xfrm>
          <a:prstGeom prst="ellipse">
            <a:avLst/>
          </a:prstGeom>
          <a:solidFill>
            <a:srgbClr val="5F7A62"/>
          </a:solidFill>
          <a:ln/>
        </p:spPr>
      </p:sp>
      <p:sp>
        <p:nvSpPr>
          <p:cNvPr id="27" name="Text 25"/>
          <p:cNvSpPr/>
          <p:nvPr/>
        </p:nvSpPr>
        <p:spPr>
          <a:xfrm>
            <a:off x="9838944" y="2185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9838944" y="2752344"/>
            <a:ext cx="1719072" cy="841248"/>
          </a:xfrm>
          <a:prstGeom prst="rect">
            <a:avLst/>
          </a:prstGeom>
          <a:noFill/>
          <a:ln/>
        </p:spPr>
        <p:txBody>
          <a:bodyPr wrap="square" lIns="0" tIns="0" rIns="0" bIns="0" rtlCol="0" anchor="t"/>
          <a:lstStyle/>
          <a:p>
            <a:pPr marL="0" indent="0">
              <a:lnSpc>
                <a:spcPct val="100000"/>
              </a:lnSpc>
              <a:buNone/>
            </a:pPr>
            <a:r>
              <a:rPr lang="en-US" sz="1500" b="1" dirty="0">
                <a:solidFill>
                  <a:srgbClr val="1C1A17"/>
                </a:solidFill>
                <a:latin typeface="Cambria" pitchFamily="34" charset="0"/>
                <a:ea typeface="Cambria" pitchFamily="34" charset="-122"/>
                <a:cs typeface="Cambria" pitchFamily="34" charset="-120"/>
              </a:rPr>
              <a:t>Fine-tune and re-measure</a:t>
            </a:r>
            <a:endParaRPr lang="en-US" sz="1500" dirty="0"/>
          </a:p>
        </p:txBody>
      </p:sp>
      <p:sp>
        <p:nvSpPr>
          <p:cNvPr id="29" name="Text 27"/>
          <p:cNvSpPr/>
          <p:nvPr/>
        </p:nvSpPr>
        <p:spPr>
          <a:xfrm>
            <a:off x="9838944" y="3593592"/>
            <a:ext cx="1719072" cy="1371600"/>
          </a:xfrm>
          <a:prstGeom prst="rect">
            <a:avLst/>
          </a:prstGeom>
          <a:noFill/>
          <a:ln/>
        </p:spPr>
        <p:txBody>
          <a:bodyPr wrap="square" lIns="0" tIns="0" rIns="0" bIns="0" rtlCol="0" anchor="t"/>
          <a:lstStyle/>
          <a:p>
            <a:pPr marL="0" indent="0">
              <a:lnSpc>
                <a:spcPct val="110000"/>
              </a:lnSpc>
              <a:buNone/>
            </a:pPr>
            <a:r>
              <a:rPr lang="en-US" sz="1050" dirty="0">
                <a:solidFill>
                  <a:srgbClr val="6B6560"/>
                </a:solidFill>
                <a:latin typeface="Calibri" pitchFamily="34" charset="0"/>
                <a:ea typeface="Calibri" pitchFamily="34" charset="-122"/>
                <a:cs typeface="Calibri" pitchFamily="34" charset="-120"/>
              </a:rPr>
              <a:t>Fine-tune the v004 checkpoint on the court data with noise augmentation and language-model rescoring. Re-run the same evaluation. Publish the delta.</a:t>
            </a:r>
            <a:endParaRPr lang="en-US" sz="1050" dirty="0"/>
          </a:p>
        </p:txBody>
      </p:sp>
      <p:sp>
        <p:nvSpPr>
          <p:cNvPr id="30" name="Shape 28"/>
          <p:cNvSpPr/>
          <p:nvPr/>
        </p:nvSpPr>
        <p:spPr>
          <a:xfrm>
            <a:off x="566928" y="5321808"/>
            <a:ext cx="11055096" cy="749808"/>
          </a:xfrm>
          <a:prstGeom prst="roundRect">
            <a:avLst>
              <a:gd name="adj" fmla="val 9756"/>
            </a:avLst>
          </a:prstGeom>
          <a:solidFill>
            <a:srgbClr val="1C1A17"/>
          </a:solidFill>
          <a:ln/>
          <a:effectLst>
            <a:outerShdw blurRad="101600" dist="25400" dir="5400000" algn="bl" rotWithShape="0">
              <a:srgbClr val="9A9088">
                <a:alpha val="28000"/>
              </a:srgbClr>
            </a:outerShdw>
          </a:effectLst>
        </p:spPr>
      </p:sp>
      <p:sp>
        <p:nvSpPr>
          <p:cNvPr id="31" name="Text 29"/>
          <p:cNvSpPr/>
          <p:nvPr/>
        </p:nvSpPr>
        <p:spPr>
          <a:xfrm>
            <a:off x="859536" y="5458968"/>
            <a:ext cx="10424160" cy="502920"/>
          </a:xfrm>
          <a:prstGeom prst="rect">
            <a:avLst/>
          </a:prstGeom>
          <a:noFill/>
          <a:ln/>
        </p:spPr>
        <p:txBody>
          <a:bodyPr wrap="square" lIns="0" tIns="0" rIns="0" bIns="0" rtlCol="0" anchor="ctr"/>
          <a:lstStyle/>
          <a:p>
            <a:pPr marL="0" indent="0">
              <a:lnSpc>
                <a:spcPct val="110000"/>
              </a:lnSpc>
              <a:buNone/>
            </a:pPr>
            <a:r>
              <a:rPr lang="en-US" sz="1350" dirty="0">
                <a:solidFill>
                  <a:srgbClr val="E0D9D0"/>
                </a:solidFill>
                <a:latin typeface="Calibri" pitchFamily="34" charset="0"/>
                <a:ea typeface="Calibri" pitchFamily="34" charset="-122"/>
                <a:cs typeface="Calibri" pitchFamily="34" charset="-120"/>
              </a:rPr>
              <a:t>Step 4 is the one to insist on. Measuring the current model against real court audio, before improving anything, is what turns eight hours of recordings into evidence rather than into hope.</a:t>
            </a:r>
            <a:endParaRPr lang="en-US" sz="1350" dirty="0"/>
          </a:p>
        </p:txBody>
      </p:sp>
      <p:sp>
        <p:nvSpPr>
          <p:cNvPr id="33" name="Text 30"/>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869680" y="640080"/>
            <a:ext cx="4023360" cy="4023360"/>
          </a:xfrm>
          <a:prstGeom prst="ellipse">
            <a:avLst/>
          </a:prstGeom>
          <a:solidFill>
            <a:srgbClr val="2E2A25"/>
          </a:solidFill>
          <a:ln/>
        </p:spPr>
      </p:sp>
      <p:sp>
        <p:nvSpPr>
          <p:cNvPr id="3" name="Shape 1"/>
          <p:cNvSpPr/>
          <p:nvPr/>
        </p:nvSpPr>
        <p:spPr>
          <a:xfrm>
            <a:off x="9921240" y="1691640"/>
            <a:ext cx="1920240" cy="1920240"/>
          </a:xfrm>
          <a:prstGeom prst="ellipse">
            <a:avLst/>
          </a:prstGeom>
          <a:solidFill>
            <a:srgbClr val="B04A2F"/>
          </a:solidFill>
          <a:ln/>
        </p:spPr>
      </p:sp>
      <p:sp>
        <p:nvSpPr>
          <p:cNvPr id="4" name="Text 2"/>
          <p:cNvSpPr/>
          <p:nvPr/>
        </p:nvSpPr>
        <p:spPr>
          <a:xfrm>
            <a:off x="566928" y="685800"/>
            <a:ext cx="786384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Where SESA stands</a:t>
            </a:r>
            <a:endParaRPr lang="en-US" sz="3800" dirty="0"/>
          </a:p>
        </p:txBody>
      </p:sp>
      <p:sp>
        <p:nvSpPr>
          <p:cNvPr id="5" name="Shape 3"/>
          <p:cNvSpPr/>
          <p:nvPr/>
        </p:nvSpPr>
        <p:spPr>
          <a:xfrm>
            <a:off x="566928" y="1600200"/>
            <a:ext cx="3977640" cy="3200400"/>
          </a:xfrm>
          <a:prstGeom prst="roundRect">
            <a:avLst>
              <a:gd name="adj" fmla="val 2286"/>
            </a:avLst>
          </a:prstGeom>
          <a:solidFill>
            <a:srgbClr val="2E2A25"/>
          </a:solidFill>
          <a:ln/>
        </p:spPr>
      </p:sp>
      <p:sp>
        <p:nvSpPr>
          <p:cNvPr id="6" name="Text 4"/>
          <p:cNvSpPr/>
          <p:nvPr/>
        </p:nvSpPr>
        <p:spPr>
          <a:xfrm>
            <a:off x="822960" y="1783080"/>
            <a:ext cx="3474720" cy="256032"/>
          </a:xfrm>
          <a:prstGeom prst="rect">
            <a:avLst/>
          </a:prstGeom>
          <a:noFill/>
          <a:ln/>
        </p:spPr>
        <p:txBody>
          <a:bodyPr wrap="square" lIns="0" tIns="0" rIns="0" bIns="0" rtlCol="0" anchor="ctr"/>
          <a:lstStyle/>
          <a:p>
            <a:pPr marL="0" indent="0">
              <a:buNone/>
            </a:pPr>
            <a:r>
              <a:rPr lang="en-US" sz="1050" b="1" kern="0" spc="150" dirty="0">
                <a:solidFill>
                  <a:srgbClr val="5F7A62"/>
                </a:solidFill>
                <a:latin typeface="Calibri" pitchFamily="34" charset="0"/>
                <a:ea typeface="Calibri" pitchFamily="34" charset="-122"/>
                <a:cs typeface="Calibri" pitchFamily="34" charset="-120"/>
              </a:rPr>
              <a:t>WHAT IS BUILT AND MEASURED</a:t>
            </a:r>
            <a:endParaRPr lang="en-US" sz="1050" dirty="0"/>
          </a:p>
        </p:txBody>
      </p:sp>
      <p:sp>
        <p:nvSpPr>
          <p:cNvPr id="7" name="Text 5"/>
          <p:cNvSpPr/>
          <p:nvPr/>
        </p:nvSpPr>
        <p:spPr>
          <a:xfrm>
            <a:off x="822960" y="2121408"/>
            <a:ext cx="3474720" cy="251460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A Conformer-CTC model trained on Akan — conformer/v004, WER 0.4701, CER 0.1429</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A speaker diarization pipeline with three backends and graceful fallback</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A versioned registry with promote-on-improvement, rollback and a caught mislabelling</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A demo app with noise reduction, 145 tests, and every run reproducibly logged</a:t>
            </a:r>
            <a:endParaRPr lang="en-US" sz="1200" dirty="0"/>
          </a:p>
        </p:txBody>
      </p:sp>
      <p:sp>
        <p:nvSpPr>
          <p:cNvPr id="8" name="Shape 6"/>
          <p:cNvSpPr/>
          <p:nvPr/>
        </p:nvSpPr>
        <p:spPr>
          <a:xfrm>
            <a:off x="4773168" y="1600200"/>
            <a:ext cx="3977640" cy="3200400"/>
          </a:xfrm>
          <a:prstGeom prst="roundRect">
            <a:avLst>
              <a:gd name="adj" fmla="val 2286"/>
            </a:avLst>
          </a:prstGeom>
          <a:solidFill>
            <a:srgbClr val="2E2A25"/>
          </a:solidFill>
          <a:ln/>
        </p:spPr>
      </p:sp>
      <p:sp>
        <p:nvSpPr>
          <p:cNvPr id="9" name="Text 7"/>
          <p:cNvSpPr/>
          <p:nvPr/>
        </p:nvSpPr>
        <p:spPr>
          <a:xfrm>
            <a:off x="5029200" y="1783080"/>
            <a:ext cx="3474720" cy="256032"/>
          </a:xfrm>
          <a:prstGeom prst="rect">
            <a:avLst/>
          </a:prstGeom>
          <a:noFill/>
          <a:ln/>
        </p:spPr>
        <p:txBody>
          <a:bodyPr wrap="square" lIns="0" tIns="0" rIns="0" bIns="0"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WHAT WE NEED NEXT</a:t>
            </a:r>
            <a:endParaRPr lang="en-US" sz="1050" dirty="0"/>
          </a:p>
        </p:txBody>
      </p:sp>
      <p:sp>
        <p:nvSpPr>
          <p:cNvPr id="10" name="Text 8"/>
          <p:cNvSpPr/>
          <p:nvPr/>
        </p:nvSpPr>
        <p:spPr>
          <a:xfrm>
            <a:off x="5029200" y="2121408"/>
            <a:ext cx="3474720" cy="251460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Eight hours of court audio transcribed to an agreed annotation standard</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Consent and data-governance terms agreed with participating courts</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Twi-literate annotators, and a second pair of eyes for agreement scoring</a:t>
            </a:r>
            <a:endParaRPr lang="en-US" sz="1200" dirty="0"/>
          </a:p>
          <a:p>
            <a:pPr marL="342900" indent="-342900">
              <a:lnSpc>
                <a:spcPct val="110000"/>
              </a:lnSpc>
              <a:spcAft>
                <a:spcPts val="900"/>
              </a:spcAft>
              <a:buSzPct val="100000"/>
              <a:buChar char="•"/>
            </a:pPr>
            <a:r>
              <a:rPr lang="en-US" sz="1200" dirty="0">
                <a:solidFill>
                  <a:srgbClr val="DAD3CA"/>
                </a:solidFill>
                <a:latin typeface="Calibri" pitchFamily="34" charset="0"/>
                <a:ea typeface="Calibri" pitchFamily="34" charset="-122"/>
                <a:cs typeface="Calibri" pitchFamily="34" charset="-120"/>
              </a:rPr>
              <a:t>Modest compute for language-model integration and fine-tuning runs</a:t>
            </a:r>
            <a:endParaRPr lang="en-US" sz="1200" dirty="0"/>
          </a:p>
        </p:txBody>
      </p:sp>
      <p:sp>
        <p:nvSpPr>
          <p:cNvPr id="11" name="Text 9"/>
          <p:cNvSpPr/>
          <p:nvPr/>
        </p:nvSpPr>
        <p:spPr>
          <a:xfrm>
            <a:off x="9921240" y="1691640"/>
            <a:ext cx="1920240" cy="19202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Sesa.</a:t>
            </a:r>
            <a:endParaRPr lang="en-US" sz="3000" dirty="0"/>
          </a:p>
        </p:txBody>
      </p:sp>
      <p:sp>
        <p:nvSpPr>
          <p:cNvPr id="12" name="Text 10"/>
          <p:cNvSpPr/>
          <p:nvPr/>
        </p:nvSpPr>
        <p:spPr>
          <a:xfrm>
            <a:off x="9052560" y="3794760"/>
            <a:ext cx="3657600" cy="365760"/>
          </a:xfrm>
          <a:prstGeom prst="rect">
            <a:avLst/>
          </a:prstGeom>
          <a:noFill/>
          <a:ln/>
        </p:spPr>
        <p:txBody>
          <a:bodyPr wrap="square" lIns="0" tIns="0" rIns="0" bIns="0" rtlCol="0" anchor="ctr"/>
          <a:lstStyle/>
          <a:p>
            <a:pPr marL="0" indent="0" algn="ctr">
              <a:buNone/>
            </a:pPr>
            <a:r>
              <a:rPr lang="en-US" sz="1250" dirty="0">
                <a:solidFill>
                  <a:srgbClr val="A79E95"/>
                </a:solidFill>
                <a:latin typeface="Calibri" pitchFamily="34" charset="0"/>
                <a:ea typeface="Calibri" pitchFamily="34" charset="-122"/>
                <a:cs typeface="Calibri" pitchFamily="34" charset="-120"/>
              </a:rPr>
              <a:t>To change, to transform.</a:t>
            </a:r>
            <a:endParaRPr lang="en-US" sz="1250" dirty="0"/>
          </a:p>
        </p:txBody>
      </p:sp>
      <p:sp>
        <p:nvSpPr>
          <p:cNvPr id="13" name="Text 11"/>
          <p:cNvSpPr/>
          <p:nvPr/>
        </p:nvSpPr>
        <p:spPr>
          <a:xfrm>
            <a:off x="566928" y="5120640"/>
            <a:ext cx="777240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 — questions welcome.</a:t>
            </a:r>
            <a:endParaRPr lang="en-US" sz="2600" dirty="0"/>
          </a:p>
        </p:txBody>
      </p:sp>
      <p:sp>
        <p:nvSpPr>
          <p:cNvPr id="14" name="Text 12"/>
          <p:cNvSpPr/>
          <p:nvPr/>
        </p:nvSpPr>
        <p:spPr>
          <a:xfrm>
            <a:off x="566928" y="5715000"/>
            <a:ext cx="8686800" cy="320040"/>
          </a:xfrm>
          <a:prstGeom prst="rect">
            <a:avLst/>
          </a:prstGeom>
          <a:noFill/>
          <a:ln/>
        </p:spPr>
        <p:txBody>
          <a:bodyPr wrap="square" lIns="0" tIns="0" rIns="0" bIns="0" rtlCol="0" anchor="ctr"/>
          <a:lstStyle/>
          <a:p>
            <a:pPr marL="0" indent="0">
              <a:buNone/>
            </a:pPr>
            <a:r>
              <a:rPr lang="en-US" sz="1200" dirty="0">
                <a:solidFill>
                  <a:srgbClr val="8D857C"/>
                </a:solidFill>
                <a:latin typeface="Calibri" pitchFamily="34" charset="0"/>
                <a:ea typeface="Calibri" pitchFamily="34" charset="-122"/>
                <a:cs typeface="Calibri" pitchFamily="34" charset="-120"/>
              </a:rPr>
              <a:t>RAIL  ·  SESA  ·  Every figure in this deck is reproducible from the repository — see the appendix.</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C1A17"/>
        </a:solidFill>
        <a:effectLst/>
      </p:bgPr>
    </p:bg>
    <p:spTree>
      <p:nvGrpSpPr>
        <p:cNvPr id="1" name=""/>
        <p:cNvGrpSpPr/>
        <p:nvPr/>
      </p:nvGrpSpPr>
      <p:grpSpPr>
        <a:xfrm>
          <a:off x="0" y="0"/>
          <a:ext cx="0" cy="0"/>
          <a:chOff x="0" y="0"/>
          <a:chExt cx="0" cy="0"/>
        </a:xfrm>
      </p:grpSpPr>
      <p:sp>
        <p:nvSpPr>
          <p:cNvPr id="2" name="Shape 0"/>
          <p:cNvSpPr/>
          <p:nvPr/>
        </p:nvSpPr>
        <p:spPr>
          <a:xfrm>
            <a:off x="8686800" y="1051560"/>
            <a:ext cx="3108960" cy="3108960"/>
          </a:xfrm>
          <a:prstGeom prst="ellipse">
            <a:avLst/>
          </a:prstGeom>
          <a:solidFill>
            <a:srgbClr val="2E2A25"/>
          </a:solidFill>
          <a:ln/>
        </p:spPr>
      </p:sp>
      <p:sp>
        <p:nvSpPr>
          <p:cNvPr id="3" name="Shape 1"/>
          <p:cNvSpPr/>
          <p:nvPr/>
        </p:nvSpPr>
        <p:spPr>
          <a:xfrm>
            <a:off x="9464040" y="1828800"/>
            <a:ext cx="1554480" cy="1554480"/>
          </a:xfrm>
          <a:prstGeom prst="ellipse">
            <a:avLst/>
          </a:prstGeom>
          <a:solidFill>
            <a:srgbClr val="B04A2F"/>
          </a:solidFill>
          <a:ln/>
        </p:spPr>
      </p:sp>
      <p:sp>
        <p:nvSpPr>
          <p:cNvPr id="4" name="Text 2"/>
          <p:cNvSpPr/>
          <p:nvPr/>
        </p:nvSpPr>
        <p:spPr>
          <a:xfrm>
            <a:off x="9464040" y="1828800"/>
            <a:ext cx="1554480" cy="15544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A</a:t>
            </a:r>
            <a:endParaRPr lang="en-US" sz="4600" dirty="0"/>
          </a:p>
        </p:txBody>
      </p:sp>
      <p:sp>
        <p:nvSpPr>
          <p:cNvPr id="5" name="Text 3"/>
          <p:cNvSpPr/>
          <p:nvPr/>
        </p:nvSpPr>
        <p:spPr>
          <a:xfrm>
            <a:off x="749808" y="2240280"/>
            <a:ext cx="749808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6" name="Text 4"/>
          <p:cNvSpPr/>
          <p:nvPr/>
        </p:nvSpPr>
        <p:spPr>
          <a:xfrm>
            <a:off x="749808" y="3200400"/>
            <a:ext cx="7315200" cy="822960"/>
          </a:xfrm>
          <a:prstGeom prst="rect">
            <a:avLst/>
          </a:prstGeom>
          <a:noFill/>
          <a:ln/>
        </p:spPr>
        <p:txBody>
          <a:bodyPr wrap="square" lIns="0" tIns="0" rIns="0" bIns="0" rtlCol="0" anchor="t"/>
          <a:lstStyle/>
          <a:p>
            <a:pPr marL="0" indent="0">
              <a:lnSpc>
                <a:spcPct val="110000"/>
              </a:lnSpc>
              <a:buNone/>
            </a:pPr>
            <a:r>
              <a:rPr lang="en-US" sz="1500" dirty="0">
                <a:solidFill>
                  <a:srgbClr val="C8C0B6"/>
                </a:solidFill>
                <a:latin typeface="Calibri" pitchFamily="34" charset="0"/>
                <a:ea typeface="Calibri" pitchFamily="34" charset="-122"/>
                <a:cs typeface="Calibri" pitchFamily="34" charset="-120"/>
              </a:rPr>
              <a:t>Reproduction commands, hardware and throughput, corpus detail, and test coverage. Back-pocket material for questions.</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APPENDIX A1</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Reproducing every number in this deck</a:t>
            </a:r>
            <a:endParaRPr lang="en-US" sz="3300" dirty="0"/>
          </a:p>
        </p:txBody>
      </p:sp>
      <p:sp>
        <p:nvSpPr>
          <p:cNvPr id="4" name="Shape 2"/>
          <p:cNvSpPr/>
          <p:nvPr/>
        </p:nvSpPr>
        <p:spPr>
          <a:xfrm>
            <a:off x="566928" y="1435608"/>
            <a:ext cx="5413248" cy="2194560"/>
          </a:xfrm>
          <a:prstGeom prst="roundRect">
            <a:avLst>
              <a:gd name="adj" fmla="val 2500"/>
            </a:avLst>
          </a:prstGeom>
          <a:solidFill>
            <a:srgbClr val="1C1A17"/>
          </a:solidFill>
          <a:ln/>
        </p:spPr>
      </p:sp>
      <p:sp>
        <p:nvSpPr>
          <p:cNvPr id="5" name="Text 3"/>
          <p:cNvSpPr/>
          <p:nvPr/>
        </p:nvSpPr>
        <p:spPr>
          <a:xfrm>
            <a:off x="768096" y="1563624"/>
            <a:ext cx="5010912"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THE SERVED MODEL — run-clean, then run-v2-finetune</a:t>
            </a:r>
            <a:endParaRPr lang="en-US" sz="1050" dirty="0"/>
          </a:p>
        </p:txBody>
      </p:sp>
      <p:sp>
        <p:nvSpPr>
          <p:cNvPr id="6" name="Text 4"/>
          <p:cNvSpPr/>
          <p:nvPr/>
        </p:nvSpPr>
        <p:spPr>
          <a:xfrm>
            <a:off x="768096" y="1837944"/>
            <a:ext cx="5010912" cy="166420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v001 — from scratch, 80 epochs, ~2 h</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scripts/train.sh --architecture conformer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--hf-dataset Lagyamfi/akan_audio_processed:train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--hf-dataset ghanaopendata/twi-speech-\</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text-multispeaker-16k:train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--val-dataset Lagyamfi/akan_audio_processed:test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--epochs 80 --batch-size 32 --lr 8e-4</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v004 — warm restart, 40 epochs, ~37 min</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same corpora, --init-weights from v001, lr 2.5e-4</a:t>
            </a:r>
            <a:endParaRPr lang="en-US" sz="1050" dirty="0"/>
          </a:p>
        </p:txBody>
      </p:sp>
      <p:sp>
        <p:nvSpPr>
          <p:cNvPr id="7" name="Shape 5"/>
          <p:cNvSpPr/>
          <p:nvPr/>
        </p:nvSpPr>
        <p:spPr>
          <a:xfrm>
            <a:off x="6208776" y="1435608"/>
            <a:ext cx="5413248" cy="2194560"/>
          </a:xfrm>
          <a:prstGeom prst="roundRect">
            <a:avLst>
              <a:gd name="adj" fmla="val 2500"/>
            </a:avLst>
          </a:prstGeom>
          <a:solidFill>
            <a:srgbClr val="1C1A17"/>
          </a:solidFill>
          <a:ln/>
        </p:spPr>
      </p:sp>
      <p:sp>
        <p:nvSpPr>
          <p:cNvPr id="8" name="Text 6"/>
          <p:cNvSpPr/>
          <p:nvPr/>
        </p:nvSpPr>
        <p:spPr>
          <a:xfrm>
            <a:off x="6409944" y="1563624"/>
            <a:ext cx="5010912"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EVALUATION AND COMPARISON</a:t>
            </a:r>
            <a:endParaRPr lang="en-US" sz="1050" dirty="0"/>
          </a:p>
        </p:txBody>
      </p:sp>
      <p:sp>
        <p:nvSpPr>
          <p:cNvPr id="9" name="Text 7"/>
          <p:cNvSpPr/>
          <p:nvPr/>
        </p:nvSpPr>
        <p:spPr>
          <a:xfrm>
            <a:off x="6409944" y="1837944"/>
            <a:ext cx="5010912" cy="166420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evaluate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--architecture conformer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--hf-dataset Lagyamfi/akan_audio_processed:test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--model-path outputs/checkpoints/run-clean/\</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best_model.pt</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scripts/summarize_runs.py</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bash scripts/run_tests.sh</a:t>
            </a:r>
            <a:endParaRPr lang="en-US" sz="1050" dirty="0"/>
          </a:p>
        </p:txBody>
      </p:sp>
      <p:sp>
        <p:nvSpPr>
          <p:cNvPr id="10" name="Shape 8"/>
          <p:cNvSpPr/>
          <p:nvPr/>
        </p:nvSpPr>
        <p:spPr>
          <a:xfrm>
            <a:off x="566928" y="3813048"/>
            <a:ext cx="5413248" cy="2011680"/>
          </a:xfrm>
          <a:prstGeom prst="roundRect">
            <a:avLst>
              <a:gd name="adj" fmla="val 2727"/>
            </a:avLst>
          </a:prstGeom>
          <a:solidFill>
            <a:srgbClr val="1C1A17"/>
          </a:solidFill>
          <a:ln/>
        </p:spPr>
      </p:sp>
      <p:sp>
        <p:nvSpPr>
          <p:cNvPr id="11" name="Text 9"/>
          <p:cNvSpPr/>
          <p:nvPr/>
        </p:nvSpPr>
        <p:spPr>
          <a:xfrm>
            <a:off x="768096" y="3941064"/>
            <a:ext cx="5010912"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DIARIZATION, REGISTRY AND APP</a:t>
            </a:r>
            <a:endParaRPr lang="en-US" sz="1050" dirty="0"/>
          </a:p>
        </p:txBody>
      </p:sp>
      <p:sp>
        <p:nvSpPr>
          <p:cNvPr id="12" name="Text 10"/>
          <p:cNvSpPr/>
          <p:nvPr/>
        </p:nvSpPr>
        <p:spPr>
          <a:xfrm>
            <a:off x="768096" y="4215384"/>
            <a:ext cx="5010912" cy="148132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diarize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--audio recording.wav --backend auto</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models list</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python -m src.main models rollback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--architecture conformer</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scripts/serve_app.sh</a:t>
            </a:r>
            <a:endParaRPr lang="en-US" sz="1050" dirty="0"/>
          </a:p>
        </p:txBody>
      </p:sp>
      <p:sp>
        <p:nvSpPr>
          <p:cNvPr id="13" name="Shape 11"/>
          <p:cNvSpPr/>
          <p:nvPr/>
        </p:nvSpPr>
        <p:spPr>
          <a:xfrm>
            <a:off x="6208776" y="3813048"/>
            <a:ext cx="5413248" cy="2011680"/>
          </a:xfrm>
          <a:prstGeom prst="roundRect">
            <a:avLst>
              <a:gd name="adj" fmla="val 2727"/>
            </a:avLst>
          </a:prstGeom>
          <a:solidFill>
            <a:srgbClr val="1C1A17"/>
          </a:solidFill>
          <a:ln/>
        </p:spPr>
      </p:sp>
      <p:sp>
        <p:nvSpPr>
          <p:cNvPr id="14" name="Text 12"/>
          <p:cNvSpPr/>
          <p:nvPr/>
        </p:nvSpPr>
        <p:spPr>
          <a:xfrm>
            <a:off x="6409944" y="3941064"/>
            <a:ext cx="5010912" cy="219456"/>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EXPORT AND RESUME</a:t>
            </a:r>
            <a:endParaRPr lang="en-US" sz="1050" dirty="0"/>
          </a:p>
        </p:txBody>
      </p:sp>
      <p:sp>
        <p:nvSpPr>
          <p:cNvPr id="15" name="Text 13"/>
          <p:cNvSpPr/>
          <p:nvPr/>
        </p:nvSpPr>
        <p:spPr>
          <a:xfrm>
            <a:off x="6409944" y="4215384"/>
            <a:ext cx="5010912" cy="1481328"/>
          </a:xfrm>
          <a:prstGeom prst="rect">
            <a:avLst/>
          </a:prstGeom>
          <a:noFill/>
          <a:ln/>
        </p:spPr>
        <p:txBody>
          <a:bodyPr wrap="square" lIns="0" tIns="0" rIns="0" bIns="0" rtlCol="0" anchor="t"/>
          <a:lstStyle/>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scripts/export_model.sh --format torchscript</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scripts/export_model.sh --format state_dict</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scripts/export_model.sh --format executorch</a:t>
            </a:r>
            <a:endParaRPr lang="en-US" sz="1050" dirty="0"/>
          </a:p>
          <a:p>
            <a:pPr marL="0" indent="0">
              <a:lnSpc>
                <a:spcPct val="115000"/>
              </a:lnSpc>
              <a:buNone/>
            </a:pP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resume a long run</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scripts/train.sh --resume \</a:t>
            </a:r>
            <a:endParaRPr lang="en-US" sz="1050" dirty="0"/>
          </a:p>
          <a:p>
            <a:pPr marL="0" indent="0">
              <a:lnSpc>
                <a:spcPct val="115000"/>
              </a:lnSpc>
              <a:buNone/>
            </a:pPr>
            <a:r>
              <a:rPr lang="en-US" sz="1050" dirty="0">
                <a:solidFill>
                  <a:srgbClr val="E6E0D8"/>
                </a:solidFill>
                <a:latin typeface="Courier New" pitchFamily="34" charset="0"/>
                <a:ea typeface="Courier New" pitchFamily="34" charset="-122"/>
                <a:cs typeface="Courier New" pitchFamily="34" charset="-120"/>
              </a:rPr>
              <a:t>  outputs/checkpoints/&lt;run_id&gt;/last_model.pt</a:t>
            </a:r>
            <a:endParaRPr lang="en-US" sz="1050" dirty="0"/>
          </a:p>
        </p:txBody>
      </p:sp>
      <p:sp>
        <p:nvSpPr>
          <p:cNvPr id="17" name="Text 14"/>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README.md, docs/results.md §8</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APPENDIX A2</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Hardware and throughput</a:t>
            </a:r>
            <a:endParaRPr lang="en-US" sz="3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435608"/>
          <a:ext cx="11055096" cy="3291840"/>
        </p:xfrm>
        <a:graphic>
          <a:graphicData uri="http://schemas.openxmlformats.org/drawingml/2006/table">
            <a:tbl>
              <a:tblPr/>
              <a:tblGrid>
                <a:gridCol w="3200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831336">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Measurement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means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GPU</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NVIDIA RTX 4000 SFF Ada, 20 GB, 70 W cap</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One workstation card, not a cluster</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Training throughput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555 batches/epoch at ~88 s/epoch, batch size 32</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80 epochs in about two hours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GPU memory used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12.1 GB of 20.5 GB</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Memory is not the constraint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GPU power</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69.9 W of a 70 W cap at 98% utilisation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Power-limited — a bigger batch buys almost nothing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Padding efficiency, unbucketed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Four in five batched frames were padding</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Padding efficiency, bucketed</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97%, and 99% on the mixed 113-hour run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Length bucketing is what made mixing corpora affordable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Diarization, 28 s clip</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12.4 s total — 6.9 s diarization, 5.5 s ASR</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Real-time factor 0.44, faster than the audio plays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66928" y="4837176"/>
            <a:ext cx="11055096" cy="1005840"/>
          </a:xfrm>
          <a:prstGeom prst="roundRect">
            <a:avLst>
              <a:gd name="adj" fmla="val 7273"/>
            </a:avLst>
          </a:prstGeom>
          <a:solidFill>
            <a:srgbClr val="1C1A17"/>
          </a:solidFill>
          <a:ln/>
          <a:effectLst>
            <a:outerShdw blurRad="101600" dist="25400" dir="5400000" algn="bl" rotWithShape="0">
              <a:srgbClr val="9A9088">
                <a:alpha val="28000"/>
              </a:srgbClr>
            </a:outerShdw>
          </a:effectLst>
        </p:spPr>
      </p:sp>
      <p:sp>
        <p:nvSpPr>
          <p:cNvPr id="6" name="Text 3"/>
          <p:cNvSpPr/>
          <p:nvPr/>
        </p:nvSpPr>
        <p:spPr>
          <a:xfrm>
            <a:off x="859536" y="5001768"/>
            <a:ext cx="10424160" cy="685800"/>
          </a:xfrm>
          <a:prstGeom prst="rect">
            <a:avLst/>
          </a:prstGeom>
          <a:noFill/>
          <a:ln/>
        </p:spPr>
        <p:txBody>
          <a:bodyPr wrap="square" lIns="0" tIns="0" rIns="0" bIns="0" rtlCol="0" anchor="t"/>
          <a:lstStyle/>
          <a:p>
            <a:pPr marL="0" indent="0">
              <a:lnSpc>
                <a:spcPct val="112000"/>
              </a:lnSpc>
              <a:buNone/>
            </a:pPr>
            <a:r>
              <a:rPr lang="en-US" sz="1300" dirty="0">
                <a:solidFill>
                  <a:srgbClr val="D9D2C9"/>
                </a:solidFill>
                <a:latin typeface="Calibri" pitchFamily="34" charset="0"/>
                <a:ea typeface="Calibri" pitchFamily="34" charset="-122"/>
                <a:cs typeface="Calibri" pitchFamily="34" charset="-120"/>
              </a:rPr>
              <a:t>Why length bucketing mattered so much: ghanaopendata's median clip is under a second and the health corpus is uniformly 30 seconds. Pairing them at random pads nearly everything to 30 seconds — measured waste was about 80%, not the 19% an earlier draft estimated.</a:t>
            </a:r>
            <a:endParaRPr lang="en-US" sz="1300" dirty="0"/>
          </a:p>
        </p:txBody>
      </p:sp>
      <p:sp>
        <p:nvSpPr>
          <p:cNvPr id="8" name="Text 4"/>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§6, §7</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APPENDIX A3</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Front-end, vocabulary and corpus detail</a:t>
            </a:r>
            <a:endParaRPr lang="en-US" sz="3300" dirty="0"/>
          </a:p>
        </p:txBody>
      </p:sp>
      <p:sp>
        <p:nvSpPr>
          <p:cNvPr id="4" name="Shape 2"/>
          <p:cNvSpPr/>
          <p:nvPr/>
        </p:nvSpPr>
        <p:spPr>
          <a:xfrm>
            <a:off x="566928" y="1435608"/>
            <a:ext cx="5413248" cy="2331720"/>
          </a:xfrm>
          <a:prstGeom prst="roundRect">
            <a:avLst>
              <a:gd name="adj" fmla="val 3137"/>
            </a:avLst>
          </a:prstGeom>
          <a:solidFill>
            <a:srgbClr val="F3F1EF"/>
          </a:solidFill>
          <a:ln/>
          <a:effectLst>
            <a:outerShdw blurRad="101600" dist="25400" dir="5400000" algn="bl" rotWithShape="0">
              <a:srgbClr val="9A9088">
                <a:alpha val="28000"/>
              </a:srgbClr>
            </a:outerShdw>
          </a:effectLst>
        </p:spPr>
      </p:sp>
      <p:sp>
        <p:nvSpPr>
          <p:cNvPr id="5" name="Text 3"/>
          <p:cNvSpPr/>
          <p:nvPr/>
        </p:nvSpPr>
        <p:spPr>
          <a:xfrm>
            <a:off x="822960" y="1600200"/>
            <a:ext cx="4937760" cy="310896"/>
          </a:xfrm>
          <a:prstGeom prst="rect">
            <a:avLst/>
          </a:prstGeom>
          <a:noFill/>
          <a:ln/>
        </p:spPr>
        <p:txBody>
          <a:bodyPr wrap="square" lIns="0" tIns="0" rIns="0" bIns="0" rtlCol="0" anchor="ctr"/>
          <a:lstStyle/>
          <a:p>
            <a:pPr marL="0" indent="0">
              <a:buNone/>
            </a:pPr>
            <a:r>
              <a:rPr lang="en-US" sz="1800" b="1" dirty="0">
                <a:solidFill>
                  <a:srgbClr val="1C1A17"/>
                </a:solidFill>
                <a:latin typeface="Cambria" pitchFamily="34" charset="0"/>
                <a:ea typeface="Cambria" pitchFamily="34" charset="-122"/>
                <a:cs typeface="Cambria" pitchFamily="34" charset="-120"/>
              </a:rPr>
              <a:t>Audio front-end</a:t>
            </a:r>
            <a:endParaRPr lang="en-US" sz="1800" dirty="0"/>
          </a:p>
        </p:txBody>
      </p:sp>
      <p:sp>
        <p:nvSpPr>
          <p:cNvPr id="6" name="Text 4"/>
          <p:cNvSpPr/>
          <p:nvPr/>
        </p:nvSpPr>
        <p:spPr>
          <a:xfrm>
            <a:off x="822960" y="1984248"/>
            <a:ext cx="4937760" cy="150876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16 kHz mono, decoded through soundfile</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80-band log-mel: 25 ms window, 10 ms hop, n_fft 400</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Per-utterance mean-variance normalisation (CMVN)</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SpecAugment applied last, so masks fill with the feature mean</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80 bands rather than 128 — 128 mel filters over a 201-bin FFT left four filterbanks entirely empty</a:t>
            </a:r>
            <a:endParaRPr lang="en-US" sz="1150" dirty="0"/>
          </a:p>
        </p:txBody>
      </p:sp>
      <p:sp>
        <p:nvSpPr>
          <p:cNvPr id="7" name="Shape 5"/>
          <p:cNvSpPr/>
          <p:nvPr/>
        </p:nvSpPr>
        <p:spPr>
          <a:xfrm>
            <a:off x="6208776" y="1435608"/>
            <a:ext cx="5413248" cy="2331720"/>
          </a:xfrm>
          <a:prstGeom prst="roundRect">
            <a:avLst>
              <a:gd name="adj" fmla="val 3137"/>
            </a:avLst>
          </a:prstGeom>
          <a:solidFill>
            <a:srgbClr val="F3F1EF"/>
          </a:solidFill>
          <a:ln/>
          <a:effectLst>
            <a:outerShdw blurRad="101600" dist="25400" dir="5400000" algn="bl" rotWithShape="0">
              <a:srgbClr val="9A9088">
                <a:alpha val="28000"/>
              </a:srgbClr>
            </a:outerShdw>
          </a:effectLst>
        </p:spPr>
      </p:sp>
      <p:sp>
        <p:nvSpPr>
          <p:cNvPr id="8" name="Text 6"/>
          <p:cNvSpPr/>
          <p:nvPr/>
        </p:nvSpPr>
        <p:spPr>
          <a:xfrm>
            <a:off x="6464808" y="1600200"/>
            <a:ext cx="4937760" cy="310896"/>
          </a:xfrm>
          <a:prstGeom prst="rect">
            <a:avLst/>
          </a:prstGeom>
          <a:noFill/>
          <a:ln/>
        </p:spPr>
        <p:txBody>
          <a:bodyPr wrap="square" lIns="0" tIns="0" rIns="0" bIns="0" rtlCol="0" anchor="ctr"/>
          <a:lstStyle/>
          <a:p>
            <a:pPr marL="0" indent="0">
              <a:buNone/>
            </a:pPr>
            <a:r>
              <a:rPr lang="en-US" sz="1800" b="1" dirty="0">
                <a:solidFill>
                  <a:srgbClr val="1C1A17"/>
                </a:solidFill>
                <a:latin typeface="Cambria" pitchFamily="34" charset="0"/>
                <a:ea typeface="Cambria" pitchFamily="34" charset="-122"/>
                <a:cs typeface="Cambria" pitchFamily="34" charset="-120"/>
              </a:rPr>
              <a:t>Character vocabulary — 41 symbols</a:t>
            </a:r>
            <a:endParaRPr lang="en-US" sz="1800" dirty="0"/>
          </a:p>
        </p:txBody>
      </p:sp>
      <p:sp>
        <p:nvSpPr>
          <p:cNvPr id="9" name="Text 7"/>
          <p:cNvSpPr/>
          <p:nvPr/>
        </p:nvSpPr>
        <p:spPr>
          <a:xfrm>
            <a:off x="6464808" y="1984248"/>
            <a:ext cx="4937760" cy="1691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a–z, 0–9, apostrophe, space, and the Akan characters ɛ and ɔ, plus the CTC blank</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Digits kept because the health corpus writes dosages and dates numerically — coverage rose 95.8% to 96.3%</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Trade-off: the model must learn that the sound of mmienu maps to the character 2</a:t>
            </a:r>
            <a:endParaRPr lang="en-US" sz="1150" dirty="0"/>
          </a:p>
          <a:p>
            <a:pPr marL="342900" indent="-342900">
              <a:lnSpc>
                <a:spcPct val="105000"/>
              </a:lnSpc>
              <a:spcAft>
                <a:spcPts val="500"/>
              </a:spcAft>
              <a:buSzPct val="100000"/>
              <a:buChar char="•"/>
            </a:pPr>
            <a:r>
              <a:rPr lang="en-US" sz="1150" dirty="0">
                <a:solidFill>
                  <a:srgbClr val="1C1A17"/>
                </a:solidFill>
                <a:latin typeface="Calibri" pitchFamily="34" charset="0"/>
                <a:ea typeface="Calibri" pitchFamily="34" charset="-122"/>
                <a:cs typeface="Calibri" pitchFamily="34" charset="-120"/>
              </a:rPr>
              <a:t>Punctuation is dropped during encoding — it is not spoken. Corpora sit at 96–98% coverage</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3959352"/>
          <a:ext cx="11055096" cy="1920240"/>
        </p:xfrm>
        <a:graphic>
          <a:graphicData uri="http://schemas.openxmlformats.org/drawingml/2006/table">
            <a:tbl>
              <a:tblPr/>
              <a:tblGrid>
                <a:gridCol w="4480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28216">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Corpus / split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Clips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Hours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Clip length</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Transcript column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1C1A17"/>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Lagyamfi/akan_audio_processed — train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2,187</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2.4 – 8.8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sentence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Lagyamfi/akan_audio_processed — test (validation)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259</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2.2 – 11.5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sentence</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ghanaopendata/twi-speech-text-multispeaker-16k</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15,560</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9.1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0.04 – 7.0 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text</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ghananlpcommunity/twi-health-asr-gemini-500hrs</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59,291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494.1</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30.00 s exactly</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tc>
                  <a:txBody>
                    <a:bodyPr/>
                    <a:lstStyle/>
                    <a:p>
                      <a:pPr marL="0" indent="0">
                        <a:buNone/>
                      </a:pPr>
                      <a:r>
                        <a:rPr lang="en-US" sz="1150" dirty="0">
                          <a:solidFill>
                            <a:srgbClr val="1C1A17"/>
                          </a:solidFill>
                          <a:latin typeface="Calibri" pitchFamily="34" charset="0"/>
                          <a:ea typeface="Calibri" pitchFamily="34" charset="-122"/>
                          <a:cs typeface="Calibri" pitchFamily="34" charset="-120"/>
                        </a:rPr>
                        <a:t>transcription</a:t>
                      </a:r>
                      <a:endParaRPr lang="en-US" sz="1150" dirty="0">
                        <a:latin typeface="Calibri" charset="0"/>
                        <a:ea typeface="Calibri" charset="0"/>
                        <a:cs typeface="Calibri" charset="0"/>
                      </a:endParaRPr>
                    </a:p>
                  </a:txBody>
                  <a:tcPr anchor="ctr">
                    <a:lnL w="9525" cap="flat" cmpd="sng" algn="ctr">
                      <a:solidFill>
                        <a:srgbClr val="DCD6D0"/>
                      </a:solidFill>
                      <a:prstDash val="solid"/>
                      <a:round/>
                      <a:headEnd type="none" w="med" len="med"/>
                      <a:tailEnd type="none" w="med" len="med"/>
                    </a:lnL>
                    <a:lnR w="9525" cap="flat" cmpd="sng" algn="ctr">
                      <a:solidFill>
                        <a:srgbClr val="DCD6D0"/>
                      </a:solidFill>
                      <a:prstDash val="solid"/>
                      <a:round/>
                      <a:headEnd type="none" w="med" len="med"/>
                      <a:tailEnd type="none" w="med" len="med"/>
                    </a:lnR>
                    <a:lnT w="9525" cap="flat" cmpd="sng" algn="ctr">
                      <a:solidFill>
                        <a:srgbClr val="DCD6D0"/>
                      </a:solidFill>
                      <a:prstDash val="solid"/>
                      <a:round/>
                      <a:headEnd type="none" w="med" len="med"/>
                      <a:tailEnd type="none" w="med" len="med"/>
                    </a:lnT>
                    <a:lnB w="9525" cap="flat" cmpd="sng" algn="ctr">
                      <a:solidFill>
                        <a:srgbClr val="DC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Text 8"/>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docs/results.md §6, src/info.md, data/info.md</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marL="0" indent="0">
              <a:buNone/>
            </a:pPr>
            <a:r>
              <a:rPr lang="en-US" sz="1100" b="1" kern="0" spc="200" dirty="0">
                <a:solidFill>
                  <a:srgbClr val="B04A2F"/>
                </a:solidFill>
                <a:latin typeface="Calibri" pitchFamily="34" charset="0"/>
                <a:ea typeface="Calibri" pitchFamily="34" charset="-122"/>
                <a:cs typeface="Calibri" pitchFamily="34" charset="-120"/>
              </a:rPr>
              <a:t>APPENDIX A4</a:t>
            </a:r>
            <a:endParaRPr lang="en-US" sz="1100" dirty="0"/>
          </a:p>
        </p:txBody>
      </p:sp>
      <p:sp>
        <p:nvSpPr>
          <p:cNvPr id="3" name="Text 1"/>
          <p:cNvSpPr/>
          <p:nvPr/>
        </p:nvSpPr>
        <p:spPr>
          <a:xfrm>
            <a:off x="566928" y="658368"/>
            <a:ext cx="11057839" cy="640080"/>
          </a:xfrm>
          <a:prstGeom prst="rect">
            <a:avLst/>
          </a:prstGeom>
          <a:noFill/>
          <a:ln/>
        </p:spPr>
        <p:txBody>
          <a:bodyPr wrap="square" lIns="0" tIns="0" rIns="0" bIns="0" rtlCol="0" anchor="t"/>
          <a:lstStyle/>
          <a:p>
            <a:pPr marL="0" indent="0">
              <a:buNone/>
            </a:pPr>
            <a:r>
              <a:rPr lang="en-US" sz="3300" b="1" dirty="0">
                <a:solidFill>
                  <a:srgbClr val="1C1A17"/>
                </a:solidFill>
                <a:latin typeface="Cambria" pitchFamily="34" charset="0"/>
                <a:ea typeface="Cambria" pitchFamily="34" charset="-122"/>
                <a:cs typeface="Cambria" pitchFamily="34" charset="-120"/>
              </a:rPr>
              <a:t>Test coverage and repository layout</a:t>
            </a:r>
            <a:endParaRPr lang="en-US" sz="3300" dirty="0"/>
          </a:p>
        </p:txBody>
      </p:sp>
      <p:sp>
        <p:nvSpPr>
          <p:cNvPr id="4" name="Shape 2"/>
          <p:cNvSpPr/>
          <p:nvPr/>
        </p:nvSpPr>
        <p:spPr>
          <a:xfrm>
            <a:off x="566928" y="1435608"/>
            <a:ext cx="3529584"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5" name="Text 3"/>
          <p:cNvSpPr/>
          <p:nvPr/>
        </p:nvSpPr>
        <p:spPr>
          <a:xfrm>
            <a:off x="731520" y="1563624"/>
            <a:ext cx="3200400" cy="658368"/>
          </a:xfrm>
          <a:prstGeom prst="rect">
            <a:avLst/>
          </a:prstGeom>
          <a:noFill/>
          <a:ln/>
        </p:spPr>
        <p:txBody>
          <a:bodyPr wrap="square" lIns="0" tIns="0" rIns="0" bIns="0" rtlCol="0" anchor="ctr"/>
          <a:lstStyle/>
          <a:p>
            <a:pPr marL="0" indent="0">
              <a:buNone/>
            </a:pPr>
            <a:r>
              <a:rPr lang="en-US" sz="4000" b="1" dirty="0">
                <a:solidFill>
                  <a:srgbClr val="B04A2F"/>
                </a:solidFill>
                <a:latin typeface="Cambria" pitchFamily="34" charset="0"/>
                <a:ea typeface="Cambria" pitchFamily="34" charset="-122"/>
                <a:cs typeface="Cambria" pitchFamily="34" charset="-120"/>
              </a:rPr>
              <a:t>145</a:t>
            </a:r>
            <a:endParaRPr lang="en-US" sz="4000" dirty="0"/>
          </a:p>
        </p:txBody>
      </p:sp>
      <p:sp>
        <p:nvSpPr>
          <p:cNvPr id="6" name="Text 4"/>
          <p:cNvSpPr/>
          <p:nvPr/>
        </p:nvSpPr>
        <p:spPr>
          <a:xfrm>
            <a:off x="731520" y="2240280"/>
            <a:ext cx="3200400"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Tests</a:t>
            </a:r>
            <a:endParaRPr lang="en-US" sz="1300" dirty="0"/>
          </a:p>
        </p:txBody>
      </p:sp>
      <p:sp>
        <p:nvSpPr>
          <p:cNvPr id="7" name="Text 5"/>
          <p:cNvSpPr/>
          <p:nvPr/>
        </p:nvSpPr>
        <p:spPr>
          <a:xfrm>
            <a:off x="731520" y="2514600"/>
            <a:ext cx="3200400"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Fast, synthetic, no data, checkpoint or network required. Passing on both machines</a:t>
            </a:r>
            <a:endParaRPr lang="en-US" sz="1050" dirty="0"/>
          </a:p>
        </p:txBody>
      </p:sp>
      <p:sp>
        <p:nvSpPr>
          <p:cNvPr id="8" name="Shape 6"/>
          <p:cNvSpPr/>
          <p:nvPr/>
        </p:nvSpPr>
        <p:spPr>
          <a:xfrm>
            <a:off x="4325112" y="1435608"/>
            <a:ext cx="3529584"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9" name="Text 7"/>
          <p:cNvSpPr/>
          <p:nvPr/>
        </p:nvSpPr>
        <p:spPr>
          <a:xfrm>
            <a:off x="4489704" y="1563624"/>
            <a:ext cx="3200400" cy="658368"/>
          </a:xfrm>
          <a:prstGeom prst="rect">
            <a:avLst/>
          </a:prstGeom>
          <a:noFill/>
          <a:ln/>
        </p:spPr>
        <p:txBody>
          <a:bodyPr wrap="square" lIns="0" tIns="0" rIns="0" bIns="0"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27</a:t>
            </a:r>
            <a:endParaRPr lang="en-US" sz="4000" dirty="0"/>
          </a:p>
        </p:txBody>
      </p:sp>
      <p:sp>
        <p:nvSpPr>
          <p:cNvPr id="10" name="Text 8"/>
          <p:cNvSpPr/>
          <p:nvPr/>
        </p:nvSpPr>
        <p:spPr>
          <a:xfrm>
            <a:off x="4489704" y="2240280"/>
            <a:ext cx="3200400"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Diarization tests alone</a:t>
            </a:r>
            <a:endParaRPr lang="en-US" sz="1300" dirty="0"/>
          </a:p>
        </p:txBody>
      </p:sp>
      <p:sp>
        <p:nvSpPr>
          <p:cNvPr id="11" name="Text 9"/>
          <p:cNvSpPr/>
          <p:nvPr/>
        </p:nvSpPr>
        <p:spPr>
          <a:xfrm>
            <a:off x="4489704" y="2514600"/>
            <a:ext cx="3200400"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Turn algebra, VAD, windowing, backends, gated-repo error reporting</a:t>
            </a:r>
            <a:endParaRPr lang="en-US" sz="1050" dirty="0"/>
          </a:p>
        </p:txBody>
      </p:sp>
      <p:sp>
        <p:nvSpPr>
          <p:cNvPr id="12" name="Shape 10"/>
          <p:cNvSpPr/>
          <p:nvPr/>
        </p:nvSpPr>
        <p:spPr>
          <a:xfrm>
            <a:off x="8083296" y="1435608"/>
            <a:ext cx="3538728" cy="1572768"/>
          </a:xfrm>
          <a:prstGeom prst="roundRect">
            <a:avLst>
              <a:gd name="adj" fmla="val 4651"/>
            </a:avLst>
          </a:prstGeom>
          <a:solidFill>
            <a:srgbClr val="F3F1EF"/>
          </a:solidFill>
          <a:ln/>
          <a:effectLst>
            <a:outerShdw blurRad="101600" dist="25400" dir="5400000" algn="bl" rotWithShape="0">
              <a:srgbClr val="9A9088">
                <a:alpha val="28000"/>
              </a:srgbClr>
            </a:outerShdw>
          </a:effectLst>
        </p:spPr>
      </p:sp>
      <p:sp>
        <p:nvSpPr>
          <p:cNvPr id="13" name="Text 11"/>
          <p:cNvSpPr/>
          <p:nvPr/>
        </p:nvSpPr>
        <p:spPr>
          <a:xfrm>
            <a:off x="8247888" y="1563624"/>
            <a:ext cx="3209544" cy="658368"/>
          </a:xfrm>
          <a:prstGeom prst="rect">
            <a:avLst/>
          </a:prstGeom>
          <a:noFill/>
          <a:ln/>
        </p:spPr>
        <p:txBody>
          <a:bodyPr wrap="square" lIns="0" tIns="0" rIns="0" bIns="0" rtlCol="0" anchor="ctr"/>
          <a:lstStyle/>
          <a:p>
            <a:pPr marL="0" indent="0">
              <a:buNone/>
            </a:pPr>
            <a:r>
              <a:rPr lang="en-US" sz="4000" b="1" dirty="0">
                <a:solidFill>
                  <a:srgbClr val="5F7A62"/>
                </a:solidFill>
                <a:latin typeface="Cambria" pitchFamily="34" charset="0"/>
                <a:ea typeface="Cambria" pitchFamily="34" charset="-122"/>
                <a:cs typeface="Cambria" pitchFamily="34" charset="-120"/>
              </a:rPr>
              <a:t>15 → 145</a:t>
            </a:r>
            <a:endParaRPr lang="en-US" sz="4000" dirty="0"/>
          </a:p>
        </p:txBody>
      </p:sp>
      <p:sp>
        <p:nvSpPr>
          <p:cNvPr id="14" name="Text 12"/>
          <p:cNvSpPr/>
          <p:nvPr/>
        </p:nvSpPr>
        <p:spPr>
          <a:xfrm>
            <a:off x="8247888" y="2240280"/>
            <a:ext cx="3209544" cy="274320"/>
          </a:xfrm>
          <a:prstGeom prst="rect">
            <a:avLst/>
          </a:prstGeom>
          <a:noFill/>
          <a:ln/>
        </p:spPr>
        <p:txBody>
          <a:bodyPr wrap="square" lIns="0" tIns="0" rIns="0" bIns="0" rtlCol="0" anchor="t"/>
          <a:lstStyle/>
          <a:p>
            <a:pPr marL="0" indent="0">
              <a:buNone/>
            </a:pPr>
            <a:r>
              <a:rPr lang="en-US" sz="1300" b="1" dirty="0">
                <a:solidFill>
                  <a:srgbClr val="1C1A17"/>
                </a:solidFill>
                <a:latin typeface="Calibri" pitchFamily="34" charset="0"/>
                <a:ea typeface="Calibri" pitchFamily="34" charset="-122"/>
                <a:cs typeface="Calibri" pitchFamily="34" charset="-120"/>
              </a:rPr>
              <a:t>Growth over the project</a:t>
            </a:r>
            <a:endParaRPr lang="en-US" sz="1300" dirty="0"/>
          </a:p>
        </p:txBody>
      </p:sp>
      <p:sp>
        <p:nvSpPr>
          <p:cNvPr id="15" name="Text 13"/>
          <p:cNvSpPr/>
          <p:nvPr/>
        </p:nvSpPr>
        <p:spPr>
          <a:xfrm>
            <a:off x="8247888" y="2514600"/>
            <a:ext cx="3209544" cy="411480"/>
          </a:xfrm>
          <a:prstGeom prst="rect">
            <a:avLst/>
          </a:prstGeom>
          <a:noFill/>
          <a:ln/>
        </p:spPr>
        <p:txBody>
          <a:bodyPr wrap="square" lIns="0" tIns="0" rIns="0" bIns="0" rtlCol="0" anchor="t"/>
          <a:lstStyle/>
          <a:p>
            <a:pPr marL="0" indent="0">
              <a:lnSpc>
                <a:spcPct val="100000"/>
              </a:lnSpc>
              <a:buNone/>
            </a:pPr>
            <a:r>
              <a:rPr lang="en-US" sz="1050" dirty="0">
                <a:solidFill>
                  <a:srgbClr val="6B6560"/>
                </a:solidFill>
                <a:latin typeface="Calibri" pitchFamily="34" charset="0"/>
                <a:ea typeface="Calibri" pitchFamily="34" charset="-122"/>
                <a:cs typeface="Calibri" pitchFamily="34" charset="-120"/>
              </a:rPr>
              <a:t>Almost every new test came from a bug that produced plausible garbage</a:t>
            </a:r>
            <a:endParaRPr lang="en-US" sz="1050" dirty="0"/>
          </a:p>
        </p:txBody>
      </p:sp>
      <p:sp>
        <p:nvSpPr>
          <p:cNvPr id="16" name="Shape 14"/>
          <p:cNvSpPr/>
          <p:nvPr/>
        </p:nvSpPr>
        <p:spPr>
          <a:xfrm>
            <a:off x="566928" y="3264408"/>
            <a:ext cx="11055096"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17" name="Text 15"/>
          <p:cNvSpPr/>
          <p:nvPr/>
        </p:nvSpPr>
        <p:spPr>
          <a:xfrm>
            <a:off x="841248" y="3392424"/>
            <a:ext cx="2743200" cy="292608"/>
          </a:xfrm>
          <a:prstGeom prst="rect">
            <a:avLst/>
          </a:prstGeom>
          <a:noFill/>
          <a:ln/>
        </p:spPr>
        <p:txBody>
          <a:bodyPr wrap="square" lIns="0" tIns="0" rIns="0" bIns="0" rtlCol="0" anchor="t"/>
          <a:lstStyle/>
          <a:p>
            <a:pPr marL="0" indent="0">
              <a:buNone/>
            </a:pPr>
            <a:r>
              <a:rPr lang="en-US" sz="1300" b="1" dirty="0">
                <a:solidFill>
                  <a:srgbClr val="B04A2F"/>
                </a:solidFill>
                <a:latin typeface="Calibri" pitchFamily="34" charset="0"/>
                <a:ea typeface="Calibri" pitchFamily="34" charset="-122"/>
                <a:cs typeface="Calibri" pitchFamily="34" charset="-120"/>
              </a:rPr>
              <a:t>What the suite covers</a:t>
            </a:r>
            <a:endParaRPr lang="en-US" sz="1300" dirty="0"/>
          </a:p>
        </p:txBody>
      </p:sp>
      <p:sp>
        <p:nvSpPr>
          <p:cNvPr id="18" name="Text 16"/>
          <p:cNvSpPr/>
          <p:nvPr/>
        </p:nvSpPr>
        <p:spPr>
          <a:xfrm>
            <a:off x="3675888" y="3392424"/>
            <a:ext cx="7680960" cy="658368"/>
          </a:xfrm>
          <a:prstGeom prst="rect">
            <a:avLst/>
          </a:prstGeom>
          <a:noFill/>
          <a:ln/>
        </p:spPr>
        <p:txBody>
          <a:bodyPr wrap="square" lIns="0" tIns="0" rIns="0" bIns="0" rtlCol="0" anchor="t"/>
          <a:lstStyle/>
          <a:p>
            <a:pPr marL="0" indent="0">
              <a:lnSpc>
                <a:spcPct val="110000"/>
              </a:lnSpc>
              <a:buNone/>
            </a:pPr>
            <a:r>
              <a:rPr lang="en-US" sz="1150" dirty="0">
                <a:solidFill>
                  <a:srgbClr val="1C1A17"/>
                </a:solidFill>
                <a:latin typeface="Calibri" pitchFamily="34" charset="0"/>
                <a:ea typeface="Calibri" pitchFamily="34" charset="-122"/>
                <a:cs typeface="Calibri" pitchFamily="34" charset="-120"/>
              </a:rPr>
              <a:t>Text encoding and typographic folding, model output shapes, audio transforms, greedy decoding, WER and CER, corpus guards, ragged batches, length bucketing, speaker diarization, the model registry, and the outputs cleaner.</a:t>
            </a:r>
            <a:endParaRPr lang="en-US" sz="1150" dirty="0"/>
          </a:p>
        </p:txBody>
      </p:sp>
      <p:sp>
        <p:nvSpPr>
          <p:cNvPr id="19" name="Shape 17"/>
          <p:cNvSpPr/>
          <p:nvPr/>
        </p:nvSpPr>
        <p:spPr>
          <a:xfrm>
            <a:off x="566928" y="4270248"/>
            <a:ext cx="11055096"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20" name="Text 18"/>
          <p:cNvSpPr/>
          <p:nvPr/>
        </p:nvSpPr>
        <p:spPr>
          <a:xfrm>
            <a:off x="841248" y="4398264"/>
            <a:ext cx="2743200" cy="292608"/>
          </a:xfrm>
          <a:prstGeom prst="rect">
            <a:avLst/>
          </a:prstGeom>
          <a:noFill/>
          <a:ln/>
        </p:spPr>
        <p:txBody>
          <a:bodyPr wrap="square" lIns="0" tIns="0" rIns="0" bIns="0" rtlCol="0" anchor="t"/>
          <a:lstStyle/>
          <a:p>
            <a:pPr marL="0" indent="0">
              <a:buNone/>
            </a:pPr>
            <a:r>
              <a:rPr lang="en-US" sz="1300" b="1" dirty="0">
                <a:solidFill>
                  <a:srgbClr val="B04A2F"/>
                </a:solidFill>
                <a:latin typeface="Calibri" pitchFamily="34" charset="0"/>
                <a:ea typeface="Calibri" pitchFamily="34" charset="-122"/>
                <a:cs typeface="Calibri" pitchFamily="34" charset="-120"/>
              </a:rPr>
              <a:t>Repository layout</a:t>
            </a:r>
            <a:endParaRPr lang="en-US" sz="1300" dirty="0"/>
          </a:p>
        </p:txBody>
      </p:sp>
      <p:sp>
        <p:nvSpPr>
          <p:cNvPr id="21" name="Text 19"/>
          <p:cNvSpPr/>
          <p:nvPr/>
        </p:nvSpPr>
        <p:spPr>
          <a:xfrm>
            <a:off x="3675888" y="4398264"/>
            <a:ext cx="7680960" cy="658368"/>
          </a:xfrm>
          <a:prstGeom prst="rect">
            <a:avLst/>
          </a:prstGeom>
          <a:noFill/>
          <a:ln/>
        </p:spPr>
        <p:txBody>
          <a:bodyPr wrap="square" lIns="0" tIns="0" rIns="0" bIns="0" rtlCol="0" anchor="t"/>
          <a:lstStyle/>
          <a:p>
            <a:pPr marL="0" indent="0">
              <a:lnSpc>
                <a:spcPct val="110000"/>
              </a:lnSpc>
              <a:buNone/>
            </a:pPr>
            <a:r>
              <a:rPr lang="en-US" sz="1150" dirty="0">
                <a:solidFill>
                  <a:srgbClr val="1C1A17"/>
                </a:solidFill>
                <a:latin typeface="Calibri" pitchFamily="34" charset="0"/>
                <a:ea typeface="Calibri" pitchFamily="34" charset="-122"/>
                <a:cs typeface="Calibri" pitchFamily="34" charset="-120"/>
              </a:rPr>
              <a:t>src/ holds the pipeline — data, models, training, inference, diarization, utils. scripts/ holds an entry point for every workflow. app/ is the Gradio front-end. outputs/ holds run logs, metrics, checkpoints and the registry. docs/ holds measured results, architecture notes and the roadmap. Every folder carries its own info.md.</a:t>
            </a:r>
            <a:endParaRPr lang="en-US" sz="1150" dirty="0"/>
          </a:p>
        </p:txBody>
      </p:sp>
      <p:sp>
        <p:nvSpPr>
          <p:cNvPr id="22" name="Shape 20"/>
          <p:cNvSpPr/>
          <p:nvPr/>
        </p:nvSpPr>
        <p:spPr>
          <a:xfrm>
            <a:off x="566928" y="5276088"/>
            <a:ext cx="11055096" cy="896112"/>
          </a:xfrm>
          <a:prstGeom prst="roundRect">
            <a:avLst>
              <a:gd name="adj" fmla="val 8163"/>
            </a:avLst>
          </a:prstGeom>
          <a:solidFill>
            <a:srgbClr val="F3F1EF"/>
          </a:solidFill>
          <a:ln/>
          <a:effectLst>
            <a:outerShdw blurRad="101600" dist="25400" dir="5400000" algn="bl" rotWithShape="0">
              <a:srgbClr val="9A9088">
                <a:alpha val="28000"/>
              </a:srgbClr>
            </a:outerShdw>
          </a:effectLst>
        </p:spPr>
      </p:sp>
      <p:sp>
        <p:nvSpPr>
          <p:cNvPr id="23" name="Text 21"/>
          <p:cNvSpPr/>
          <p:nvPr/>
        </p:nvSpPr>
        <p:spPr>
          <a:xfrm>
            <a:off x="841248" y="5404104"/>
            <a:ext cx="2743200" cy="292608"/>
          </a:xfrm>
          <a:prstGeom prst="rect">
            <a:avLst/>
          </a:prstGeom>
          <a:noFill/>
          <a:ln/>
        </p:spPr>
        <p:txBody>
          <a:bodyPr wrap="square" lIns="0" tIns="0" rIns="0" bIns="0" rtlCol="0" anchor="t"/>
          <a:lstStyle/>
          <a:p>
            <a:pPr marL="0" indent="0">
              <a:buNone/>
            </a:pPr>
            <a:r>
              <a:rPr lang="en-US" sz="1300" b="1" dirty="0">
                <a:solidFill>
                  <a:srgbClr val="B04A2F"/>
                </a:solidFill>
                <a:latin typeface="Calibri" pitchFamily="34" charset="0"/>
                <a:ea typeface="Calibri" pitchFamily="34" charset="-122"/>
                <a:cs typeface="Calibri" pitchFamily="34" charset="-120"/>
              </a:rPr>
              <a:t>What is tracked in git</a:t>
            </a:r>
            <a:endParaRPr lang="en-US" sz="1300" dirty="0"/>
          </a:p>
        </p:txBody>
      </p:sp>
      <p:sp>
        <p:nvSpPr>
          <p:cNvPr id="24" name="Text 22"/>
          <p:cNvSpPr/>
          <p:nvPr/>
        </p:nvSpPr>
        <p:spPr>
          <a:xfrm>
            <a:off x="3675888" y="5404104"/>
            <a:ext cx="7680960" cy="658368"/>
          </a:xfrm>
          <a:prstGeom prst="rect">
            <a:avLst/>
          </a:prstGeom>
          <a:noFill/>
          <a:ln/>
        </p:spPr>
        <p:txBody>
          <a:bodyPr wrap="square" lIns="0" tIns="0" rIns="0" bIns="0" rtlCol="0" anchor="t"/>
          <a:lstStyle/>
          <a:p>
            <a:pPr marL="0" indent="0">
              <a:lnSpc>
                <a:spcPct val="110000"/>
              </a:lnSpc>
              <a:buNone/>
            </a:pPr>
            <a:r>
              <a:rPr lang="en-US" sz="1150" dirty="0">
                <a:solidFill>
                  <a:srgbClr val="1C1A17"/>
                </a:solidFill>
                <a:latin typeface="Calibri" pitchFamily="34" charset="0"/>
                <a:ea typeface="Calibri" pitchFamily="34" charset="-122"/>
                <a:cs typeface="Calibri" pitchFamily="34" charset="-120"/>
              </a:rPr>
              <a:t>registry.json and every version's metadata.json, dataset manifests, and all documentation. Not tracked: audio, checkpoints, exports and run artifacts — they are machine-generated, reproducible, and gigabytes.</a:t>
            </a:r>
            <a:endParaRPr lang="en-US" sz="1150" dirty="0"/>
          </a:p>
        </p:txBody>
      </p:sp>
      <p:sp>
        <p:nvSpPr>
          <p:cNvPr id="26" name="Text 23"/>
          <p:cNvSpPr/>
          <p:nvPr/>
        </p:nvSpPr>
        <p:spPr>
          <a:xfrm>
            <a:off x="566928" y="6437376"/>
            <a:ext cx="11057839" cy="237744"/>
          </a:xfrm>
          <a:prstGeom prst="rect">
            <a:avLst/>
          </a:prstGeom>
          <a:noFill/>
          <a:ln/>
        </p:spPr>
        <p:txBody>
          <a:bodyPr wrap="square" lIns="0" tIns="0" rIns="0" bIns="0" rtlCol="0" anchor="ctr"/>
          <a:lstStyle/>
          <a:p>
            <a:pPr marL="0" indent="0">
              <a:buNone/>
            </a:pPr>
            <a:r>
              <a:rPr lang="en-US" sz="950" dirty="0">
                <a:solidFill>
                  <a:srgbClr val="9C948C"/>
                </a:solidFill>
                <a:latin typeface="Calibri" pitchFamily="34" charset="0"/>
                <a:ea typeface="Calibri" pitchFamily="34" charset="-122"/>
                <a:cs typeface="Calibri" pitchFamily="34" charset="-120"/>
              </a:rPr>
              <a:t>SESA · RAIL  ·  Source: README.md, docs/speaker_diarization.md §11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11466</Words>
  <Application>Microsoft Macintosh PowerPoint</Application>
  <PresentationFormat>Widescreen</PresentationFormat>
  <Paragraphs>726</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RAIL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SESA — Akan Speech Recognition for Customary Court Proceedings</dc:title>
  <dc:subject>PptxGenJS Presentation</dc:subject>
  <dc:creator>RAIL</dc:creator>
  <cp:lastModifiedBy>Musah Ibrahim Ali</cp:lastModifiedBy>
  <cp:revision>3</cp:revision>
  <dcterms:created xsi:type="dcterms:W3CDTF">2026-08-11T09:46:22Z</dcterms:created>
  <dcterms:modified xsi:type="dcterms:W3CDTF">2026-08-11T13:04:00Z</dcterms:modified>
</cp:coreProperties>
</file>